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theme/themeOverride1.xml" ContentType="application/vnd.openxmlformats-officedocument.themeOverride+xml"/>
  <Override PartName="/ppt/charts/chart7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10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1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1294" r:id="rId3"/>
    <p:sldId id="2147480947" r:id="rId4"/>
    <p:sldId id="2147480944" r:id="rId5"/>
    <p:sldId id="2147480948" r:id="rId6"/>
    <p:sldId id="6961" r:id="rId7"/>
    <p:sldId id="1371" r:id="rId8"/>
    <p:sldId id="6955" r:id="rId9"/>
    <p:sldId id="2147480946" r:id="rId10"/>
    <p:sldId id="2147470309" r:id="rId11"/>
    <p:sldId id="2147480949" r:id="rId12"/>
    <p:sldId id="1313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2C81222-2513-0B40-AF81-B4C9A7ED8FCB}">
          <p14:sldIdLst>
            <p14:sldId id="256"/>
            <p14:sldId id="1294"/>
            <p14:sldId id="2147480947"/>
            <p14:sldId id="2147480944"/>
            <p14:sldId id="2147480948"/>
            <p14:sldId id="6961"/>
            <p14:sldId id="1371"/>
            <p14:sldId id="6955"/>
            <p14:sldId id="2147480946"/>
            <p14:sldId id="2147470309"/>
            <p14:sldId id="2147480949"/>
            <p14:sldId id="1313"/>
          </p14:sldIdLst>
        </p14:section>
      </p14:sectionLst>
    </p:ext>
    <p:ext uri="{EFAFB233-063F-42B5-8137-9DF3F51BA10A}">
      <p15:sldGuideLst xmlns:p15="http://schemas.microsoft.com/office/powerpoint/2012/main">
        <p15:guide id="1" pos="302" userDrawn="1">
          <p15:clr>
            <a:srgbClr val="A4A3A4"/>
          </p15:clr>
        </p15:guide>
        <p15:guide id="2" pos="7423" userDrawn="1">
          <p15:clr>
            <a:srgbClr val="A4A3A4"/>
          </p15:clr>
        </p15:guide>
        <p15:guide id="3" orient="horz" pos="25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2096F3"/>
    <a:srgbClr val="DEEBF7"/>
    <a:srgbClr val="2196F3"/>
    <a:srgbClr val="FFFFFF"/>
    <a:srgbClr val="481E67"/>
    <a:srgbClr val="D9D9D9"/>
    <a:srgbClr val="BFBFBF"/>
    <a:srgbClr val="481F67"/>
    <a:srgbClr val="B0B0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2" autoAdjust="0"/>
    <p:restoredTop sz="96301" autoAdjust="0"/>
  </p:normalViewPr>
  <p:slideViewPr>
    <p:cSldViewPr snapToGrid="0" snapToObjects="1">
      <p:cViewPr varScale="1">
        <p:scale>
          <a:sx n="82" d="100"/>
          <a:sy n="82" d="100"/>
        </p:scale>
        <p:origin x="710" y="72"/>
      </p:cViewPr>
      <p:guideLst>
        <p:guide pos="302"/>
        <p:guide pos="7423"/>
        <p:guide orient="horz" pos="25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97"/>
    </p:cViewPr>
  </p:sorterViewPr>
  <p:notesViewPr>
    <p:cSldViewPr snapToGrid="0" snapToObjects="1">
      <p:cViewPr varScale="1">
        <p:scale>
          <a:sx n="62" d="100"/>
          <a:sy n="62" d="100"/>
        </p:scale>
        <p:origin x="313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.xlsx"/><Relationship Id="rId1" Type="http://schemas.openxmlformats.org/officeDocument/2006/relationships/themeOverride" Target="../theme/themeOverride1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Органика</c:v>
                </c:pt>
              </c:strCache>
            </c:strRef>
          </c:tx>
          <c:spPr>
            <a:solidFill>
              <a:srgbClr val="0070C0"/>
            </a:solidFill>
            <a:ln>
              <a:solidFill>
                <a:srgbClr val="0070C0"/>
              </a:solidFill>
            </a:ln>
          </c:spPr>
          <c:invertIfNegative val="1"/>
          <c:dLbls>
            <c:numFmt formatCode="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>
                    <a:solidFill>
                      <a:schemeClr val="bg1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Имудон</c:v>
                </c:pt>
                <c:pt idx="1">
                  <c:v>Бактоблис</c:v>
                </c:pt>
                <c:pt idx="2">
                  <c:v>Отофаг</c:v>
                </c:pt>
                <c:pt idx="3">
                  <c:v>Исмиген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</c:v>
                </c:pt>
                <c:pt idx="1">
                  <c:v>38</c:v>
                </c:pt>
                <c:pt idx="2">
                  <c:v>68</c:v>
                </c:pt>
                <c:pt idx="3">
                  <c:v>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70C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A94B-496D-9D62-B4C2C6ABF4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Кампания</c:v>
                </c:pt>
              </c:strCache>
            </c:strRef>
          </c:tx>
          <c:spPr>
            <a:solidFill>
              <a:srgbClr val="1F9BEA"/>
            </a:solidFill>
            <a:ln>
              <a:solidFill>
                <a:srgbClr val="1F9BEA"/>
              </a:solidFill>
            </a:ln>
          </c:spPr>
          <c:invertIfNegative val="1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94B-496D-9D62-B4C2C6ABF43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94B-496D-9D62-B4C2C6ABF43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94B-496D-9D62-B4C2C6ABF43A}"/>
                </c:ext>
              </c:extLst>
            </c:dLbl>
            <c:numFmt formatCode="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>
                    <a:solidFill>
                      <a:schemeClr val="bg1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Имудон</c:v>
                </c:pt>
                <c:pt idx="1">
                  <c:v>Бактоблис</c:v>
                </c:pt>
                <c:pt idx="2">
                  <c:v>Отофаг</c:v>
                </c:pt>
                <c:pt idx="3">
                  <c:v>Исмиген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70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F9BE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A94B-496D-9D62-B4C2C6ABF43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Аудитория OTS</c:v>
                </c:pt>
              </c:strCache>
            </c:strRef>
          </c:tx>
          <c:spPr>
            <a:solidFill>
              <a:srgbClr val="0070C0"/>
            </a:solidFill>
            <a:ln>
              <a:solidFill>
                <a:srgbClr val="0070C0"/>
              </a:solidFill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0070C0"/>
              </a:solidFill>
              <a:ln>
                <a:solidFill>
                  <a:srgbClr val="0070C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A62B-46DE-9F3F-3E95E1F25CF3}"/>
              </c:ext>
            </c:extLst>
          </c:dPt>
          <c:dPt>
            <c:idx val="1"/>
            <c:invertIfNegative val="1"/>
            <c:bubble3D val="0"/>
            <c:spPr>
              <a:solidFill>
                <a:srgbClr val="1F9BEA"/>
              </a:solidFill>
              <a:ln>
                <a:solidFill>
                  <a:srgbClr val="1F9BEA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A62B-46DE-9F3F-3E95E1F25CF3}"/>
              </c:ext>
            </c:extLst>
          </c:dPt>
          <c:dPt>
            <c:idx val="2"/>
            <c:invertIfNegative val="1"/>
            <c:bubble3D val="0"/>
            <c:spPr>
              <a:solidFill>
                <a:srgbClr val="0070C0"/>
              </a:solidFill>
              <a:ln>
                <a:solidFill>
                  <a:srgbClr val="0070C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A62B-46DE-9F3F-3E95E1F25CF3}"/>
              </c:ext>
            </c:extLst>
          </c:dPt>
          <c:dPt>
            <c:idx val="3"/>
            <c:invertIfNegative val="1"/>
            <c:bubble3D val="0"/>
            <c:spPr>
              <a:solidFill>
                <a:srgbClr val="0070C0"/>
              </a:solidFill>
              <a:ln>
                <a:solidFill>
                  <a:srgbClr val="0070C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A62B-46DE-9F3F-3E95E1F25CF3}"/>
              </c:ext>
            </c:extLst>
          </c:dPt>
          <c:dLbls>
            <c:numFmt formatCode="#\ ##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Имудон</c:v>
                </c:pt>
                <c:pt idx="1">
                  <c:v>Бактоблис</c:v>
                </c:pt>
                <c:pt idx="2">
                  <c:v>Отофаг</c:v>
                </c:pt>
                <c:pt idx="3">
                  <c:v>Исмиген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5946019</c:v>
                </c:pt>
                <c:pt idx="1">
                  <c:v>4571250</c:v>
                </c:pt>
                <c:pt idx="2">
                  <c:v>1678190</c:v>
                </c:pt>
                <c:pt idx="3">
                  <c:v>1017221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70C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8-A62B-46DE-9F3F-3E95E1F25CF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Количество упоминаний</c:v>
                </c:pt>
              </c:strCache>
            </c:strRef>
          </c:tx>
          <c:spPr>
            <a:solidFill>
              <a:srgbClr val="D9D9D9"/>
            </a:solidFill>
            <a:ln>
              <a:solidFill>
                <a:srgbClr val="D9D9D9"/>
              </a:solidFill>
            </a:ln>
          </c:spPr>
          <c:invertIfNegative val="1"/>
          <c:dLbls>
            <c:numFmt formatCode="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Ушная боль и отит</c:v>
                </c:pt>
                <c:pt idx="1">
                  <c:v>Боль и першение в горле</c:v>
                </c:pt>
                <c:pt idx="2">
                  <c:v>Ангина с температурой</c:v>
                </c:pt>
                <c:pt idx="3">
                  <c:v>Аденоиды и носоглотка</c:v>
                </c:pt>
                <c:pt idx="4">
                  <c:v>Тонзиллит и миндалины</c:v>
                </c:pt>
                <c:pt idx="5">
                  <c:v>Консультация и выбор лечения</c:v>
                </c:pt>
                <c:pt idx="6">
                  <c:v>Запах изо рта и полость рта</c:v>
                </c:pt>
                <c:pt idx="7">
                  <c:v>Кашель и раздражение горла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1034</c:v>
                </c:pt>
                <c:pt idx="1">
                  <c:v>675</c:v>
                </c:pt>
                <c:pt idx="2">
                  <c:v>668</c:v>
                </c:pt>
                <c:pt idx="3">
                  <c:v>604</c:v>
                </c:pt>
                <c:pt idx="4">
                  <c:v>254</c:v>
                </c:pt>
                <c:pt idx="5">
                  <c:v>226</c:v>
                </c:pt>
                <c:pt idx="6">
                  <c:v>175</c:v>
                </c:pt>
                <c:pt idx="7">
                  <c:v>164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D9D9D9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476-4C2E-A4D4-11D803AAE80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0012922842479563"/>
          <c:y val="9.2006583904208836E-3"/>
          <c:w val="0.8909443513461982"/>
          <c:h val="0.8987927577053702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SOV</c:v>
                </c:pt>
              </c:strCache>
            </c:strRef>
          </c:tx>
          <c:dPt>
            <c:idx val="0"/>
            <c:bubble3D val="0"/>
            <c:spPr>
              <a:solidFill>
                <a:srgbClr val="D9D9D9"/>
              </a:solidFill>
              <a:ln>
                <a:solidFill>
                  <a:srgbClr val="D9D9D9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B646-45D7-A7EC-7D0A50AF2CCA}"/>
              </c:ext>
            </c:extLst>
          </c:dPt>
          <c:dPt>
            <c:idx val="1"/>
            <c:bubble3D val="0"/>
            <c:spPr>
              <a:solidFill>
                <a:srgbClr val="1F9BEA"/>
              </a:solidFill>
              <a:ln>
                <a:solidFill>
                  <a:srgbClr val="1F9BEA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B646-45D7-A7EC-7D0A50AF2CCA}"/>
              </c:ext>
            </c:extLst>
          </c:dPt>
          <c:dPt>
            <c:idx val="2"/>
            <c:bubble3D val="0"/>
            <c:spPr>
              <a:solidFill>
                <a:srgbClr val="8EA9DB"/>
              </a:solidFill>
              <a:ln>
                <a:solidFill>
                  <a:srgbClr val="8EA9DB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B646-45D7-A7EC-7D0A50AF2CCA}"/>
              </c:ext>
            </c:extLst>
          </c:dPt>
          <c:dPt>
            <c:idx val="3"/>
            <c:bubble3D val="0"/>
            <c:spPr>
              <a:solidFill>
                <a:srgbClr val="F4C7A3"/>
              </a:solidFill>
              <a:ln>
                <a:solidFill>
                  <a:srgbClr val="F4C7A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B646-45D7-A7EC-7D0A50AF2CCA}"/>
              </c:ext>
            </c:extLst>
          </c:dPt>
          <c:cat>
            <c:strRef>
              <c:f>Sheet1!$A$2:$A$5</c:f>
              <c:strCache>
                <c:ptCount val="4"/>
                <c:pt idx="0">
                  <c:v>Имудон</c:v>
                </c:pt>
                <c:pt idx="1">
                  <c:v>Бактоблис</c:v>
                </c:pt>
                <c:pt idx="2">
                  <c:v>Отофаг</c:v>
                </c:pt>
                <c:pt idx="3">
                  <c:v>Исмижен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</c:v>
                </c:pt>
                <c:pt idx="1">
                  <c:v>108</c:v>
                </c:pt>
                <c:pt idx="2">
                  <c:v>68</c:v>
                </c:pt>
                <c:pt idx="3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646-45D7-A7EC-7D0A50AF2C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Без учета кампании</c:v>
                </c:pt>
              </c:strCache>
            </c:strRef>
          </c:tx>
          <c:spPr>
            <a:solidFill>
              <a:srgbClr val="BFBFBF"/>
            </a:solidFill>
            <a:ln>
              <a:solidFill>
                <a:srgbClr val="BFBFBF"/>
              </a:solidFill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Имудон</c:v>
                </c:pt>
                <c:pt idx="1">
                  <c:v>Бактоблис</c:v>
                </c:pt>
                <c:pt idx="2">
                  <c:v>Отофаг</c:v>
                </c:pt>
                <c:pt idx="3">
                  <c:v>Исмиген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0.56426332300000004</c:v>
                </c:pt>
                <c:pt idx="1">
                  <c:v>0.119122257</c:v>
                </c:pt>
                <c:pt idx="2">
                  <c:v>0.213166144</c:v>
                </c:pt>
                <c:pt idx="3">
                  <c:v>0.10344827600000001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BFBFB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586-4288-A735-C19004DCFC3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 учетом кампании</c:v>
                </c:pt>
              </c:strCache>
            </c:strRef>
          </c:tx>
          <c:spPr>
            <a:solidFill>
              <a:srgbClr val="0070C0"/>
            </a:solidFill>
            <a:ln>
              <a:solidFill>
                <a:srgbClr val="0070C0"/>
              </a:solidFill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Имудон</c:v>
                </c:pt>
                <c:pt idx="1">
                  <c:v>Бактоблис</c:v>
                </c:pt>
                <c:pt idx="2">
                  <c:v>Отофаг</c:v>
                </c:pt>
                <c:pt idx="3">
                  <c:v>Исмиген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0.46272493599999998</c:v>
                </c:pt>
                <c:pt idx="1">
                  <c:v>0.27763496100000001</c:v>
                </c:pt>
                <c:pt idx="2">
                  <c:v>0.174807198</c:v>
                </c:pt>
                <c:pt idx="3">
                  <c:v>8.4832905E-2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70C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586-4288-A735-C19004DCFC3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 b="0">
              <a:solidFill>
                <a:srgbClr val="333333"/>
              </a:solidFill>
              <a:latin typeface="Arial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596618692980656E-2"/>
          <c:y val="0.1649641610433758"/>
          <c:w val="0.94806761915684046"/>
          <c:h val="0.58877366125895403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Позитив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2.2760692821152031E-3"/>
                  <c:y val="-2.6546098467791109E-2"/>
                </c:manualLayout>
              </c:layout>
              <c:numFmt formatCode="#,##0" sourceLinked="0"/>
              <c:spPr>
                <a:solidFill>
                  <a:srgbClr val="00B05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FC1-5946-A5A5-98D7E842C8D6}"/>
                </c:ext>
              </c:extLst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DB8-E34B-9621-4DD38DF2F1FB}"/>
                </c:ext>
              </c:extLst>
            </c:dLbl>
            <c:dLbl>
              <c:idx val="2"/>
              <c:layout>
                <c:manualLayout>
                  <c:x val="0"/>
                  <c:y val="-1.750162751355067E-2"/>
                </c:manualLayout>
              </c:layout>
              <c:numFmt formatCode="#,##0" sourceLinked="0"/>
              <c:spPr>
                <a:solidFill>
                  <a:srgbClr val="00B05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FC1-5946-A5A5-98D7E842C8D6}"/>
                </c:ext>
              </c:extLst>
            </c:dLbl>
            <c:dLbl>
              <c:idx val="3"/>
              <c:layout>
                <c:manualLayout>
                  <c:x val="0"/>
                  <c:y val="-1.8319159552073833E-2"/>
                </c:manualLayout>
              </c:layout>
              <c:numFmt formatCode="#,##0" sourceLinked="0"/>
              <c:spPr>
                <a:solidFill>
                  <a:srgbClr val="00B05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FC1-5946-A5A5-98D7E842C8D6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DB8-E34B-9621-4DD38DF2F1FB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E2D-48C4-BE81-9DBF9EF19646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E2D-48C4-BE81-9DBF9EF19646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Имудон</c:v>
                </c:pt>
                <c:pt idx="1">
                  <c:v>Бактоблис</c:v>
                </c:pt>
                <c:pt idx="2">
                  <c:v>Отофаг</c:v>
                </c:pt>
                <c:pt idx="3">
                  <c:v>Исмиген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69</c:v>
                </c:pt>
                <c:pt idx="2">
                  <c:v>40</c:v>
                </c:pt>
                <c:pt idx="3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DB8-E34B-9621-4DD38DF2F1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Нейтрал</c:v>
                </c:pt>
              </c:strCache>
            </c:strRef>
          </c:tx>
          <c:spPr>
            <a:solidFill>
              <a:srgbClr val="D9D9D9"/>
            </a:solidFill>
            <a:ln>
              <a:solidFill>
                <a:srgbClr val="D9D9D9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Имудон</c:v>
                </c:pt>
                <c:pt idx="1">
                  <c:v>Бактоблис</c:v>
                </c:pt>
                <c:pt idx="2">
                  <c:v>Отофаг</c:v>
                </c:pt>
                <c:pt idx="3">
                  <c:v>Исмиген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105</c:v>
                </c:pt>
                <c:pt idx="1">
                  <c:v>37</c:v>
                </c:pt>
                <c:pt idx="2">
                  <c:v>27</c:v>
                </c:pt>
                <c:pt idx="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DB8-E34B-9621-4DD38DF2F1F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Негатив</c:v>
                </c:pt>
              </c:strCache>
            </c:strRef>
          </c:tx>
          <c:spPr>
            <a:solidFill>
              <a:srgbClr val="C00000"/>
            </a:solidFill>
            <a:ln>
              <a:solidFill>
                <a:srgbClr val="C00000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3.299886513305214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FC1-5946-A5A5-98D7E842C8D6}"/>
                </c:ext>
              </c:extLst>
            </c:dLbl>
            <c:dLbl>
              <c:idx val="1"/>
              <c:layout>
                <c:manualLayout>
                  <c:x val="2.2760692821152031E-3"/>
                  <c:y val="-3.471670956917224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A90-1C40-9B16-8D6A2025702F}"/>
                </c:ext>
              </c:extLst>
            </c:dLbl>
            <c:dLbl>
              <c:idx val="2"/>
              <c:layout>
                <c:manualLayout>
                  <c:x val="0"/>
                  <c:y val="-4.2999976299225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DB8-E34B-9621-4DD38DF2F1FB}"/>
                </c:ext>
              </c:extLst>
            </c:dLbl>
            <c:dLbl>
              <c:idx val="3"/>
              <c:layout>
                <c:manualLayout>
                  <c:x val="0"/>
                  <c:y val="-4.021221119298309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DB8-E34B-9621-4DD38DF2F1FB}"/>
                </c:ext>
              </c:extLst>
            </c:dLbl>
            <c:dLbl>
              <c:idx val="4"/>
              <c:layout>
                <c:manualLayout>
                  <c:x val="0"/>
                  <c:y val="-3.403092612468638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DB8-E34B-9621-4DD38DF2F1FB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DB8-E34B-9621-4DD38DF2F1FB}"/>
                </c:ext>
              </c:extLst>
            </c:dLbl>
            <c:dLbl>
              <c:idx val="6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DB8-E34B-9621-4DD38DF2F1FB}"/>
                </c:ext>
              </c:extLst>
            </c:dLbl>
            <c:dLbl>
              <c:idx val="7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DB8-E34B-9621-4DD38DF2F1FB}"/>
                </c:ext>
              </c:extLst>
            </c:dLbl>
            <c:dLbl>
              <c:idx val="8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E2D-48C4-BE81-9DBF9EF19646}"/>
                </c:ext>
              </c:extLst>
            </c:dLbl>
            <c:dLbl>
              <c:idx val="16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7DB8-E34B-9621-4DD38DF2F1FB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Имудон</c:v>
                </c:pt>
                <c:pt idx="1">
                  <c:v>Бактоблис</c:v>
                </c:pt>
                <c:pt idx="2">
                  <c:v>Отофаг</c:v>
                </c:pt>
                <c:pt idx="3">
                  <c:v>Исмиген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13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7DB8-E34B-9621-4DD38DF2F1F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3"/>
        <c:overlap val="100"/>
        <c:axId val="113518080"/>
        <c:axId val="113519616"/>
      </c:barChart>
      <c:catAx>
        <c:axId val="113518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3519616"/>
        <c:crosses val="autoZero"/>
        <c:auto val="1"/>
        <c:lblAlgn val="ctr"/>
        <c:lblOffset val="100"/>
        <c:noMultiLvlLbl val="0"/>
      </c:catAx>
      <c:valAx>
        <c:axId val="11351961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13518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1"/>
      <c:txPr>
        <a:bodyPr/>
        <a:lstStyle/>
        <a:p>
          <a:pPr>
            <a:defRPr sz="1000" b="0">
              <a:solidFill>
                <a:srgbClr val="333333"/>
              </a:solidFill>
              <a:latin typeface="Arial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000">
          <a:latin typeface="Helvetica" pitchFamily="2" charset="0"/>
        </a:defRPr>
      </a:pPr>
      <a:endParaRPr lang="en-US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423643963864502E-2"/>
          <c:y val="0.16353895496596235"/>
          <c:w val="0.88252410057574482"/>
          <c:h val="0.5986264815860328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Позитив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 мая</c:v>
                </c:pt>
                <c:pt idx="1">
                  <c:v>2 мая</c:v>
                </c:pt>
                <c:pt idx="2">
                  <c:v>3 мая</c:v>
                </c:pt>
                <c:pt idx="3">
                  <c:v>4 мая</c:v>
                </c:pt>
                <c:pt idx="4">
                  <c:v>5 мая</c:v>
                </c:pt>
                <c:pt idx="5">
                  <c:v>6 мая</c:v>
                </c:pt>
                <c:pt idx="6">
                  <c:v>7 мая</c:v>
                </c:pt>
                <c:pt idx="7">
                  <c:v>8 мая</c:v>
                </c:pt>
                <c:pt idx="8">
                  <c:v>9 мая</c:v>
                </c:pt>
                <c:pt idx="9">
                  <c:v>10 мая</c:v>
                </c:pt>
                <c:pt idx="10">
                  <c:v>11 мая</c:v>
                </c:pt>
                <c:pt idx="11">
                  <c:v>12 мая</c:v>
                </c:pt>
                <c:pt idx="12">
                  <c:v>13 мая</c:v>
                </c:pt>
                <c:pt idx="13">
                  <c:v>14 мая</c:v>
                </c:pt>
                <c:pt idx="14">
                  <c:v>15 мая</c:v>
                </c:pt>
                <c:pt idx="15">
                  <c:v>16 мая</c:v>
                </c:pt>
                <c:pt idx="16">
                  <c:v>17 мая</c:v>
                </c:pt>
                <c:pt idx="17">
                  <c:v>18 мая</c:v>
                </c:pt>
                <c:pt idx="18">
                  <c:v>19 мая</c:v>
                </c:pt>
                <c:pt idx="19">
                  <c:v>20 мая</c:v>
                </c:pt>
                <c:pt idx="20">
                  <c:v>21 мая</c:v>
                </c:pt>
                <c:pt idx="21">
                  <c:v>22 мая</c:v>
                </c:pt>
                <c:pt idx="22">
                  <c:v>23 мая</c:v>
                </c:pt>
                <c:pt idx="23">
                  <c:v>24 мая</c:v>
                </c:pt>
                <c:pt idx="24">
                  <c:v>25 мая</c:v>
                </c:pt>
                <c:pt idx="25">
                  <c:v>26 мая</c:v>
                </c:pt>
                <c:pt idx="26">
                  <c:v>27 мая</c:v>
                </c:pt>
                <c:pt idx="27">
                  <c:v>28 мая</c:v>
                </c:pt>
                <c:pt idx="28">
                  <c:v>29 мая</c:v>
                </c:pt>
                <c:pt idx="29">
                  <c:v>30 мая</c:v>
                </c:pt>
                <c:pt idx="30">
                  <c:v>31 мая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4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2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0</c:v>
                </c:pt>
                <c:pt idx="14">
                  <c:v>1</c:v>
                </c:pt>
                <c:pt idx="15">
                  <c:v>5</c:v>
                </c:pt>
                <c:pt idx="16">
                  <c:v>0</c:v>
                </c:pt>
                <c:pt idx="17">
                  <c:v>2</c:v>
                </c:pt>
                <c:pt idx="18">
                  <c:v>1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2</c:v>
                </c:pt>
                <c:pt idx="27">
                  <c:v>12</c:v>
                </c:pt>
                <c:pt idx="28">
                  <c:v>21</c:v>
                </c:pt>
                <c:pt idx="29">
                  <c:v>11</c:v>
                </c:pt>
                <c:pt idx="3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6D0-F04D-9812-EB776ED437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Нейтрал</c:v>
                </c:pt>
              </c:strCache>
            </c:strRef>
          </c:tx>
          <c:spPr>
            <a:ln w="28575" cap="rnd">
              <a:solidFill>
                <a:srgbClr val="D9D9D9"/>
              </a:solidFill>
              <a:round/>
            </a:ln>
            <a:effectLst/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 мая</c:v>
                </c:pt>
                <c:pt idx="1">
                  <c:v>2 мая</c:v>
                </c:pt>
                <c:pt idx="2">
                  <c:v>3 мая</c:v>
                </c:pt>
                <c:pt idx="3">
                  <c:v>4 мая</c:v>
                </c:pt>
                <c:pt idx="4">
                  <c:v>5 мая</c:v>
                </c:pt>
                <c:pt idx="5">
                  <c:v>6 мая</c:v>
                </c:pt>
                <c:pt idx="6">
                  <c:v>7 мая</c:v>
                </c:pt>
                <c:pt idx="7">
                  <c:v>8 мая</c:v>
                </c:pt>
                <c:pt idx="8">
                  <c:v>9 мая</c:v>
                </c:pt>
                <c:pt idx="9">
                  <c:v>10 мая</c:v>
                </c:pt>
                <c:pt idx="10">
                  <c:v>11 мая</c:v>
                </c:pt>
                <c:pt idx="11">
                  <c:v>12 мая</c:v>
                </c:pt>
                <c:pt idx="12">
                  <c:v>13 мая</c:v>
                </c:pt>
                <c:pt idx="13">
                  <c:v>14 мая</c:v>
                </c:pt>
                <c:pt idx="14">
                  <c:v>15 мая</c:v>
                </c:pt>
                <c:pt idx="15">
                  <c:v>16 мая</c:v>
                </c:pt>
                <c:pt idx="16">
                  <c:v>17 мая</c:v>
                </c:pt>
                <c:pt idx="17">
                  <c:v>18 мая</c:v>
                </c:pt>
                <c:pt idx="18">
                  <c:v>19 мая</c:v>
                </c:pt>
                <c:pt idx="19">
                  <c:v>20 мая</c:v>
                </c:pt>
                <c:pt idx="20">
                  <c:v>21 мая</c:v>
                </c:pt>
                <c:pt idx="21">
                  <c:v>22 мая</c:v>
                </c:pt>
                <c:pt idx="22">
                  <c:v>23 мая</c:v>
                </c:pt>
                <c:pt idx="23">
                  <c:v>24 мая</c:v>
                </c:pt>
                <c:pt idx="24">
                  <c:v>25 мая</c:v>
                </c:pt>
                <c:pt idx="25">
                  <c:v>26 мая</c:v>
                </c:pt>
                <c:pt idx="26">
                  <c:v>27 мая</c:v>
                </c:pt>
                <c:pt idx="27">
                  <c:v>28 мая</c:v>
                </c:pt>
                <c:pt idx="28">
                  <c:v>29 мая</c:v>
                </c:pt>
                <c:pt idx="29">
                  <c:v>30 мая</c:v>
                </c:pt>
                <c:pt idx="30">
                  <c:v>31 мая</c:v>
                </c:pt>
              </c:strCache>
            </c: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1</c:v>
                </c:pt>
                <c:pt idx="1">
                  <c:v>1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2</c:v>
                </c:pt>
                <c:pt idx="12">
                  <c:v>0</c:v>
                </c:pt>
                <c:pt idx="13">
                  <c:v>2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  <c:pt idx="17">
                  <c:v>1</c:v>
                </c:pt>
                <c:pt idx="18">
                  <c:v>0</c:v>
                </c:pt>
                <c:pt idx="19">
                  <c:v>1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2</c:v>
                </c:pt>
                <c:pt idx="24">
                  <c:v>1</c:v>
                </c:pt>
                <c:pt idx="25">
                  <c:v>1</c:v>
                </c:pt>
                <c:pt idx="26">
                  <c:v>2</c:v>
                </c:pt>
                <c:pt idx="27">
                  <c:v>0</c:v>
                </c:pt>
                <c:pt idx="28">
                  <c:v>8</c:v>
                </c:pt>
                <c:pt idx="29">
                  <c:v>4</c:v>
                </c:pt>
                <c:pt idx="3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6D0-F04D-9812-EB776ED437E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Негатив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Pt>
            <c:idx val="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E6D0-F04D-9812-EB776ED437E8}"/>
              </c:ext>
            </c:extLst>
          </c:dPt>
          <c:dPt>
            <c:idx val="2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3-E6D0-F04D-9812-EB776ED437E8}"/>
              </c:ext>
            </c:extLst>
          </c:dPt>
          <c:dPt>
            <c:idx val="2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4-E6D0-F04D-9812-EB776ED437E8}"/>
              </c:ext>
            </c:extLst>
          </c:dPt>
          <c:cat>
            <c:strRef>
              <c:f>Sheet1!$A$2:$A$32</c:f>
              <c:strCache>
                <c:ptCount val="31"/>
                <c:pt idx="0">
                  <c:v>1 мая</c:v>
                </c:pt>
                <c:pt idx="1">
                  <c:v>2 мая</c:v>
                </c:pt>
                <c:pt idx="2">
                  <c:v>3 мая</c:v>
                </c:pt>
                <c:pt idx="3">
                  <c:v>4 мая</c:v>
                </c:pt>
                <c:pt idx="4">
                  <c:v>5 мая</c:v>
                </c:pt>
                <c:pt idx="5">
                  <c:v>6 мая</c:v>
                </c:pt>
                <c:pt idx="6">
                  <c:v>7 мая</c:v>
                </c:pt>
                <c:pt idx="7">
                  <c:v>8 мая</c:v>
                </c:pt>
                <c:pt idx="8">
                  <c:v>9 мая</c:v>
                </c:pt>
                <c:pt idx="9">
                  <c:v>10 мая</c:v>
                </c:pt>
                <c:pt idx="10">
                  <c:v>11 мая</c:v>
                </c:pt>
                <c:pt idx="11">
                  <c:v>12 мая</c:v>
                </c:pt>
                <c:pt idx="12">
                  <c:v>13 мая</c:v>
                </c:pt>
                <c:pt idx="13">
                  <c:v>14 мая</c:v>
                </c:pt>
                <c:pt idx="14">
                  <c:v>15 мая</c:v>
                </c:pt>
                <c:pt idx="15">
                  <c:v>16 мая</c:v>
                </c:pt>
                <c:pt idx="16">
                  <c:v>17 мая</c:v>
                </c:pt>
                <c:pt idx="17">
                  <c:v>18 мая</c:v>
                </c:pt>
                <c:pt idx="18">
                  <c:v>19 мая</c:v>
                </c:pt>
                <c:pt idx="19">
                  <c:v>20 мая</c:v>
                </c:pt>
                <c:pt idx="20">
                  <c:v>21 мая</c:v>
                </c:pt>
                <c:pt idx="21">
                  <c:v>22 мая</c:v>
                </c:pt>
                <c:pt idx="22">
                  <c:v>23 мая</c:v>
                </c:pt>
                <c:pt idx="23">
                  <c:v>24 мая</c:v>
                </c:pt>
                <c:pt idx="24">
                  <c:v>25 мая</c:v>
                </c:pt>
                <c:pt idx="25">
                  <c:v>26 мая</c:v>
                </c:pt>
                <c:pt idx="26">
                  <c:v>27 мая</c:v>
                </c:pt>
                <c:pt idx="27">
                  <c:v>28 мая</c:v>
                </c:pt>
                <c:pt idx="28">
                  <c:v>29 мая</c:v>
                </c:pt>
                <c:pt idx="29">
                  <c:v>30 мая</c:v>
                </c:pt>
                <c:pt idx="30">
                  <c:v>31 мая</c:v>
                </c:pt>
              </c:strCache>
            </c:str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1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E6D0-F04D-9812-EB776ED437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638400"/>
        <c:axId val="113648384"/>
      </c:lineChart>
      <c:dateAx>
        <c:axId val="113638400"/>
        <c:scaling>
          <c:orientation val="minMax"/>
        </c:scaling>
        <c:delete val="0"/>
        <c:axPos val="b"/>
        <c:numFmt formatCode="[$-419]d\ mmm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3648384"/>
        <c:crosses val="autoZero"/>
        <c:auto val="1"/>
        <c:lblOffset val="100"/>
        <c:baseTimeUnit val="days"/>
        <c:majorUnit val="1"/>
        <c:majorTimeUnit val="days"/>
        <c:minorUnit val="5"/>
        <c:minorTimeUnit val="days"/>
      </c:dateAx>
      <c:valAx>
        <c:axId val="1136483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3638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427259406333207"/>
          <c:y val="0.92278094577828418"/>
          <c:w val="0.54468054250202913"/>
          <c:h val="7.4374203113926174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33333"/>
              </a:solidFill>
              <a:latin typeface="Arial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917655516561111"/>
          <c:y val="0.22861141284358838"/>
          <c:w val="0.60507541595022163"/>
          <c:h val="0.5215486374991650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SOV</c:v>
                </c:pt>
              </c:strCache>
            </c:strRef>
          </c:tx>
          <c:spPr>
            <a:ln>
              <a:noFill/>
            </a:ln>
            <a:effectLst/>
            <a:scene3d>
              <a:camera prst="orthographicFront"/>
              <a:lightRig rig="brightRoom" dir="t"/>
            </a:scene3d>
            <a:sp3d prstMaterial="flat">
              <a:contourClr>
                <a:srgbClr val="000000"/>
              </a:contourClr>
            </a:sp3d>
          </c:spPr>
          <c:dPt>
            <c:idx val="0"/>
            <c:bubble3D val="0"/>
            <c:spPr>
              <a:solidFill>
                <a:srgbClr val="00B0F0"/>
              </a:solidFill>
              <a:ln>
                <a:solidFill>
                  <a:srgbClr val="00B0F0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675-9642-9F91-C018051595B8}"/>
              </c:ext>
            </c:extLst>
          </c:dPt>
          <c:dPt>
            <c:idx val="1"/>
            <c:bubble3D val="0"/>
            <c:spPr>
              <a:solidFill>
                <a:srgbClr val="4472C4"/>
              </a:solidFill>
              <a:ln>
                <a:solidFill>
                  <a:srgbClr val="4472C4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675-9642-9F91-C018051595B8}"/>
              </c:ext>
            </c:extLst>
          </c:dPt>
          <c:dPt>
            <c:idx val="2"/>
            <c:bubble3D val="0"/>
            <c:spPr>
              <a:solidFill>
                <a:srgbClr val="D9D9D9"/>
              </a:solidFill>
              <a:ln>
                <a:solidFill>
                  <a:srgbClr val="D9D9D9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1675-9642-9F91-C018051595B8}"/>
              </c:ext>
            </c:extLst>
          </c:dPt>
          <c:dPt>
            <c:idx val="3"/>
            <c:bubble3D val="0"/>
            <c:spPr>
              <a:solidFill>
                <a:srgbClr val="7030A0"/>
              </a:solidFill>
              <a:ln>
                <a:solidFill>
                  <a:srgbClr val="7030A0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1675-9642-9F91-C018051595B8}"/>
              </c:ext>
            </c:extLst>
          </c:dPt>
          <c:dPt>
            <c:idx val="4"/>
            <c:bubble3D val="0"/>
            <c:spPr>
              <a:solidFill>
                <a:srgbClr val="FFC000"/>
              </a:solidFill>
              <a:ln>
                <a:solidFill>
                  <a:srgbClr val="FFC000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1675-9642-9F91-C018051595B8}"/>
              </c:ext>
            </c:extLst>
          </c:dPt>
          <c:dPt>
            <c:idx val="5"/>
            <c:bubble3D val="0"/>
            <c:spPr>
              <a:solidFill>
                <a:srgbClr val="70AD47"/>
              </a:solidFill>
              <a:ln>
                <a:solidFill>
                  <a:srgbClr val="70AD47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1675-9642-9F91-C018051595B8}"/>
              </c:ext>
            </c:extLst>
          </c:dPt>
          <c:dLbls>
            <c:dLbl>
              <c:idx val="0"/>
              <c:layout>
                <c:manualLayout>
                  <c:x val="6.2201799561056193E-3"/>
                  <c:y val="-0.13259238407299595"/>
                </c:manualLayout>
              </c:layout>
              <c:showLegendKey val="1"/>
              <c:showVal val="1"/>
              <c:showCatName val="1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675-9642-9F91-C018051595B8}"/>
                </c:ext>
              </c:extLst>
            </c:dLbl>
            <c:dLbl>
              <c:idx val="1"/>
              <c:layout>
                <c:manualLayout>
                  <c:x val="6.2678859952318089E-2"/>
                  <c:y val="0.22546005213625281"/>
                </c:manualLayout>
              </c:layout>
              <c:showLegendKey val="1"/>
              <c:showVal val="1"/>
              <c:showCatName val="1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675-9642-9F91-C018051595B8}"/>
                </c:ext>
              </c:extLst>
            </c:dLbl>
            <c:dLbl>
              <c:idx val="2"/>
              <c:layout>
                <c:manualLayout>
                  <c:x val="-0.12939856013403531"/>
                  <c:y val="0.16985090819959403"/>
                </c:manualLayout>
              </c:layout>
              <c:showLegendKey val="1"/>
              <c:showVal val="1"/>
              <c:showCatName val="1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8165319820441953"/>
                      <c:h val="0.1315006886778451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1675-9642-9F91-C018051595B8}"/>
                </c:ext>
              </c:extLst>
            </c:dLbl>
            <c:dLbl>
              <c:idx val="3"/>
              <c:layout>
                <c:manualLayout>
                  <c:x val="-0.21332681169865464"/>
                  <c:y val="0.10026936284237972"/>
                </c:manualLayout>
              </c:layout>
              <c:showLegendKey val="1"/>
              <c:showVal val="1"/>
              <c:showCatName val="1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675-9642-9F91-C018051595B8}"/>
                </c:ext>
              </c:extLst>
            </c:dLbl>
            <c:dLbl>
              <c:idx val="4"/>
              <c:layout>
                <c:manualLayout>
                  <c:x val="-0.19842244391223296"/>
                  <c:y val="2.7783647806588398E-3"/>
                </c:manualLayout>
              </c:layout>
              <c:showLegendKey val="1"/>
              <c:showVal val="1"/>
              <c:showCatName val="1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675-9642-9F91-C018051595B8}"/>
                </c:ext>
              </c:extLst>
            </c:dLbl>
            <c:dLbl>
              <c:idx val="5"/>
              <c:layout>
                <c:manualLayout>
                  <c:x val="-0.20158153661694825"/>
                  <c:y val="-6.1963330991386782E-2"/>
                </c:manualLayout>
              </c:layout>
              <c:showLegendKey val="1"/>
              <c:showVal val="1"/>
              <c:showCatName val="1"/>
              <c:showSerName val="0"/>
              <c:showPercent val="1"/>
              <c:showBubbleSize val="0"/>
              <c:separator>;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675-9642-9F91-C018051595B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showLegendKey val="1"/>
            <c:showVal val="1"/>
            <c:showCatName val="1"/>
            <c:showSerName val="0"/>
            <c:showPercent val="0"/>
            <c:showBubbleSize val="0"/>
            <c:separator>;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Соцсети</c:v>
                </c:pt>
                <c:pt idx="1">
                  <c:v>Отзывы</c:v>
                </c:pt>
                <c:pt idx="2">
                  <c:v>Мессенджеры</c:v>
                </c:pt>
                <c:pt idx="3">
                  <c:v>Форумы</c:v>
                </c:pt>
                <c:pt idx="4">
                  <c:v>Блоги</c:v>
                </c:pt>
                <c:pt idx="5">
                  <c:v>Другое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162</c:v>
                </c:pt>
                <c:pt idx="1">
                  <c:v>99</c:v>
                </c:pt>
                <c:pt idx="2">
                  <c:v>84</c:v>
                </c:pt>
                <c:pt idx="3">
                  <c:v>18</c:v>
                </c:pt>
                <c:pt idx="4">
                  <c:v>12</c:v>
                </c:pt>
                <c:pt idx="5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675-9642-9F91-C018051595B8}"/>
            </c:ext>
          </c:extLst>
        </c:ser>
        <c:dLbls>
          <c:showLegendKey val="0"/>
          <c:showVal val="1"/>
          <c:showCatName val="1"/>
          <c:showSerName val="0"/>
          <c:showPercent val="1"/>
          <c:showBubbleSize val="0"/>
          <c:showLeaderLines val="1"/>
        </c:dLbls>
        <c:firstSliceAng val="274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  <a:ea typeface="Helvetica" panose="00000500000000000000" pitchFamily="50" charset="0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6885087968043578"/>
          <c:y val="4.4541189796523294E-2"/>
          <c:w val="0.54280893501849004"/>
          <c:h val="0.9208067223051937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Сообщения</c:v>
                </c:pt>
              </c:strCache>
            </c:strRef>
          </c:tx>
          <c:spPr>
            <a:solidFill>
              <a:srgbClr val="808080"/>
            </a:solidFill>
            <a:ln>
              <a:solidFill>
                <a:srgbClr val="808080"/>
              </a:solidFill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ВКонтакте</c:v>
                </c:pt>
                <c:pt idx="1">
                  <c:v>Telegram</c:v>
                </c:pt>
                <c:pt idx="2">
                  <c:v>Apteka.ru</c:v>
                </c:pt>
                <c:pt idx="3">
                  <c:v>Wildberries</c:v>
                </c:pt>
                <c:pt idx="4">
                  <c:v>Threads</c:v>
                </c:pt>
                <c:pt idx="5">
                  <c:v>Instagram</c:v>
                </c:pt>
                <c:pt idx="6">
                  <c:v>Яндекс.Маркет</c:v>
                </c:pt>
                <c:pt idx="7">
                  <c:v>Mom.Life</c:v>
                </c:pt>
                <c:pt idx="8">
                  <c:v>Дзен</c:v>
                </c:pt>
                <c:pt idx="9">
                  <c:v>YouTube</c:v>
                </c:pt>
                <c:pt idx="10">
                  <c:v>Другие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112</c:v>
                </c:pt>
                <c:pt idx="1">
                  <c:v>83</c:v>
                </c:pt>
                <c:pt idx="2">
                  <c:v>37</c:v>
                </c:pt>
                <c:pt idx="3">
                  <c:v>33</c:v>
                </c:pt>
                <c:pt idx="4">
                  <c:v>23</c:v>
                </c:pt>
                <c:pt idx="5">
                  <c:v>18</c:v>
                </c:pt>
                <c:pt idx="6">
                  <c:v>16</c:v>
                </c:pt>
                <c:pt idx="7">
                  <c:v>15</c:v>
                </c:pt>
                <c:pt idx="8">
                  <c:v>12</c:v>
                </c:pt>
                <c:pt idx="9">
                  <c:v>10</c:v>
                </c:pt>
                <c:pt idx="10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82-7342-9C59-E5538DF514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2"/>
        <c:axId val="113267072"/>
        <c:axId val="113268608"/>
      </c:barChart>
      <c:catAx>
        <c:axId val="11326707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113268608"/>
        <c:crosses val="autoZero"/>
        <c:auto val="1"/>
        <c:lblAlgn val="ctr"/>
        <c:lblOffset val="100"/>
        <c:noMultiLvlLbl val="0"/>
      </c:catAx>
      <c:valAx>
        <c:axId val="113268608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13267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0241870780616053E-2"/>
          <c:y val="0.14327132527092096"/>
          <c:w val="0.95138085446879017"/>
          <c:h val="0.649560395538594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Сообщения</c:v>
                </c:pt>
              </c:strCache>
            </c:strRef>
          </c:tx>
          <c:spPr>
            <a:solidFill>
              <a:srgbClr val="808080"/>
            </a:solidFill>
            <a:ln>
              <a:solidFill>
                <a:srgbClr val="808080"/>
              </a:solidFill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F1A9-4F90-839D-3C9503A8C90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1A9-4F90-839D-3C9503A8C90D}"/>
              </c:ext>
            </c:extLst>
          </c:dPt>
          <c:dLbls>
            <c:dLbl>
              <c:idx val="11"/>
              <c:layout>
                <c:manualLayout>
                  <c:x val="0"/>
                  <c:y val="3.017386800477068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1A9-4F90-839D-3C9503A8C90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Май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1A9-4F90-839D-3C9503A8C9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Просмотры</c:v>
                </c:pt>
              </c:strCache>
            </c:strRef>
          </c:tx>
          <c:spPr>
            <a:solidFill>
              <a:srgbClr val="13AEE2"/>
            </a:solidFill>
            <a:ln>
              <a:solidFill>
                <a:srgbClr val="13AEE2"/>
              </a:solidFill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F1A9-4F90-839D-3C9503A8C90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1A9-4F90-839D-3C9503A8C90D}"/>
              </c:ext>
            </c:extLst>
          </c:dPt>
          <c:dLbls>
            <c:dLbl>
              <c:idx val="0"/>
              <c:numFmt formatCode="#\ ###\ 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F1A9-4F90-839D-3C9503A8C90D}"/>
                </c:ext>
              </c:extLst>
            </c:dLbl>
            <c:dLbl>
              <c:idx val="11"/>
              <c:layout>
                <c:manualLayout>
                  <c:x val="0"/>
                  <c:y val="3.017386800477068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1A9-4F90-839D-3C9503A8C90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Май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4375859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1A9-4F90-839D-3C9503A8C90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07976192"/>
        <c:axId val="107977728"/>
      </c:barChart>
      <c:catAx>
        <c:axId val="10797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107977728"/>
        <c:crosses val="autoZero"/>
        <c:auto val="1"/>
        <c:lblAlgn val="ctr"/>
        <c:lblOffset val="100"/>
        <c:noMultiLvlLbl val="0"/>
      </c:catAx>
      <c:valAx>
        <c:axId val="107977728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7976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0346072901759408"/>
          <c:y val="0.90569026880877357"/>
          <c:w val="0.41681779666900592"/>
          <c:h val="9.4309731191226293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33333"/>
              </a:solidFill>
              <a:latin typeface="Arial" panose="020B0604030504040204" pitchFamily="34" charset="0"/>
              <a:ea typeface="Verdana" panose="020B0604030504040204" pitchFamily="34" charset="0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5725090188591137E-2"/>
          <c:y val="4.881138853201409E-2"/>
          <c:w val="0.92854981962281768"/>
          <c:h val="0.7099394592033576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Позитивные карточки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Старт</c:v>
                </c:pt>
                <c:pt idx="1">
                  <c:v>Май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FF-4334-AC04-CDCEDC28BA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Негативные карточки</c:v>
                </c:pt>
              </c:strCache>
            </c:strRef>
          </c:tx>
          <c:spPr>
            <a:solidFill>
              <a:srgbClr val="C00000"/>
            </a:solidFill>
            <a:ln>
              <a:solidFill>
                <a:srgbClr val="C00000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2.4408572598206064E-2"/>
                </c:manualLayout>
              </c:layout>
              <c:spPr>
                <a:solidFill>
                  <a:srgbClr val="C00000"/>
                </a:solidFill>
              </c:spPr>
              <c:txPr>
                <a:bodyPr/>
                <a:lstStyle/>
                <a:p>
                  <a:pPr algn="ctr">
                    <a:defRPr lang="ru-RU" sz="800" b="0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2FF-4334-AC04-CDCEDC28BA6F}"/>
                </c:ext>
              </c:extLst>
            </c:dLbl>
            <c:dLbl>
              <c:idx val="1"/>
              <c:layout>
                <c:manualLayout>
                  <c:x val="0"/>
                  <c:y val="2.4408572598206054E-2"/>
                </c:manualLayout>
              </c:layout>
              <c:spPr>
                <a:solidFill>
                  <a:srgbClr val="C00000"/>
                </a:solidFill>
              </c:spPr>
              <c:txPr>
                <a:bodyPr/>
                <a:lstStyle/>
                <a:p>
                  <a:pPr algn="ctr">
                    <a:defRPr lang="ru-RU" sz="800" b="0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2FF-4334-AC04-CDCEDC28BA6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 algn="ctr">
                  <a:defRPr lang="ru-RU" sz="800" b="0" i="0" u="none" strike="noStrike" kern="1200" baseline="0">
                    <a:solidFill>
                      <a:prstClr val="white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Старт</c:v>
                </c:pt>
                <c:pt idx="1">
                  <c:v>Май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2FF-4334-AC04-CDCEDC28BA6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Без отзывов</c:v>
                </c:pt>
              </c:strCache>
            </c:strRef>
          </c:tx>
          <c:spPr>
            <a:solidFill>
              <a:srgbClr val="BFBFBF"/>
            </a:solidFill>
            <a:ln>
              <a:solidFill>
                <a:srgbClr val="BFBFBF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Старт</c:v>
                </c:pt>
                <c:pt idx="1">
                  <c:v>Май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12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2FF-4334-AC04-CDCEDC28BA6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62"/>
        <c:overlap val="100"/>
        <c:axId val="113963776"/>
        <c:axId val="113965312"/>
      </c:barChart>
      <c:catAx>
        <c:axId val="11396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113965312"/>
        <c:crosses val="autoZero"/>
        <c:auto val="1"/>
        <c:lblAlgn val="ctr"/>
        <c:lblOffset val="100"/>
        <c:noMultiLvlLbl val="0"/>
      </c:catAx>
      <c:valAx>
        <c:axId val="1139653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396377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33333"/>
              </a:solidFill>
              <a:latin typeface="Arial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EDBD56-50A5-48A0-94C6-6193EF36BA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074DD-548E-4587-95B6-97B750526B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55480D-DAD6-479A-AF42-3698FE8B49F7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346053-901D-4500-AD00-F61BAD626A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64A5A6-DEBC-42D9-B72F-7535E6D45C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FB8B0-0F3E-4EC0-BE35-C4EAF2A807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3136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CBFC2-F115-4861-B510-3F99C30BA3FD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52007-8F7A-47EA-9635-D353BCBF381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677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1" name="Google Shape;9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5252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ru-R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9872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ED1E2A3B-2704-D06C-1B27-3F757058A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>
            <a:extLst>
              <a:ext uri="{FF2B5EF4-FFF2-40B4-BE49-F238E27FC236}">
                <a16:creationId xmlns:a16="http://schemas.microsoft.com/office/drawing/2014/main" id="{789847DB-814B-6EC1-F5F0-67731D50AC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3:notes">
            <a:extLst>
              <a:ext uri="{FF2B5EF4-FFF2-40B4-BE49-F238E27FC236}">
                <a16:creationId xmlns:a16="http://schemas.microsoft.com/office/drawing/2014/main" id="{0E0D68E8-522C-0C32-6DDE-508B560269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3:notes">
            <a:extLst>
              <a:ext uri="{FF2B5EF4-FFF2-40B4-BE49-F238E27FC236}">
                <a16:creationId xmlns:a16="http://schemas.microsoft.com/office/drawing/2014/main" id="{FBAE0C6D-3ACF-CB10-FD79-A70B862B9A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9990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7463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766414-1DE3-4FA8-9CFC-6A4B7D252A70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3101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702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4756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00419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D2C55-3A3F-D023-01A2-60A2F8383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C909C1C-1A49-26AC-8DA2-0D9C71102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D91220-DC7E-ADE3-E9CA-5E03B981D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76094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47858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52007-8F7A-47EA-9635-D353BCBF381D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238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459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5193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73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58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9185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129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893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03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939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2554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1272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Общие слай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889000" y="1149350"/>
            <a:ext cx="10414000" cy="2324100"/>
          </a:xfrm>
          <a:prstGeom prst="rect">
            <a:avLst/>
          </a:prstGeom>
        </p:spPr>
        <p:txBody>
          <a:bodyPr anchor="b"/>
          <a:lstStyle>
            <a:lvl1pPr algn="ctr">
              <a:defRPr/>
            </a:lvl1pPr>
          </a:lstStyle>
          <a:p>
            <a:pPr lvl="0">
              <a:defRPr sz="1800"/>
            </a:pPr>
            <a:r>
              <a:rPr sz="5600"/>
              <a:t>Текст заголовка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889000" y="3536950"/>
            <a:ext cx="10414000" cy="79375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00"/>
            </a:lvl1pPr>
            <a:lvl2pPr marL="0" indent="114300" algn="ctr">
              <a:spcBef>
                <a:spcPts val="0"/>
              </a:spcBef>
              <a:buSzTx/>
              <a:buNone/>
              <a:defRPr sz="2200"/>
            </a:lvl2pPr>
            <a:lvl3pPr marL="0" indent="228600" algn="ctr">
              <a:spcBef>
                <a:spcPts val="0"/>
              </a:spcBef>
              <a:buSzTx/>
              <a:buNone/>
              <a:defRPr sz="2200"/>
            </a:lvl3pPr>
            <a:lvl4pPr marL="0" indent="342900" algn="ctr">
              <a:spcBef>
                <a:spcPts val="0"/>
              </a:spcBef>
              <a:buSzTx/>
              <a:buNone/>
              <a:defRPr sz="2200"/>
            </a:lvl4pPr>
            <a:lvl5pPr marL="0" indent="457200" algn="ctr">
              <a:spcBef>
                <a:spcPts val="0"/>
              </a:spcBef>
              <a:buSzTx/>
              <a:buNone/>
              <a:defRPr sz="2200"/>
            </a:lvl5pPr>
          </a:lstStyle>
          <a:p>
            <a:pPr lvl="0">
              <a:defRPr sz="1800"/>
            </a:pPr>
            <a:r>
              <a:rPr sz="2200"/>
              <a:t>Уровень текста 1</a:t>
            </a:r>
          </a:p>
          <a:p>
            <a:pPr lvl="1">
              <a:defRPr sz="1800"/>
            </a:pPr>
            <a:r>
              <a:rPr sz="2200"/>
              <a:t>Уровень текста 2</a:t>
            </a:r>
          </a:p>
          <a:p>
            <a:pPr lvl="2">
              <a:defRPr sz="1800"/>
            </a:pPr>
            <a:r>
              <a:rPr sz="2200"/>
              <a:t>Уровень текста 3</a:t>
            </a:r>
          </a:p>
          <a:p>
            <a:pPr lvl="3">
              <a:defRPr sz="1800"/>
            </a:pPr>
            <a:r>
              <a:rPr sz="2200"/>
              <a:t>Уровень текста 4</a:t>
            </a:r>
          </a:p>
          <a:p>
            <a:pPr lvl="4">
              <a:defRPr sz="1800"/>
            </a:pPr>
            <a:r>
              <a:rPr sz="2200"/>
              <a:t>Уровень текста 5</a:t>
            </a:r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890820" y="61352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1">
                <a:solidFill>
                  <a:schemeClr val="tx1">
                    <a:tint val="75000"/>
                  </a:schemeClr>
                </a:solidFill>
                <a:latin typeface="FuturaFuturisC" charset="0"/>
                <a:ea typeface="FuturaFuturisC" charset="0"/>
                <a:cs typeface="FuturaFuturisC" charset="0"/>
              </a:defRPr>
            </a:lvl1pPr>
          </a:lstStyle>
          <a:p>
            <a:fld id="{EA254C3E-CE8A-5D4B-8E34-BA13DC4CD9D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095511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 блока+ заголово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430A168A-DB14-E8DE-D7B1-F6AA7523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376" y="202389"/>
            <a:ext cx="6987586" cy="6993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EB8A7B28-9628-3860-D3CE-4FDB58C7D9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8899" y="6546850"/>
            <a:ext cx="7372855" cy="2345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3C4450A6-5252-E92B-8FF2-A83F2D49F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27949" y="6546851"/>
            <a:ext cx="578327" cy="22648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en-US" sz="1000" b="0" i="0" smtClean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1A8D1895-241D-B447-8705-FB5433B5C95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04D449CC-D647-8452-6D41-82DB2C250A3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7740" y="1266030"/>
            <a:ext cx="2664518" cy="4916488"/>
          </a:xfrm>
          <a:prstGeom prst="roundRect">
            <a:avLst>
              <a:gd name="adj" fmla="val 11809"/>
            </a:avLst>
          </a:prstGeom>
          <a:solidFill>
            <a:schemeClr val="bg1"/>
          </a:solidFill>
          <a:effectLst>
            <a:outerShdw blurRad="127000" dist="25400" dir="5400000" algn="tl" rotWithShape="0">
              <a:prstClr val="black">
                <a:alpha val="20000"/>
              </a:prstClr>
            </a:outerShdw>
          </a:effectLst>
        </p:spPr>
        <p:txBody>
          <a:bodyPr lIns="182880" tIns="182880" rIns="182880" bIns="182880">
            <a:normAutofit/>
          </a:bodyPr>
          <a:lstStyle>
            <a:lvl1pPr algn="l">
              <a:defRPr sz="2800" b="1">
                <a:solidFill>
                  <a:schemeClr val="accent1"/>
                </a:solidFill>
                <a:latin typeface="+mj-lt"/>
              </a:defRPr>
            </a:lvl1pPr>
            <a:lvl2pPr algn="l">
              <a:defRPr sz="1800" b="1">
                <a:latin typeface="+mj-lt"/>
              </a:defRPr>
            </a:lvl2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E296CADC-1291-8367-4337-40A5303B8DC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27740" y="2363638"/>
            <a:ext cx="2664519" cy="3342184"/>
          </a:xfrm>
        </p:spPr>
        <p:txBody>
          <a:bodyPr lIns="274320" rIns="274320"/>
          <a:lstStyle>
            <a:lvl1pPr algn="l">
              <a:defRPr sz="1200">
                <a:solidFill>
                  <a:schemeClr val="tx1"/>
                </a:solidFill>
              </a:defRPr>
            </a:lvl1pPr>
            <a:lvl2pPr algn="l">
              <a:defRPr sz="14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2C462AB5-2CAC-3566-D49E-DC07FE120C4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7355" y="1266030"/>
            <a:ext cx="2664518" cy="4916488"/>
          </a:xfrm>
          <a:prstGeom prst="roundRect">
            <a:avLst>
              <a:gd name="adj" fmla="val 11809"/>
            </a:avLst>
          </a:prstGeom>
          <a:solidFill>
            <a:schemeClr val="bg1"/>
          </a:solidFill>
          <a:effectLst>
            <a:outerShdw blurRad="127000" dist="25400" dir="5400000" algn="tl" rotWithShape="0">
              <a:prstClr val="black">
                <a:alpha val="20000"/>
              </a:prstClr>
            </a:outerShdw>
          </a:effectLst>
        </p:spPr>
        <p:txBody>
          <a:bodyPr lIns="182880" tIns="182880" rIns="182880" bIns="182880">
            <a:normAutofit/>
          </a:bodyPr>
          <a:lstStyle>
            <a:lvl1pPr algn="l">
              <a:defRPr sz="2800" b="1">
                <a:solidFill>
                  <a:schemeClr val="accent1"/>
                </a:solidFill>
                <a:latin typeface="+mj-lt"/>
              </a:defRPr>
            </a:lvl1pPr>
            <a:lvl2pPr algn="l">
              <a:defRPr sz="1800" b="1">
                <a:latin typeface="+mj-lt"/>
              </a:defRPr>
            </a:lvl2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B955FD7-155E-BCD1-2B66-1B8575FC16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57489" y="1266030"/>
            <a:ext cx="2664518" cy="4916488"/>
          </a:xfrm>
          <a:prstGeom prst="roundRect">
            <a:avLst>
              <a:gd name="adj" fmla="val 11809"/>
            </a:avLst>
          </a:prstGeom>
          <a:solidFill>
            <a:schemeClr val="bg1"/>
          </a:solidFill>
          <a:effectLst>
            <a:outerShdw blurRad="127000" dist="25400" dir="5400000" algn="tl" rotWithShape="0">
              <a:prstClr val="black">
                <a:alpha val="20000"/>
              </a:prstClr>
            </a:outerShdw>
          </a:effectLst>
        </p:spPr>
        <p:txBody>
          <a:bodyPr lIns="182880" tIns="182880" rIns="182880" bIns="182880">
            <a:normAutofit/>
          </a:bodyPr>
          <a:lstStyle>
            <a:lvl1pPr algn="l">
              <a:defRPr sz="2800" b="1">
                <a:solidFill>
                  <a:schemeClr val="accent1"/>
                </a:solidFill>
                <a:latin typeface="+mj-lt"/>
              </a:defRPr>
            </a:lvl1pPr>
            <a:lvl2pPr algn="l">
              <a:defRPr sz="1800" b="1">
                <a:latin typeface="+mj-lt"/>
              </a:defRPr>
            </a:lvl2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993E13B-BE7A-790B-7AFC-D1BDFA3304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00314" y="1266030"/>
            <a:ext cx="2664518" cy="4916488"/>
          </a:xfrm>
          <a:prstGeom prst="roundRect">
            <a:avLst>
              <a:gd name="adj" fmla="val 11809"/>
            </a:avLst>
          </a:prstGeom>
          <a:solidFill>
            <a:schemeClr val="bg1"/>
          </a:solidFill>
          <a:effectLst>
            <a:outerShdw blurRad="127000" dist="25400" dir="5400000" algn="tl" rotWithShape="0">
              <a:prstClr val="black">
                <a:alpha val="20000"/>
              </a:prstClr>
            </a:outerShdw>
          </a:effectLst>
        </p:spPr>
        <p:txBody>
          <a:bodyPr lIns="182880" tIns="182880" rIns="182880" bIns="182880">
            <a:normAutofit/>
          </a:bodyPr>
          <a:lstStyle>
            <a:lvl1pPr algn="l">
              <a:defRPr sz="2800" b="1">
                <a:solidFill>
                  <a:schemeClr val="accent1"/>
                </a:solidFill>
                <a:latin typeface="+mj-lt"/>
              </a:defRPr>
            </a:lvl1pPr>
            <a:lvl2pPr algn="l">
              <a:defRPr sz="1800" b="1">
                <a:latin typeface="+mj-lt"/>
              </a:defRPr>
            </a:lvl2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7F398C78-25D8-A595-294E-839F9A16957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5377" y="2363638"/>
            <a:ext cx="2664519" cy="3342184"/>
          </a:xfrm>
        </p:spPr>
        <p:txBody>
          <a:bodyPr lIns="274320" rIns="274320"/>
          <a:lstStyle>
            <a:lvl1pPr algn="l">
              <a:defRPr sz="1200">
                <a:solidFill>
                  <a:schemeClr val="tx1"/>
                </a:solidFill>
              </a:defRPr>
            </a:lvl1pPr>
            <a:lvl2pPr algn="l">
              <a:defRPr sz="14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EF0477CC-9EE7-F55E-7FD0-F80A8380411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57951" y="2363638"/>
            <a:ext cx="2664519" cy="3342184"/>
          </a:xfrm>
        </p:spPr>
        <p:txBody>
          <a:bodyPr lIns="274320" rIns="274320"/>
          <a:lstStyle>
            <a:lvl1pPr algn="l">
              <a:defRPr sz="1200">
                <a:solidFill>
                  <a:schemeClr val="tx1"/>
                </a:solidFill>
              </a:defRPr>
            </a:lvl1pPr>
            <a:lvl2pPr algn="l">
              <a:defRPr sz="14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4B24CB46-25A0-C580-8C22-B86E547E88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00314" y="2363638"/>
            <a:ext cx="2664519" cy="3342184"/>
          </a:xfrm>
        </p:spPr>
        <p:txBody>
          <a:bodyPr lIns="274320" rIns="274320"/>
          <a:lstStyle>
            <a:lvl1pPr algn="l">
              <a:defRPr sz="1200">
                <a:solidFill>
                  <a:schemeClr val="tx1"/>
                </a:solidFill>
              </a:defRPr>
            </a:lvl1pPr>
            <a:lvl2pPr algn="l">
              <a:defRPr sz="1400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10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4771F-E448-7642-B056-F6FC95D4A473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993B7-AC46-634C-A4AB-B7AD15A210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3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vk.com/club168460699" TargetMode="External"/><Relationship Id="rId13" Type="http://schemas.openxmlformats.org/officeDocument/2006/relationships/hyperlink" Target="http://vk.com/club210917927" TargetMode="External"/><Relationship Id="rId3" Type="http://schemas.openxmlformats.org/officeDocument/2006/relationships/chart" Target="../charts/chart8.xml"/><Relationship Id="rId7" Type="http://schemas.openxmlformats.org/officeDocument/2006/relationships/hyperlink" Target="http://vk.com/club217589574" TargetMode="External"/><Relationship Id="rId12" Type="http://schemas.openxmlformats.org/officeDocument/2006/relationships/hyperlink" Target="http://vk.com/club116306720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telegram.me/capikyschat" TargetMode="External"/><Relationship Id="rId11" Type="http://schemas.openxmlformats.org/officeDocument/2006/relationships/hyperlink" Target="http://vk.com/club186247858" TargetMode="External"/><Relationship Id="rId5" Type="http://schemas.openxmlformats.org/officeDocument/2006/relationships/hyperlink" Target="https://telegram.me/pharmacysearch" TargetMode="External"/><Relationship Id="rId10" Type="http://schemas.openxmlformats.org/officeDocument/2006/relationships/hyperlink" Target="http://vk.com/club229936460" TargetMode="External"/><Relationship Id="rId4" Type="http://schemas.openxmlformats.org/officeDocument/2006/relationships/chart" Target="../charts/chart9.xml"/><Relationship Id="rId9" Type="http://schemas.openxmlformats.org/officeDocument/2006/relationships/hyperlink" Target="http://vk.com/club185590164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oman.ru/forum/GoToMessage/?id=104134456" TargetMode="External"/><Relationship Id="rId3" Type="http://schemas.openxmlformats.org/officeDocument/2006/relationships/hyperlink" Target="https://www.youtube.com/watch?v=JVQt7gfRhxk&amp;lc=UgylZGBJf8RLLB5_yYB4AaABAg" TargetMode="External"/><Relationship Id="rId7" Type="http://schemas.openxmlformats.org/officeDocument/2006/relationships/hyperlink" Target="https://dzen.ru/a/YRSouQS4HR5IkltG?share_to=link#comment_3319340551&amp;comments_data=n_new" TargetMode="External"/><Relationship Id="rId12" Type="http://schemas.openxmlformats.org/officeDocument/2006/relationships/chart" Target="../charts/chart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t.me/picnicelena/15941?comment=595507" TargetMode="External"/><Relationship Id="rId11" Type="http://schemas.openxmlformats.org/officeDocument/2006/relationships/hyperlink" Target="https://medum.ru/r24143" TargetMode="External"/><Relationship Id="rId5" Type="http://schemas.openxmlformats.org/officeDocument/2006/relationships/hyperlink" Target="https://uteka.ru/product/baktoblis-plyus-379794/" TargetMode="External"/><Relationship Id="rId10" Type="http://schemas.openxmlformats.org/officeDocument/2006/relationships/hyperlink" Target="https://megapteka.ru/shhelkovo/catalog/zabolevaniya-ushej-59/baktoblis-poroshok-1500mg-4561302" TargetMode="External"/><Relationship Id="rId4" Type="http://schemas.openxmlformats.org/officeDocument/2006/relationships/hyperlink" Target="https://vk.com/wall-79251232_1289548?reply=1289863" TargetMode="External"/><Relationship Id="rId9" Type="http://schemas.openxmlformats.org/officeDocument/2006/relationships/hyperlink" Target="https://mom.life/post/6a18ab52c84cdc1a6909102f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352585" y="2415201"/>
            <a:ext cx="10921343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sz="3600" b="1" dirty="0">
                <a:solidFill>
                  <a:srgbClr val="000000"/>
                </a:solidFill>
                <a:latin typeface="Arial"/>
              </a:rPr>
              <a:t>ИНФОРМАЦИОННАЯ КАМПАНИЯ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3600" b="1" dirty="0">
                <a:solidFill>
                  <a:srgbClr val="00AEEF"/>
                </a:solidFill>
                <a:latin typeface="Arial"/>
              </a:rPr>
              <a:t>БАКТОБЛИС</a:t>
            </a:r>
            <a:r>
              <a:rPr sz="3600" b="1" baseline="30000" dirty="0">
                <a:solidFill>
                  <a:srgbClr val="00AEEF"/>
                </a:solidFill>
                <a:latin typeface="Arial"/>
              </a:rPr>
              <a:t>®</a:t>
            </a:r>
          </a:p>
        </p:txBody>
      </p:sp>
      <p:sp>
        <p:nvSpPr>
          <p:cNvPr id="95" name="Google Shape;95;p1"/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352585" y="4271773"/>
            <a:ext cx="30965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800" b="0" dirty="0">
                <a:solidFill>
                  <a:srgbClr val="000000"/>
                </a:solidFill>
                <a:latin typeface="Arial"/>
              </a:rPr>
              <a:t>Май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0F1A12A-D594-4767-BC89-4BCB0B6B589B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7CF953E-506C-CE41-BE25-F8D774BD46A7}"/>
              </a:ext>
            </a:extLst>
          </p:cNvPr>
          <p:cNvSpPr txBox="1">
            <a:spLocks/>
          </p:cNvSpPr>
          <p:nvPr/>
        </p:nvSpPr>
        <p:spPr>
          <a:xfrm>
            <a:off x="361950" y="651287"/>
            <a:ext cx="11447977" cy="662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kumimoji="0" lang="ru-RU" sz="2800" b="0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ТЕКУЩИЙ ОТЧЕТ ОБ ИНФОРМАЦИОННОЙ КАМПАНИИ</a:t>
            </a:r>
            <a:endParaRPr kumimoji="0" lang="ru-RU" sz="2600" b="0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Shape 219">
            <a:extLst>
              <a:ext uri="{FF2B5EF4-FFF2-40B4-BE49-F238E27FC236}">
                <a16:creationId xmlns:a16="http://schemas.microsoft.com/office/drawing/2014/main" id="{3769E816-E8D2-7345-842B-F34273750EB8}"/>
              </a:ext>
            </a:extLst>
          </p:cNvPr>
          <p:cNvSpPr/>
          <p:nvPr/>
        </p:nvSpPr>
        <p:spPr>
          <a:xfrm>
            <a:off x="450909" y="1203677"/>
            <a:ext cx="7427169" cy="26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 defTabSz="457200">
              <a:defRPr sz="2400" b="1">
                <a:solidFill>
                  <a:srgbClr val="686E7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ПЕРИОД: 01–31 МАЯ 2026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1AA255D-1A3F-C4FE-CC35-BF66DC0A1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392999"/>
              </p:ext>
            </p:extLst>
          </p:nvPr>
        </p:nvGraphicFramePr>
        <p:xfrm>
          <a:off x="4164493" y="2045366"/>
          <a:ext cx="5957572" cy="3030082"/>
        </p:xfrm>
        <a:graphic>
          <a:graphicData uri="http://schemas.openxmlformats.org/drawingml/2006/table">
            <a:tbl>
              <a:tblPr/>
              <a:tblGrid>
                <a:gridCol w="3955478">
                  <a:extLst>
                    <a:ext uri="{9D8B030D-6E8A-4147-A177-3AD203B41FA5}">
                      <a16:colId xmlns:a16="http://schemas.microsoft.com/office/drawing/2014/main" val="321723194"/>
                    </a:ext>
                  </a:extLst>
                </a:gridCol>
                <a:gridCol w="1001047">
                  <a:extLst>
                    <a:ext uri="{9D8B030D-6E8A-4147-A177-3AD203B41FA5}">
                      <a16:colId xmlns:a16="http://schemas.microsoft.com/office/drawing/2014/main" val="846863477"/>
                    </a:ext>
                  </a:extLst>
                </a:gridCol>
                <a:gridCol w="1001047">
                  <a:extLst>
                    <a:ext uri="{9D8B030D-6E8A-4147-A177-3AD203B41FA5}">
                      <a16:colId xmlns:a16="http://schemas.microsoft.com/office/drawing/2014/main" val="673345034"/>
                    </a:ext>
                  </a:extLst>
                </a:gridCol>
              </a:tblGrid>
              <a:tr h="322172">
                <a:tc>
                  <a:txBody>
                    <a:bodyPr/>
                    <a:lstStyle/>
                    <a:p>
                      <a:pPr algn="l"/>
                      <a:r>
                        <a:rPr sz="1100" b="1" dirty="0"/>
                        <a:t>Публикации в соцмедиа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Май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Всего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22458"/>
                  </a:ext>
                </a:extLst>
              </a:tr>
              <a:tr h="541582">
                <a:tc>
                  <a:txBody>
                    <a:bodyPr/>
                    <a:lstStyle/>
                    <a:p>
                      <a:pPr algn="l"/>
                      <a:r>
                        <a:rPr sz="1100" b="0" dirty="0"/>
                        <a:t>Отзывы (отзовики, аптеки) на топ-площадках без покупки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/>
                        <a:t>8</a:t>
                      </a:r>
                      <a:endParaRPr sz="1100" b="0" dirty="0"/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/>
                        <a:t>8</a:t>
                      </a:r>
                      <a:endParaRPr sz="1100" b="1" dirty="0"/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120335"/>
                  </a:ext>
                </a:extLst>
              </a:tr>
              <a:tr h="541582">
                <a:tc>
                  <a:txBody>
                    <a:bodyPr/>
                    <a:lstStyle/>
                    <a:p>
                      <a:pPr algn="l"/>
                      <a:r>
                        <a:rPr sz="1100" b="0" dirty="0"/>
                        <a:t>Отзывы с покупкой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0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0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582">
                <a:tc>
                  <a:txBody>
                    <a:bodyPr/>
                    <a:lstStyle/>
                    <a:p>
                      <a:pPr algn="l"/>
                      <a:r>
                        <a:rPr sz="1100" b="0" dirty="0"/>
                        <a:t>Комментарии на площадках в топ-20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20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20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296623"/>
                  </a:ext>
                </a:extLst>
              </a:tr>
              <a:tr h="541582"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/>
                        <a:t>Реагирование в открытых обсуждениях</a:t>
                      </a:r>
                      <a:endParaRPr sz="1100" b="0" dirty="0"/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/>
                        <a:t>42</a:t>
                      </a:r>
                      <a:endParaRPr sz="1100" b="0" dirty="0"/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/>
                        <a:t>42</a:t>
                      </a:r>
                      <a:endParaRPr sz="1100" b="1" dirty="0"/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25673"/>
                  </a:ext>
                </a:extLst>
              </a:tr>
              <a:tr h="541582">
                <a:tc>
                  <a:txBody>
                    <a:bodyPr/>
                    <a:lstStyle/>
                    <a:p>
                      <a:pPr algn="l"/>
                      <a:r>
                        <a:rPr sz="1100" b="0" dirty="0"/>
                        <a:t>Мониторинг и реагирование, PPT-отчет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1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1</a:t>
                      </a:r>
                      <a:endParaRPr sz="1100" b="1" dirty="0"/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" name="Picture 2">
            <a:extLst>
              <a:ext uri="{FF2B5EF4-FFF2-40B4-BE49-F238E27FC236}">
                <a16:creationId xmlns:a16="http://schemas.microsoft.com/office/drawing/2014/main" id="{E4E81A90-8A0B-1A2B-F2F5-50B24442B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909" y="3073960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871293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1078992"/>
            <a:ext cx="12192000" cy="5230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B8365692-55B6-F90B-2C79-9FE33B743EF7}"/>
              </a:ext>
            </a:extLst>
          </p:cNvPr>
          <p:cNvSpPr txBox="1">
            <a:spLocks/>
          </p:cNvSpPr>
          <p:nvPr/>
        </p:nvSpPr>
        <p:spPr>
          <a:xfrm>
            <a:off x="361950" y="1370267"/>
            <a:ext cx="10259568" cy="135331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 defTabSz="609585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Century Gothic" panose="020B0502020202020204" pitchFamily="34" charset="0"/>
                <a:cs typeface="Century Gothic" panose="020B0502020202020204" pitchFamily="34" charset="0"/>
              </a:defRPr>
            </a:lvl1pPr>
            <a:lvl2pPr marL="609585" indent="0" algn="l" defTabSz="609585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+mn-lt"/>
                <a:ea typeface="Century Gothic" panose="020B0502020202020204" pitchFamily="34" charset="0"/>
                <a:cs typeface="Century Gothic" panose="020B0502020202020204" pitchFamily="34" charset="0"/>
              </a:defRPr>
            </a:lvl2pPr>
            <a:lvl3pPr marL="1219170" indent="0" algn="l" defTabSz="609585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None/>
              <a:defRPr sz="1100" kern="1200">
                <a:solidFill>
                  <a:schemeClr val="tx1"/>
                </a:solidFill>
                <a:latin typeface="+mn-lt"/>
                <a:ea typeface="Century Gothic" panose="020B0502020202020204" pitchFamily="34" charset="0"/>
                <a:cs typeface="Century Gothic" panose="020B0502020202020204" pitchFamily="34" charset="0"/>
              </a:defRPr>
            </a:lvl3pPr>
            <a:lvl4pPr marL="1828755" indent="0" algn="l" defTabSz="609585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None/>
              <a:defRPr sz="1050" kern="1200">
                <a:solidFill>
                  <a:schemeClr val="tx1"/>
                </a:solidFill>
                <a:latin typeface="+mn-lt"/>
                <a:ea typeface="Century Gothic" panose="020B0502020202020204" pitchFamily="34" charset="0"/>
                <a:cs typeface="Century Gothic" panose="020B0502020202020204" pitchFamily="34" charset="0"/>
              </a:defRPr>
            </a:lvl4pPr>
            <a:lvl5pPr marL="2438339" indent="0" algn="l" defTabSz="609585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None/>
              <a:defRPr sz="1050" kern="1200">
                <a:solidFill>
                  <a:schemeClr val="tx1"/>
                </a:solidFill>
                <a:latin typeface="+mn-lt"/>
                <a:ea typeface="Century Gothic" panose="020B0502020202020204" pitchFamily="34" charset="0"/>
                <a:cs typeface="Century Gothic" panose="020B0502020202020204" pitchFamily="34" charset="0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Aft>
                <a:spcPts val="35"/>
              </a:spcAft>
              <a:buClrTx/>
            </a:pPr>
            <a:r>
              <a:rPr lang="ru-RU" sz="1100" b="1" dirty="0">
                <a:solidFill>
                  <a:srgbClr val="000000"/>
                </a:solidFill>
                <a:latin typeface="Arial"/>
              </a:rPr>
              <a:t>Категория оральных пробиотиков обсуждается умеренно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, в мае бренды суммарно получили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389 упоминаний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35"/>
              </a:spcAft>
              <a:buClrTx/>
            </a:pPr>
            <a:endParaRPr lang="ru-RU" sz="110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5"/>
              </a:spcAft>
              <a:buClrTx/>
            </a:pPr>
            <a:r>
              <a:rPr lang="ru-RU" sz="1100" b="1" dirty="0">
                <a:solidFill>
                  <a:srgbClr val="000000"/>
                </a:solidFill>
                <a:latin typeface="Arial"/>
              </a:rPr>
              <a:t>Бактоблис учетом проведения кампании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 занял 2-е место по объему упоминаний: 108 сообщений и SOV 27,8%. Из них 70 сообщений относятся к кампании, 78 сообщений – органическая часть.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Имудон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 лидирует в категории: 180 сообщений и SOV 46,3%, разрыв с Бактоблисом составляет около 1,7×.</a:t>
            </a:r>
          </a:p>
          <a:p>
            <a:pPr algn="l">
              <a:lnSpc>
                <a:spcPct val="100000"/>
              </a:lnSpc>
              <a:spcAft>
                <a:spcPts val="35"/>
              </a:spcAft>
              <a:buClrTx/>
            </a:pPr>
            <a:endParaRPr lang="ru-RU" sz="1100" b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5"/>
              </a:spcAft>
              <a:buClrTx/>
            </a:pPr>
            <a:r>
              <a:rPr lang="ru-RU" sz="1100" b="1" dirty="0">
                <a:solidFill>
                  <a:srgbClr val="000000"/>
                </a:solidFill>
                <a:latin typeface="Arial"/>
              </a:rPr>
              <a:t>Бактоблис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 входит в верхнюю группу по охвату: OTS бренда составил 4 571 250, уступает только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Имудону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 с OTS 5 946 019. Благодаря проведению кампании в мае мы заняли прочную позицию в инфополе оральных пробиотиков и значительно опередили конкурентов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Отофаг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 и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Исмиген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519DAD-6FCD-04DB-0CC0-F3BEFDE7B633}"/>
              </a:ext>
            </a:extLst>
          </p:cNvPr>
          <p:cNvSpPr txBox="1"/>
          <p:nvPr/>
        </p:nvSpPr>
        <p:spPr>
          <a:xfrm>
            <a:off x="2287371" y="3182112"/>
            <a:ext cx="3637941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sz="1000" b="1" dirty="0">
                <a:solidFill>
                  <a:srgbClr val="000000"/>
                </a:solidFill>
                <a:latin typeface="Arial"/>
              </a:rPr>
              <a:t>Сообщения о брендах, 1–31 мая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46A4DA-06C5-7630-E929-874875DC3488}"/>
              </a:ext>
            </a:extLst>
          </p:cNvPr>
          <p:cNvSpPr txBox="1"/>
          <p:nvPr/>
        </p:nvSpPr>
        <p:spPr>
          <a:xfrm>
            <a:off x="7302032" y="3182112"/>
            <a:ext cx="3524464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sz="1000" b="1" dirty="0">
                <a:solidFill>
                  <a:srgbClr val="000000"/>
                </a:solidFill>
                <a:latin typeface="Arial"/>
              </a:rPr>
              <a:t>Аудитория сообщений OTS, 1–31 мая 2026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64A9D71-5C60-B765-15C8-CB11681AE841}"/>
              </a:ext>
            </a:extLst>
          </p:cNvPr>
          <p:cNvSpPr/>
          <p:nvPr/>
        </p:nvSpPr>
        <p:spPr>
          <a:xfrm>
            <a:off x="420624" y="6181344"/>
            <a:ext cx="10789920" cy="29260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Arial"/>
              </a:rPr>
              <a:t>Источник: Brand Analytics, 1–31 мая 2026 года. Исключен спам и нерелевантные упоминания.</a:t>
            </a: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9787F407-AF40-295E-B317-D1C11BD99F2A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1125812F-D53F-6AFC-8DAA-7A5DA4DAE325}"/>
              </a:ext>
            </a:extLst>
          </p:cNvPr>
          <p:cNvSpPr txBox="1">
            <a:spLocks/>
          </p:cNvSpPr>
          <p:nvPr/>
        </p:nvSpPr>
        <p:spPr>
          <a:xfrm>
            <a:off x="361950" y="651287"/>
            <a:ext cx="9105900" cy="58061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cap="none" dirty="0">
                <a:solidFill>
                  <a:schemeClr val="dk1"/>
                </a:solidFill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ИНФОПОЛЕ КАТЕГОРИИ В </a:t>
            </a:r>
            <a:r>
              <a:rPr lang="ru-RU" sz="2800" dirty="0">
                <a:solidFill>
                  <a:schemeClr val="dk1"/>
                </a:solidFill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МАЕ</a:t>
            </a:r>
            <a:endParaRPr lang="ru-RU" sz="2600" b="0" i="0" u="none" strike="noStrike" cap="none" dirty="0">
              <a:solidFill>
                <a:schemeClr val="dk1"/>
              </a:solidFill>
              <a:latin typeface="+mn-lt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aphicFrame>
        <p:nvGraphicFramePr>
          <p:cNvPr id="15" name="Char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767958"/>
              </p:ext>
            </p:extLst>
          </p:nvPr>
        </p:nvGraphicFramePr>
        <p:xfrm>
          <a:off x="941832" y="3401568"/>
          <a:ext cx="4983480" cy="2267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996274"/>
              </p:ext>
            </p:extLst>
          </p:nvPr>
        </p:nvGraphicFramePr>
        <p:xfrm>
          <a:off x="5998464" y="3401568"/>
          <a:ext cx="4828032" cy="2267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87586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FD2C4CC2-AED2-A5C3-F58D-148C83093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A092DD3-786B-112C-C3F8-19D4C2BEA6B4}"/>
              </a:ext>
            </a:extLst>
          </p:cNvPr>
          <p:cNvSpPr txBox="1">
            <a:spLocks/>
          </p:cNvSpPr>
          <p:nvPr/>
        </p:nvSpPr>
        <p:spPr>
          <a:xfrm>
            <a:off x="534037" y="278915"/>
            <a:ext cx="11123926" cy="1135508"/>
          </a:xfrm>
          <a:prstGeom prst="rect">
            <a:avLst/>
          </a:prstGeom>
        </p:spPr>
        <p:txBody>
          <a:bodyPr vert="horz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0CCDBC0-99B9-2AB2-3316-F3D5FEF1EBDF}"/>
              </a:ext>
            </a:extLst>
          </p:cNvPr>
          <p:cNvSpPr/>
          <p:nvPr/>
        </p:nvSpPr>
        <p:spPr>
          <a:xfrm>
            <a:off x="424661" y="6250065"/>
            <a:ext cx="10926962" cy="2308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dirty="0">
                <a:solidFill>
                  <a:srgbClr val="000000"/>
                </a:solidFill>
                <a:latin typeface="Arial"/>
              </a:rPr>
              <a:t>Источник: Brand Analytics, 1–31 мая 2026 года. Исключен спам и нерелевантные упоминания.</a:t>
            </a:r>
          </a:p>
        </p:txBody>
      </p:sp>
      <p:sp>
        <p:nvSpPr>
          <p:cNvPr id="10" name="Rectangle 15">
            <a:extLst>
              <a:ext uri="{FF2B5EF4-FFF2-40B4-BE49-F238E27FC236}">
                <a16:creationId xmlns:a16="http://schemas.microsoft.com/office/drawing/2014/main" id="{3304D76B-686F-B87D-C405-39800070E45C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D8B8623-2371-D6AE-FF23-7FE9DE5C3494}"/>
              </a:ext>
            </a:extLst>
          </p:cNvPr>
          <p:cNvSpPr txBox="1">
            <a:spLocks/>
          </p:cNvSpPr>
          <p:nvPr/>
        </p:nvSpPr>
        <p:spPr>
          <a:xfrm>
            <a:off x="424662" y="434148"/>
            <a:ext cx="11233302" cy="819216"/>
          </a:xfrm>
          <a:prstGeom prst="rect">
            <a:avLst/>
          </a:prstGeom>
        </p:spPr>
        <p:txBody>
          <a:bodyPr vert="horz" lIns="91440" tIns="45721" rIns="91440" bIns="45721" rtlCol="0" anchor="t">
            <a:normAutofit/>
          </a:bodyPr>
          <a:lstStyle/>
          <a:p>
            <a:endParaRPr lang="ru-RU" sz="2800" dirty="0"/>
          </a:p>
        </p:txBody>
      </p:sp>
      <p:sp>
        <p:nvSpPr>
          <p:cNvPr id="13" name="Любой проект мы начинаем с исследований и аналитики…">
            <a:extLst>
              <a:ext uri="{FF2B5EF4-FFF2-40B4-BE49-F238E27FC236}">
                <a16:creationId xmlns:a16="http://schemas.microsoft.com/office/drawing/2014/main" id="{893BACA0-6825-6AB3-D3C3-DC93F46C5703}"/>
              </a:ext>
            </a:extLst>
          </p:cNvPr>
          <p:cNvSpPr txBox="1"/>
          <p:nvPr/>
        </p:nvSpPr>
        <p:spPr>
          <a:xfrm>
            <a:off x="6689982" y="3603440"/>
            <a:ext cx="4661641" cy="1790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t">
            <a:spAutoFit/>
          </a:bodyPr>
          <a:lstStyle/>
          <a:p>
            <a:pPr marL="169329" indent="-169329" algn="l" defTabSz="609585">
              <a:lnSpc>
                <a:spcPct val="100000"/>
              </a:lnSpc>
              <a:spcBef>
                <a:spcPts val="800"/>
              </a:spcBef>
              <a:spcAft>
                <a:spcPts val="1100"/>
              </a:spcAft>
              <a:defRPr sz="1100">
                <a:solidFill>
                  <a:srgbClr val="1A1A1A"/>
                </a:solidFill>
              </a:defRPr>
            </a:pPr>
            <a:r>
              <a:rPr sz="1100" b="0" dirty="0">
                <a:solidFill>
                  <a:srgbClr val="01A2FF"/>
                </a:solidFill>
                <a:latin typeface="Arial"/>
              </a:rPr>
              <a:t>■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Носоглотка, аденоиды и ЛОР-осложнения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100" b="0" dirty="0">
                <a:solidFill>
                  <a:srgbClr val="01A2FF"/>
                </a:solidFill>
                <a:latin typeface="Arial"/>
              </a:rPr>
              <a:t>■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Боль в горле, першение и температура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100" b="0" dirty="0">
                <a:solidFill>
                  <a:srgbClr val="01A2FF"/>
                </a:solidFill>
                <a:latin typeface="Arial"/>
              </a:rPr>
              <a:t>■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Детские ЛОР-обращения и аденоиды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100" b="0" dirty="0">
                <a:solidFill>
                  <a:srgbClr val="01A2FF"/>
                </a:solidFill>
                <a:latin typeface="Arial"/>
              </a:rPr>
              <a:t>■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Ларингит, ангина и тонзиллит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dirty="0">
                <a:solidFill>
                  <a:srgbClr val="01A2FF"/>
                </a:solidFill>
                <a:latin typeface="Arial"/>
              </a:rPr>
              <a:t>■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Консультация врача и выбор лечения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4260C1-11CC-6E69-3E67-4D3D0FBFC425}"/>
              </a:ext>
            </a:extLst>
          </p:cNvPr>
          <p:cNvSpPr txBox="1"/>
          <p:nvPr/>
        </p:nvSpPr>
        <p:spPr>
          <a:xfrm>
            <a:off x="6689982" y="2879048"/>
            <a:ext cx="4255725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Arial"/>
              </a:rPr>
              <a:t>Контексты обсуждений брендов категории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48E161-41DD-B19F-68D5-9CB6EB0EF671}"/>
              </a:ext>
            </a:extLst>
          </p:cNvPr>
          <p:cNvSpPr txBox="1"/>
          <p:nvPr/>
        </p:nvSpPr>
        <p:spPr>
          <a:xfrm>
            <a:off x="361950" y="1269766"/>
            <a:ext cx="11399731" cy="1051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00" b="0" dirty="0">
                <a:solidFill>
                  <a:srgbClr val="000000"/>
                </a:solidFill>
                <a:latin typeface="Arial"/>
              </a:rPr>
              <a:t>Темы ЛОР-заболеваний, 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проблем с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голос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ом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и горл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ом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активно обсуждаются: в мае найдено 4 320 сообщений. 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lang="ru-RU" sz="1100" dirty="0">
                <a:solidFill>
                  <a:srgbClr val="000000"/>
                </a:solidFill>
                <a:latin typeface="Arial"/>
              </a:rPr>
              <a:t>В рамках кампании мы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выходи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м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в обсуждения, где люди уже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 ищут подходящую проблему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.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В сообщениях связыва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ем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 бренд с проблемой, моментом выбора и понятным курсом приема.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ru-RU" sz="1100" b="0" dirty="0">
                <a:solidFill>
                  <a:srgbClr val="000000"/>
                </a:solidFill>
                <a:latin typeface="Arial"/>
              </a:rPr>
              <a:t>П</a:t>
            </a:r>
            <a:r>
              <a:rPr lang="ru-RU" sz="1100" dirty="0"/>
              <a:t>отенциал инфополя позволяет охватывать большую аудиторию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. 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Наиболее сильные точки входа для дальнейшего роста — ушная боль и отит, боль и першение в горле, ангина с температурой. Их стоит совмещать с профилактикой ЛОР-инфекций, местным иммунитетом и простым объяснением, когда продукт уместен.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8C9DA084-BD5D-73E2-0EDC-7BC2352797DA}"/>
              </a:ext>
            </a:extLst>
          </p:cNvPr>
          <p:cNvSpPr txBox="1">
            <a:spLocks/>
          </p:cNvSpPr>
          <p:nvPr/>
        </p:nvSpPr>
        <p:spPr>
          <a:xfrm>
            <a:off x="361950" y="607745"/>
            <a:ext cx="9105900" cy="58061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dirty="0">
                <a:solidFill>
                  <a:srgbClr val="000000"/>
                </a:solidFill>
                <a:latin typeface="Arial"/>
              </a:rPr>
              <a:t>ИНФОПОЛЕ ОБСУЖДЕНИЙ ПРОБЛЕМЫ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563" y="2539704"/>
            <a:ext cx="539014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Arial"/>
              </a:rPr>
              <a:t>Количество упоминаний тематик в месяц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575456"/>
              </p:ext>
            </p:extLst>
          </p:nvPr>
        </p:nvGraphicFramePr>
        <p:xfrm>
          <a:off x="372563" y="2814024"/>
          <a:ext cx="5390148" cy="3286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06591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5">
            <a:extLst>
              <a:ext uri="{FF2B5EF4-FFF2-40B4-BE49-F238E27FC236}">
                <a16:creationId xmlns:a16="http://schemas.microsoft.com/office/drawing/2014/main" id="{9E31763E-6BB3-FC46-AC03-4CFC5DEE42FD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graphicFrame>
        <p:nvGraphicFramePr>
          <p:cNvPr id="20" name="Char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085024"/>
              </p:ext>
            </p:extLst>
          </p:nvPr>
        </p:nvGraphicFramePr>
        <p:xfrm>
          <a:off x="1097043" y="3421750"/>
          <a:ext cx="2784991" cy="2760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Rectangle 21"/>
          <p:cNvSpPr/>
          <p:nvPr/>
        </p:nvSpPr>
        <p:spPr>
          <a:xfrm>
            <a:off x="3930481" y="4527058"/>
            <a:ext cx="78740" cy="7874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4049861" y="4495308"/>
            <a:ext cx="444500" cy="4394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Имудон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180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46,3%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1082" y="5514503"/>
            <a:ext cx="78740" cy="78740"/>
          </a:xfrm>
          <a:prstGeom prst="rect">
            <a:avLst/>
          </a:prstGeom>
          <a:solidFill>
            <a:srgbClr val="1F9BEA"/>
          </a:solidFill>
          <a:ln>
            <a:solidFill>
              <a:srgbClr val="1F9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880462" y="5482753"/>
            <a:ext cx="654050" cy="4394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Arial"/>
              </a:rPr>
              <a:t>Бактоблис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108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27,8%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2423" y="4148704"/>
            <a:ext cx="78740" cy="78740"/>
          </a:xfrm>
          <a:prstGeom prst="rect">
            <a:avLst/>
          </a:prstGeom>
          <a:solidFill>
            <a:srgbClr val="8EA9DB"/>
          </a:solidFill>
          <a:ln>
            <a:solidFill>
              <a:srgbClr val="8EA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861803" y="4116954"/>
            <a:ext cx="444500" cy="4394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Отофаг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68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17,5%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21737" y="3083774"/>
            <a:ext cx="78740" cy="78740"/>
          </a:xfrm>
          <a:prstGeom prst="rect">
            <a:avLst/>
          </a:prstGeom>
          <a:solidFill>
            <a:srgbClr val="F4C7A3"/>
          </a:solidFill>
          <a:ln>
            <a:solidFill>
              <a:srgbClr val="F4C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1850447" y="3052024"/>
            <a:ext cx="504946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"/>
              </a:rPr>
              <a:t>Исмиген</a:t>
            </a:r>
            <a:endParaRPr sz="1000" b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33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8,5%</a:t>
            </a:r>
          </a:p>
        </p:txBody>
      </p:sp>
      <p:graphicFrame>
        <p:nvGraphicFramePr>
          <p:cNvPr id="33" name="Chart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474221"/>
              </p:ext>
            </p:extLst>
          </p:nvPr>
        </p:nvGraphicFramePr>
        <p:xfrm>
          <a:off x="4989276" y="3101503"/>
          <a:ext cx="6936672" cy="3054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6" name="Группа 5"/>
          <p:cNvGrpSpPr/>
          <p:nvPr/>
        </p:nvGrpSpPr>
        <p:grpSpPr>
          <a:xfrm>
            <a:off x="7213543" y="3821486"/>
            <a:ext cx="770260" cy="406683"/>
            <a:chOff x="10132482" y="3787315"/>
            <a:chExt cx="770260" cy="527993"/>
          </a:xfrm>
        </p:grpSpPr>
        <p:sp>
          <p:nvSpPr>
            <p:cNvPr id="12" name="Облачко с текстом: прямоугольное 4">
              <a:extLst>
                <a:ext uri="{FF2B5EF4-FFF2-40B4-BE49-F238E27FC236}">
                  <a16:creationId xmlns:a16="http://schemas.microsoft.com/office/drawing/2014/main" id="{6399189F-E8A7-1AEF-F754-CD30D87361E0}"/>
                </a:ext>
              </a:extLst>
            </p:cNvPr>
            <p:cNvSpPr/>
            <p:nvPr/>
          </p:nvSpPr>
          <p:spPr>
            <a:xfrm>
              <a:off x="10132482" y="3787315"/>
              <a:ext cx="770260" cy="296961"/>
            </a:xfrm>
            <a:prstGeom prst="wedgeRectCallout">
              <a:avLst>
                <a:gd name="adj1" fmla="val 15476"/>
                <a:gd name="adj2" fmla="val 44576"/>
              </a:avLst>
            </a:prstGeom>
            <a:solidFill>
              <a:srgbClr val="1655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Arial"/>
                </a:rPr>
                <a:t>+</a:t>
              </a:r>
              <a:r>
                <a:rPr lang="ru-RU" sz="1000" b="1" dirty="0">
                  <a:solidFill>
                    <a:srgbClr val="FFFFFF"/>
                  </a:solidFill>
                  <a:latin typeface="Arial"/>
                </a:rPr>
                <a:t>15</a:t>
              </a:r>
              <a:r>
                <a:rPr sz="1000" b="1" dirty="0">
                  <a:solidFill>
                    <a:srgbClr val="FFFFFF"/>
                  </a:solidFill>
                  <a:latin typeface="Arial"/>
                </a:rPr>
                <a:t>,</a:t>
              </a:r>
              <a:r>
                <a:rPr lang="ru-RU" sz="1000" b="1" dirty="0">
                  <a:solidFill>
                    <a:srgbClr val="FFFFFF"/>
                  </a:solidFill>
                  <a:latin typeface="Arial"/>
                </a:rPr>
                <a:t>9</a:t>
              </a:r>
              <a:r>
                <a:rPr sz="1000" b="1" dirty="0">
                  <a:solidFill>
                    <a:srgbClr val="FFFFFF"/>
                  </a:solidFill>
                  <a:latin typeface="Arial"/>
                </a:rPr>
                <a:t> п.п.</a:t>
              </a:r>
            </a:p>
          </p:txBody>
        </p: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09C8B09B-0072-B94B-E3D3-53C268C05C2C}"/>
                </a:ext>
              </a:extLst>
            </p:cNvPr>
            <p:cNvCxnSpPr>
              <a:cxnSpLocks/>
            </p:cNvCxnSpPr>
            <p:nvPr/>
          </p:nvCxnSpPr>
          <p:spPr>
            <a:xfrm>
              <a:off x="10517612" y="4084275"/>
              <a:ext cx="0" cy="231033"/>
            </a:xfrm>
            <a:prstGeom prst="line">
              <a:avLst/>
            </a:prstGeom>
            <a:ln>
              <a:solidFill>
                <a:srgbClr val="1655C5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CF29057-D9D3-4B56-FFE2-964B809D58EA}"/>
              </a:ext>
            </a:extLst>
          </p:cNvPr>
          <p:cNvSpPr/>
          <p:nvPr/>
        </p:nvSpPr>
        <p:spPr>
          <a:xfrm>
            <a:off x="424661" y="6250065"/>
            <a:ext cx="10926962" cy="2308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dirty="0">
                <a:solidFill>
                  <a:srgbClr val="000000"/>
                </a:solidFill>
                <a:latin typeface="Arial"/>
              </a:rPr>
              <a:t>Источник: Brand Analytics, 1–31 мая 2026 года. Исключен спам и нерелевантные упоминания.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BAABAFA-F33B-B502-871E-429FA85AC936}"/>
              </a:ext>
            </a:extLst>
          </p:cNvPr>
          <p:cNvSpPr txBox="1">
            <a:spLocks/>
          </p:cNvSpPr>
          <p:nvPr/>
        </p:nvSpPr>
        <p:spPr>
          <a:xfrm>
            <a:off x="365760" y="649224"/>
            <a:ext cx="11448288" cy="658368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ДОЛИ ГОЛОСА БРЕНДОВ В ИНФОПОЛЕ</a:t>
            </a:r>
            <a:endParaRPr lang="ru-RU" sz="28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96A673-EFF9-C8EA-5BBC-D8C74E6C3463}"/>
              </a:ext>
            </a:extLst>
          </p:cNvPr>
          <p:cNvSpPr txBox="1"/>
          <p:nvPr/>
        </p:nvSpPr>
        <p:spPr>
          <a:xfrm>
            <a:off x="424661" y="1351030"/>
            <a:ext cx="16682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dirty="0">
                <a:solidFill>
                  <a:srgbClr val="0070C0"/>
                </a:solidFill>
                <a:latin typeface="Arial"/>
              </a:rPr>
              <a:t>27,8</a:t>
            </a:r>
            <a:r>
              <a:rPr sz="2800" b="1" dirty="0">
                <a:solidFill>
                  <a:srgbClr val="0070C0"/>
                </a:solidFill>
                <a:latin typeface="Arial"/>
              </a:rPr>
              <a:t>%</a:t>
            </a:r>
            <a:endParaRPr lang="ru-RU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7F043E-7B26-3014-113A-7F3A8E95B054}"/>
              </a:ext>
            </a:extLst>
          </p:cNvPr>
          <p:cNvSpPr txBox="1"/>
          <p:nvPr/>
        </p:nvSpPr>
        <p:spPr>
          <a:xfrm>
            <a:off x="1476630" y="2663020"/>
            <a:ext cx="2322122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ru-RU" sz="1100" b="1" dirty="0">
                <a:solidFill>
                  <a:srgbClr val="000000"/>
                </a:solidFill>
                <a:latin typeface="Arial"/>
              </a:rPr>
              <a:t>SOV% брендов, 1–31 мая 2026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DAFC02-92E5-6CE8-9513-95D19C527766}"/>
              </a:ext>
            </a:extLst>
          </p:cNvPr>
          <p:cNvSpPr txBox="1"/>
          <p:nvPr/>
        </p:nvSpPr>
        <p:spPr>
          <a:xfrm>
            <a:off x="6323537" y="2663019"/>
            <a:ext cx="4644244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Arial"/>
              </a:rPr>
              <a:t>SOV% с ORM-публикациями и без них, 1–31 мая 2026</a:t>
            </a:r>
          </a:p>
        </p:txBody>
      </p:sp>
      <p:sp>
        <p:nvSpPr>
          <p:cNvPr id="2" name="Google Shape;138;p4">
            <a:extLst>
              <a:ext uri="{FF2B5EF4-FFF2-40B4-BE49-F238E27FC236}">
                <a16:creationId xmlns:a16="http://schemas.microsoft.com/office/drawing/2014/main" id="{37E6F740-F612-730B-289F-A46F5309FE21}"/>
              </a:ext>
            </a:extLst>
          </p:cNvPr>
          <p:cNvSpPr/>
          <p:nvPr/>
        </p:nvSpPr>
        <p:spPr>
          <a:xfrm>
            <a:off x="365760" y="1917342"/>
            <a:ext cx="480059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O</a:t>
            </a:r>
            <a:r>
              <a:rPr lang="ru-RU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V </a:t>
            </a:r>
            <a:r>
              <a:rPr lang="ru-RU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бренда </a:t>
            </a:r>
            <a:r>
              <a:rPr lang="ru-RU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в инфополе категории в </a:t>
            </a:r>
            <a:r>
              <a:rPr lang="ru-RU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мае</a:t>
            </a:r>
          </a:p>
        </p:txBody>
      </p:sp>
      <p:sp>
        <p:nvSpPr>
          <p:cNvPr id="9" name="Google Shape;141;p4">
            <a:extLst>
              <a:ext uri="{FF2B5EF4-FFF2-40B4-BE49-F238E27FC236}">
                <a16:creationId xmlns:a16="http://schemas.microsoft.com/office/drawing/2014/main" id="{01491D75-AABE-EE5C-9F69-EA1E4427E3F8}"/>
              </a:ext>
            </a:extLst>
          </p:cNvPr>
          <p:cNvSpPr txBox="1"/>
          <p:nvPr/>
        </p:nvSpPr>
        <p:spPr>
          <a:xfrm>
            <a:off x="5059385" y="1485256"/>
            <a:ext cx="6815579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b="1" dirty="0">
                <a:solidFill>
                  <a:schemeClr val="tx1"/>
                </a:solidFill>
                <a:cs typeface="Arial" panose="020B0604020202020204" pitchFamily="34" charset="0"/>
              </a:rPr>
              <a:t>Доля голоса бренда </a:t>
            </a:r>
            <a:r>
              <a:rPr lang="ru-RU" sz="1100" dirty="0">
                <a:solidFill>
                  <a:schemeClr val="tx1"/>
                </a:solidFill>
                <a:cs typeface="Arial" panose="020B0604020202020204" pitchFamily="34" charset="0"/>
              </a:rPr>
              <a:t>в группе прямых конкурентов</a:t>
            </a:r>
            <a:r>
              <a:rPr lang="ru-RU" sz="110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ru-RU" sz="1100" b="1" dirty="0">
                <a:solidFill>
                  <a:schemeClr val="tx1"/>
                </a:solidFill>
                <a:cs typeface="Arial" panose="020B0604020202020204" pitchFamily="34" charset="0"/>
              </a:rPr>
              <a:t>составила 27,8%.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1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  <a:cs typeface="Arial" panose="020B0604020202020204" pitchFamily="34" charset="0"/>
              </a:rPr>
              <a:t>При этом без учета репутационной кампании показатель был бы ниже (1</a:t>
            </a:r>
            <a:r>
              <a:rPr lang="ru-RU" sz="1100" dirty="0">
                <a:cs typeface="Arial" panose="020B0604020202020204" pitchFamily="34" charset="0"/>
              </a:rPr>
              <a:t>1,9</a:t>
            </a:r>
            <a:r>
              <a:rPr lang="ru-RU" sz="1100" dirty="0">
                <a:solidFill>
                  <a:schemeClr val="tx1"/>
                </a:solidFill>
                <a:cs typeface="Arial" panose="020B0604020202020204" pitchFamily="34" charset="0"/>
              </a:rPr>
              <a:t>%)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;</a:t>
            </a:r>
            <a:r>
              <a:rPr lang="ru-RU" sz="1100" dirty="0">
                <a:solidFill>
                  <a:schemeClr val="tx1"/>
                </a:solidFill>
                <a:cs typeface="Arial" panose="020B0604020202020204" pitchFamily="34" charset="0"/>
              </a:rPr>
              <a:t> за счет проведения кампании бренд стал более заметен относительно прямых конкурентов</a:t>
            </a:r>
            <a:r>
              <a:rPr lang="en-US" sz="1100" dirty="0">
                <a:cs typeface="Arial" panose="020B0604020202020204" pitchFamily="34" charset="0"/>
              </a:rPr>
              <a:t>.</a:t>
            </a:r>
            <a:endParaRPr lang="ru-RU" sz="11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102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DB0FC593-E857-344B-97F9-1F082E6B76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4931686"/>
              </p:ext>
            </p:extLst>
          </p:nvPr>
        </p:nvGraphicFramePr>
        <p:xfrm>
          <a:off x="122866" y="1412526"/>
          <a:ext cx="4353742" cy="2913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angle 15">
            <a:extLst>
              <a:ext uri="{FF2B5EF4-FFF2-40B4-BE49-F238E27FC236}">
                <a16:creationId xmlns:a16="http://schemas.microsoft.com/office/drawing/2014/main" id="{FD58F3BF-1CF4-644A-9FE3-684DF61759F3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5FECAA9A-7BE4-9A6D-2CA1-CB5F1B17AC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9664132"/>
              </p:ext>
            </p:extLst>
          </p:nvPr>
        </p:nvGraphicFramePr>
        <p:xfrm>
          <a:off x="4476608" y="1412526"/>
          <a:ext cx="7103476" cy="2913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2C52A404-D2BD-00B1-AC39-E5E534D360CF}"/>
              </a:ext>
            </a:extLst>
          </p:cNvPr>
          <p:cNvSpPr txBox="1">
            <a:spLocks/>
          </p:cNvSpPr>
          <p:nvPr/>
        </p:nvSpPr>
        <p:spPr>
          <a:xfrm>
            <a:off x="361959" y="651297"/>
            <a:ext cx="11707175" cy="81921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dirty="0">
                <a:solidFill>
                  <a:srgbClr val="000000"/>
                </a:solidFill>
                <a:latin typeface="Arial"/>
              </a:rPr>
              <a:t>ТОНАЛЬНОСТЬ СООБЩЕНИЙ О БРЕНДАХ КАТЕГОРИИ</a:t>
            </a:r>
          </a:p>
        </p:txBody>
      </p:sp>
      <p:sp>
        <p:nvSpPr>
          <p:cNvPr id="5" name="Google Shape;105;g10e8a6c01b7_0_40">
            <a:extLst>
              <a:ext uri="{FF2B5EF4-FFF2-40B4-BE49-F238E27FC236}">
                <a16:creationId xmlns:a16="http://schemas.microsoft.com/office/drawing/2014/main" id="{074F38FA-F9F3-C0CE-0745-4CC00986BF49}"/>
              </a:ext>
            </a:extLst>
          </p:cNvPr>
          <p:cNvSpPr txBox="1">
            <a:spLocks/>
          </p:cNvSpPr>
          <p:nvPr/>
        </p:nvSpPr>
        <p:spPr>
          <a:xfrm>
            <a:off x="490986" y="4435342"/>
            <a:ext cx="10383844" cy="163480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100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sz="1100" b="1" dirty="0">
                <a:solidFill>
                  <a:srgbClr val="01A2FF"/>
                </a:solidFill>
                <a:latin typeface="Arial"/>
              </a:rPr>
              <a:t>ВЫВОДЫ ПО АНАЛИЗУ:</a:t>
            </a:r>
          </a:p>
          <a:p>
            <a:pPr marL="171450" indent="-171450" algn="l">
              <a:buClr>
                <a:srgbClr val="01A2FF"/>
              </a:buClr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  <a:latin typeface="Arial"/>
              </a:rPr>
              <a:t>Доля позитивных упоминаний в мае у бренда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Бактоблис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 – </a:t>
            </a:r>
            <a:r>
              <a:rPr lang="ru-RU" sz="1100" b="1" dirty="0">
                <a:solidFill>
                  <a:srgbClr val="00B050"/>
                </a:solidFill>
                <a:latin typeface="Arial"/>
              </a:rPr>
              <a:t>64%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 (69 сообщения). Авторы делятся опытом применения и высоко оценивают результаты от применения препарата, отмечают удобство применения,и общий положительный эффект от использования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Бактоблис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. Эти сообщения способствуют выбору бренда пациентами среди альтернатив. </a:t>
            </a:r>
          </a:p>
          <a:p>
            <a:pPr marL="171450" indent="-171450" algn="l">
              <a:buClr>
                <a:srgbClr val="01A2FF"/>
              </a:buClr>
              <a:buFont typeface="Arial"/>
              <a:buChar char="•"/>
            </a:pPr>
            <a:r>
              <a:rPr sz="1100" dirty="0">
                <a:solidFill>
                  <a:srgbClr val="000000"/>
                </a:solidFill>
                <a:latin typeface="Arial"/>
              </a:rPr>
              <a:t>Доля негативных упоминаний бренда </a:t>
            </a:r>
            <a:r>
              <a:rPr sz="1100" b="1" dirty="0">
                <a:solidFill>
                  <a:srgbClr val="000000"/>
                </a:solidFill>
                <a:latin typeface="Arial"/>
              </a:rPr>
              <a:t>Бактоблис</a:t>
            </a:r>
            <a:r>
              <a:rPr sz="1100" dirty="0">
                <a:solidFill>
                  <a:srgbClr val="000000"/>
                </a:solidFill>
                <a:latin typeface="Arial"/>
              </a:rPr>
              <a:t> – </a:t>
            </a:r>
            <a:r>
              <a:rPr lang="ru-RU" sz="1100" b="1" dirty="0">
                <a:solidFill>
                  <a:srgbClr val="FF0000"/>
                </a:solidFill>
                <a:latin typeface="Arial"/>
              </a:rPr>
              <a:t>2</a:t>
            </a:r>
            <a:r>
              <a:rPr sz="1100" b="1" dirty="0">
                <a:solidFill>
                  <a:srgbClr val="FF0000"/>
                </a:solidFill>
                <a:latin typeface="Arial"/>
              </a:rPr>
              <a:t>%</a:t>
            </a:r>
            <a:r>
              <a:rPr sz="1100" dirty="0">
                <a:solidFill>
                  <a:srgbClr val="000000"/>
                </a:solidFill>
                <a:latin typeface="Arial"/>
              </a:rPr>
              <a:t> (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2</a:t>
            </a:r>
            <a:r>
              <a:rPr sz="1100" dirty="0">
                <a:solidFill>
                  <a:srgbClr val="000000"/>
                </a:solidFill>
                <a:latin typeface="Arial"/>
              </a:rPr>
              <a:t> сообщени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я</a:t>
            </a:r>
            <a:r>
              <a:rPr sz="1100" dirty="0">
                <a:solidFill>
                  <a:srgbClr val="000000"/>
                </a:solidFill>
                <a:latin typeface="Arial"/>
              </a:rPr>
              <a:t>). 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Весь негатив нейтрализован</a:t>
            </a:r>
            <a:r>
              <a:rPr lang="en-US" sz="11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и отображен отдельным блоком в отчете.</a:t>
            </a:r>
            <a:endParaRPr sz="1100" dirty="0">
              <a:solidFill>
                <a:srgbClr val="000000"/>
              </a:solidFill>
              <a:latin typeface="Arial"/>
            </a:endParaRPr>
          </a:p>
          <a:p>
            <a:pPr marL="171450" indent="-171450" algn="l">
              <a:buClr>
                <a:srgbClr val="01A2FF"/>
              </a:buClr>
              <a:buFont typeface="Arial"/>
              <a:buChar char="•"/>
            </a:pPr>
            <a:r>
              <a:rPr sz="1100" dirty="0">
                <a:solidFill>
                  <a:srgbClr val="000000"/>
                </a:solidFill>
                <a:latin typeface="Arial"/>
              </a:rPr>
              <a:t>Нейтральные упоминания составили 3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4</a:t>
            </a:r>
            <a:r>
              <a:rPr sz="1100" dirty="0">
                <a:solidFill>
                  <a:srgbClr val="000000"/>
                </a:solidFill>
                <a:latin typeface="Arial"/>
              </a:rPr>
              <a:t>% (3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7 </a:t>
            </a:r>
            <a:r>
              <a:rPr sz="1100" dirty="0">
                <a:solidFill>
                  <a:srgbClr val="000000"/>
                </a:solidFill>
                <a:latin typeface="Arial"/>
              </a:rPr>
              <a:t>сообщений)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 - вопросы о способах использования, о назначениях врача, и комментарии в карточках товаров и социальных сетях.</a:t>
            </a:r>
            <a:endParaRPr sz="11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C4D3213-5E27-A833-4EC1-328B7DE89FCC}"/>
              </a:ext>
            </a:extLst>
          </p:cNvPr>
          <p:cNvSpPr/>
          <p:nvPr/>
        </p:nvSpPr>
        <p:spPr>
          <a:xfrm>
            <a:off x="424661" y="6250065"/>
            <a:ext cx="10926962" cy="2308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dirty="0">
                <a:solidFill>
                  <a:srgbClr val="000000"/>
                </a:solidFill>
                <a:latin typeface="Arial"/>
              </a:rPr>
              <a:t>Источник: Brand Analytics, 1–31 мая 2026 года. Исключен спам и нерелевантные упоминания.</a:t>
            </a:r>
          </a:p>
        </p:txBody>
      </p:sp>
      <p:grpSp>
        <p:nvGrpSpPr>
          <p:cNvPr id="4" name="Группа 5">
            <a:extLst>
              <a:ext uri="{FF2B5EF4-FFF2-40B4-BE49-F238E27FC236}">
                <a16:creationId xmlns:a16="http://schemas.microsoft.com/office/drawing/2014/main" id="{F6418A56-50B7-BA5A-3CE4-97B93E1A4F93}"/>
              </a:ext>
            </a:extLst>
          </p:cNvPr>
          <p:cNvGrpSpPr/>
          <p:nvPr/>
        </p:nvGrpSpPr>
        <p:grpSpPr>
          <a:xfrm>
            <a:off x="10318526" y="1650425"/>
            <a:ext cx="467661" cy="586598"/>
            <a:chOff x="15217716" y="3979772"/>
            <a:chExt cx="770260" cy="483976"/>
          </a:xfrm>
        </p:grpSpPr>
        <p:sp>
          <p:nvSpPr>
            <p:cNvPr id="6" name="Облачко с текстом: прямоугольное 4">
              <a:extLst>
                <a:ext uri="{FF2B5EF4-FFF2-40B4-BE49-F238E27FC236}">
                  <a16:creationId xmlns:a16="http://schemas.microsoft.com/office/drawing/2014/main" id="{43E92E0A-F8BF-01C3-8454-C77000425C27}"/>
                </a:ext>
              </a:extLst>
            </p:cNvPr>
            <p:cNvSpPr/>
            <p:nvPr/>
          </p:nvSpPr>
          <p:spPr>
            <a:xfrm>
              <a:off x="15217716" y="3979772"/>
              <a:ext cx="770260" cy="296961"/>
            </a:xfrm>
            <a:prstGeom prst="wedgeRectCallout">
              <a:avLst>
                <a:gd name="adj1" fmla="val 15476"/>
                <a:gd name="adj2" fmla="val 44576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ru-RU" sz="1000" b="1" dirty="0">
                  <a:solidFill>
                    <a:srgbClr val="FFFFFF"/>
                  </a:solidFill>
                  <a:latin typeface="Arial"/>
                </a:rPr>
                <a:t>Старт 28.05</a:t>
              </a:r>
              <a:endParaRPr sz="1000" b="1" dirty="0">
                <a:solidFill>
                  <a:srgbClr val="FFFFFF"/>
                </a:solidFill>
                <a:latin typeface="Arial"/>
              </a:endParaRPr>
            </a:p>
          </p:txBody>
        </p:sp>
        <p:cxnSp>
          <p:nvCxnSpPr>
            <p:cNvPr id="7" name="Прямая соединительная линия 18">
              <a:extLst>
                <a:ext uri="{FF2B5EF4-FFF2-40B4-BE49-F238E27FC236}">
                  <a16:creationId xmlns:a16="http://schemas.microsoft.com/office/drawing/2014/main" id="{005CB273-7D9D-F7CD-EDB9-EF6A3E73B564}"/>
                </a:ext>
              </a:extLst>
            </p:cNvPr>
            <p:cNvCxnSpPr>
              <a:cxnSpLocks/>
            </p:cNvCxnSpPr>
            <p:nvPr/>
          </p:nvCxnSpPr>
          <p:spPr>
            <a:xfrm>
              <a:off x="15558304" y="4232715"/>
              <a:ext cx="0" cy="231033"/>
            </a:xfrm>
            <a:prstGeom prst="line">
              <a:avLst/>
            </a:prstGeom>
            <a:ln>
              <a:solidFill>
                <a:srgbClr val="00B05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27732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DFA42771-507D-F529-7C74-70087224BA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730653"/>
              </p:ext>
            </p:extLst>
          </p:nvPr>
        </p:nvGraphicFramePr>
        <p:xfrm>
          <a:off x="471016" y="2044857"/>
          <a:ext cx="3316142" cy="38472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15">
            <a:extLst>
              <a:ext uri="{FF2B5EF4-FFF2-40B4-BE49-F238E27FC236}">
                <a16:creationId xmlns:a16="http://schemas.microsoft.com/office/drawing/2014/main" id="{48D2CF2D-F658-D875-83DA-D2B8D1320D57}"/>
              </a:ext>
            </a:extLst>
          </p:cNvPr>
          <p:cNvSpPr/>
          <p:nvPr/>
        </p:nvSpPr>
        <p:spPr>
          <a:xfrm>
            <a:off x="0" y="467436"/>
            <a:ext cx="92076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1" dirty="0">
              <a:latin typeface="Futura "/>
            </a:endParaRPr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1E1DD8F4-F8E0-EEC0-A52B-7334D2BFBD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2562558"/>
              </p:ext>
            </p:extLst>
          </p:nvPr>
        </p:nvGraphicFramePr>
        <p:xfrm>
          <a:off x="3228647" y="2330533"/>
          <a:ext cx="3968362" cy="3852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2519FE3F-AC09-167F-516E-94EBE3F1D98D}"/>
              </a:ext>
            </a:extLst>
          </p:cNvPr>
          <p:cNvSpPr txBox="1">
            <a:spLocks/>
          </p:cNvSpPr>
          <p:nvPr/>
        </p:nvSpPr>
        <p:spPr>
          <a:xfrm>
            <a:off x="361832" y="507533"/>
            <a:ext cx="11707302" cy="81921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ru-RU" sz="2800" b="0" dirty="0">
                <a:solidFill>
                  <a:srgbClr val="000000"/>
                </a:solidFill>
                <a:latin typeface="Arial"/>
              </a:rPr>
              <a:t>ПЛОЩАДКИ ОБСУЖДЕНИЙ</a:t>
            </a:r>
            <a:endParaRPr sz="28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33DADE-DEB0-42BE-9AAB-24988CA3178B}"/>
              </a:ext>
            </a:extLst>
          </p:cNvPr>
          <p:cNvSpPr txBox="1"/>
          <p:nvPr/>
        </p:nvSpPr>
        <p:spPr>
          <a:xfrm>
            <a:off x="389825" y="1024534"/>
            <a:ext cx="11329425" cy="84638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ru-RU" sz="1100" b="1" dirty="0"/>
              <a:t>В мае </a:t>
            </a:r>
            <a:r>
              <a:rPr lang="ru-RU" sz="1100" dirty="0"/>
              <a:t>более половины всех обсуждений (64%) составили обсуждения в соцсетях и мессенджерах. По количеству упоминаний лидируют ВКонтакте (112 сообщений, 29%) и Telegram (83 сообщения, 21%). Бренды обсуждают в сообществах на тему здоровья, взаимопомощи, в множестве сообществ матерей. Авторы агентства встраивались в обсуждения и формировали знание о Бактоблис как о наиболее эффективном продукте в данном контексте. </a:t>
            </a:r>
          </a:p>
          <a:p>
            <a:endParaRPr lang="ru-RU" sz="1100" dirty="0"/>
          </a:p>
          <a:p>
            <a:r>
              <a:rPr lang="ru-RU" sz="1100" b="1" dirty="0"/>
              <a:t>Отзывы </a:t>
            </a:r>
            <a:r>
              <a:rPr lang="ru-RU" sz="1100" dirty="0"/>
              <a:t>составили 26% инфополя – прежде всего это отзывы на Apteka.ru (+37) и Wildberries (+33): суммарно 71% от всех отзывов.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BAC790B-A100-461A-B528-6AD44086CF60}"/>
              </a:ext>
            </a:extLst>
          </p:cNvPr>
          <p:cNvSpPr/>
          <p:nvPr/>
        </p:nvSpPr>
        <p:spPr>
          <a:xfrm>
            <a:off x="1619332" y="2134660"/>
            <a:ext cx="1019510" cy="153888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latin typeface="Arial"/>
              </a:rPr>
              <a:t>Типы площадок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3D502F6-832B-88AE-646C-725ECEE15E92}"/>
              </a:ext>
            </a:extLst>
          </p:cNvPr>
          <p:cNvSpPr/>
          <p:nvPr/>
        </p:nvSpPr>
        <p:spPr>
          <a:xfrm>
            <a:off x="4299917" y="2134661"/>
            <a:ext cx="1825821" cy="153888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latin typeface="Arial"/>
              </a:rPr>
              <a:t>Топ источников упоминаний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1B7E101-4FB0-3C48-C873-48694EFB7DC7}"/>
              </a:ext>
            </a:extLst>
          </p:cNvPr>
          <p:cNvSpPr/>
          <p:nvPr/>
        </p:nvSpPr>
        <p:spPr>
          <a:xfrm>
            <a:off x="424661" y="6250065"/>
            <a:ext cx="10926962" cy="2308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dirty="0">
                <a:solidFill>
                  <a:srgbClr val="000000"/>
                </a:solidFill>
                <a:latin typeface="Arial"/>
              </a:rPr>
              <a:t>Источник: Brand Analytics, 1–31 мая 2026 года. Исключен спам и нерелевантные упоминания.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F914FCB-CBD9-A2D7-D54D-1BF2E81701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595304"/>
              </p:ext>
            </p:extLst>
          </p:nvPr>
        </p:nvGraphicFramePr>
        <p:xfrm>
          <a:off x="6993774" y="2477972"/>
          <a:ext cx="4453099" cy="355784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161500">
                  <a:extLst>
                    <a:ext uri="{9D8B030D-6E8A-4147-A177-3AD203B41FA5}">
                      <a16:colId xmlns:a16="http://schemas.microsoft.com/office/drawing/2014/main" val="10674490"/>
                    </a:ext>
                  </a:extLst>
                </a:gridCol>
                <a:gridCol w="708006">
                  <a:extLst>
                    <a:ext uri="{9D8B030D-6E8A-4147-A177-3AD203B41FA5}">
                      <a16:colId xmlns:a16="http://schemas.microsoft.com/office/drawing/2014/main" val="57419100"/>
                    </a:ext>
                  </a:extLst>
                </a:gridCol>
                <a:gridCol w="834366">
                  <a:extLst>
                    <a:ext uri="{9D8B030D-6E8A-4147-A177-3AD203B41FA5}">
                      <a16:colId xmlns:a16="http://schemas.microsoft.com/office/drawing/2014/main" val="4177457098"/>
                    </a:ext>
                  </a:extLst>
                </a:gridCol>
                <a:gridCol w="749227">
                  <a:extLst>
                    <a:ext uri="{9D8B030D-6E8A-4147-A177-3AD203B41FA5}">
                      <a16:colId xmlns:a16="http://schemas.microsoft.com/office/drawing/2014/main" val="3655591771"/>
                    </a:ext>
                  </a:extLst>
                </a:gridCol>
              </a:tblGrid>
              <a:tr h="3375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Топ сообществ-источников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Площадка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Сообщения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Аудитория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5012331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5"/>
                        </a:rPr>
                        <a:t>Фармпоиск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Telegram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41 869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882196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6"/>
                        </a:rPr>
                        <a:t>ЦАП И кУСЬ Chat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Telegram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088153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7"/>
                        </a:rPr>
                        <a:t>Сергей Малоземов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194 248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489707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8"/>
                        </a:rPr>
                        <a:t>Мамы, Мамочки Мурманска, Детские пособия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9 967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330205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9"/>
                        </a:rPr>
                        <a:t>Записки беременных и мам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61 605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64100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10"/>
                        </a:rPr>
                        <a:t>nastasya.cherry_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447 474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472653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11"/>
                        </a:rPr>
                        <a:t>Спроси совета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90 170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4427801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12"/>
                        </a:rPr>
                        <a:t>Мамы, Мамочки Архангельска, Детские пособ…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18 522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859734"/>
                  </a:ext>
                </a:extLst>
              </a:tr>
              <a:tr h="3578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13"/>
                        </a:rPr>
                        <a:t>ГОВОРИТ КАРЕЛИЯ! ( 2022 г - 2026 г )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20 407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864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46858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0F1A12A-D594-4767-BC89-4BCB0B6B589B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7CF953E-506C-CE41-BE25-F8D774BD46A7}"/>
              </a:ext>
            </a:extLst>
          </p:cNvPr>
          <p:cNvSpPr txBox="1">
            <a:spLocks/>
          </p:cNvSpPr>
          <p:nvPr/>
        </p:nvSpPr>
        <p:spPr>
          <a:xfrm>
            <a:off x="361950" y="651287"/>
            <a:ext cx="9105900" cy="58061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dirty="0">
                <a:solidFill>
                  <a:srgbClr val="000000"/>
                </a:solidFill>
                <a:latin typeface="Arial"/>
              </a:rPr>
              <a:t>ПОКАЗАТЕЛИ ПОСЕВА СООБЩЕНИЙ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1F914FCB-CBD9-A2D7-D54D-1BF2E81701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446829"/>
              </p:ext>
            </p:extLst>
          </p:nvPr>
        </p:nvGraphicFramePr>
        <p:xfrm>
          <a:off x="7319962" y="1381061"/>
          <a:ext cx="3938599" cy="462863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878540">
                  <a:extLst>
                    <a:ext uri="{9D8B030D-6E8A-4147-A177-3AD203B41FA5}">
                      <a16:colId xmlns:a16="http://schemas.microsoft.com/office/drawing/2014/main" val="10674490"/>
                    </a:ext>
                  </a:extLst>
                </a:gridCol>
                <a:gridCol w="979715">
                  <a:extLst>
                    <a:ext uri="{9D8B030D-6E8A-4147-A177-3AD203B41FA5}">
                      <a16:colId xmlns:a16="http://schemas.microsoft.com/office/drawing/2014/main" val="57419100"/>
                    </a:ext>
                  </a:extLst>
                </a:gridCol>
                <a:gridCol w="1080344">
                  <a:extLst>
                    <a:ext uri="{9D8B030D-6E8A-4147-A177-3AD203B41FA5}">
                      <a16:colId xmlns:a16="http://schemas.microsoft.com/office/drawing/2014/main" val="4177457098"/>
                    </a:ext>
                  </a:extLst>
                </a:gridCol>
              </a:tblGrid>
              <a:tr h="586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000000"/>
                          </a:solidFill>
                          <a:latin typeface="Arial"/>
                        </a:rPr>
                        <a:t>Площадка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000000"/>
                          </a:solidFill>
                          <a:latin typeface="Arial"/>
                        </a:rPr>
                        <a:t>Сообщения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000000"/>
                          </a:solidFill>
                          <a:latin typeface="Arial"/>
                        </a:rPr>
                        <a:t>Просмотры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012331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3"/>
                        </a:rPr>
                        <a:t>YouTube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2 457 960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980347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4"/>
                        </a:rPr>
                        <a:t>ВКонтакте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1 769 687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4439298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5"/>
                        </a:rPr>
                        <a:t>Ютека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116 010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3095742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6"/>
                        </a:rPr>
                        <a:t>Telegram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17 572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1727503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7"/>
                        </a:rPr>
                        <a:t>Дзен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14 630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0165693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8"/>
                        </a:rPr>
                        <a:t>Woman.ru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6127202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900" b="0" u="none" dirty="0">
                          <a:solidFill>
                            <a:srgbClr val="000000"/>
                          </a:solidFill>
                          <a:latin typeface="Arial"/>
                          <a:hlinkClick r:id="rId9"/>
                        </a:rPr>
                        <a:t>M</a:t>
                      </a: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9"/>
                        </a:rPr>
                        <a:t>om.life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8732069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10"/>
                        </a:rPr>
                        <a:t>Мегаптека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1936570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900" b="0" u="none" dirty="0">
                          <a:solidFill>
                            <a:srgbClr val="000000"/>
                          </a:solidFill>
                          <a:latin typeface="Arial"/>
                          <a:hlinkClick r:id="rId11"/>
                        </a:rPr>
                        <a:t>M</a:t>
                      </a:r>
                      <a:r>
                        <a:rPr sz="900" b="0" u="none" dirty="0">
                          <a:solidFill>
                            <a:srgbClr val="000000"/>
                          </a:solidFill>
                          <a:latin typeface="Arial"/>
                          <a:hlinkClick r:id="rId11"/>
                        </a:rPr>
                        <a:t>edum.ru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9531821"/>
                  </a:ext>
                </a:extLst>
              </a:tr>
              <a:tr h="40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Другие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5400" marR="25400" marT="12700" marB="12700" anchor="ctr">
                    <a:lnL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24647" y="6250106"/>
            <a:ext cx="10927354" cy="2307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dirty="0">
                <a:solidFill>
                  <a:srgbClr val="000000"/>
                </a:solidFill>
                <a:latin typeface="Arial"/>
              </a:rPr>
              <a:t>Источник: проектная таблица ORM, лист «Май», 01–31 мая 2026 года.</a:t>
            </a:r>
          </a:p>
        </p:txBody>
      </p:sp>
      <p:graphicFrame>
        <p:nvGraphicFramePr>
          <p:cNvPr id="3" name="Диаграмма 1">
            <a:extLst>
              <a:ext uri="{FF2B5EF4-FFF2-40B4-BE49-F238E27FC236}">
                <a16:creationId xmlns:a16="http://schemas.microsoft.com/office/drawing/2014/main" id="{DD541B73-FD16-78B2-F8E9-AF89AE843C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4602068"/>
              </p:ext>
            </p:extLst>
          </p:nvPr>
        </p:nvGraphicFramePr>
        <p:xfrm>
          <a:off x="548472" y="2857500"/>
          <a:ext cx="5766603" cy="2819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C0731FA-5DA3-704B-B41D-8DD228EB7BCF}"/>
              </a:ext>
            </a:extLst>
          </p:cNvPr>
          <p:cNvSpPr txBox="1"/>
          <p:nvPr/>
        </p:nvSpPr>
        <p:spPr>
          <a:xfrm>
            <a:off x="219075" y="1321424"/>
            <a:ext cx="664825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ru-RU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70</a:t>
            </a:r>
            <a:r>
              <a:rPr lang="ru-RU" sz="1100" b="1" dirty="0"/>
              <a:t> комментариев </a:t>
            </a:r>
            <a:r>
              <a:rPr lang="ru-RU" sz="1100" dirty="0"/>
              <a:t>разместили авторы агентства в активных обсуждениях в соцсетях, форумах, чатах и топе выдачи по запросам тематики. 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В мае наибольший упор в посеве был сделан на сообщества и контент, связанный с обсуждением детских 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ЛОР-заболеваний, также проблем с голосом и горлом.</a:t>
            </a:r>
            <a:endParaRPr lang="ru-RU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b="1" dirty="0"/>
              <a:t>Комментарии получили 4 375 859 просмотров</a:t>
            </a:r>
            <a:r>
              <a:rPr lang="ru-RU" sz="11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2422791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456E67C-F3BE-62AA-6E9F-2B747A112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660" y="2051825"/>
            <a:ext cx="5820045" cy="110765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1A12A-D594-4767-BC89-4BCB0B6B589B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FE829EAC-359C-1245-A6EF-1736C4E3ADF3}"/>
              </a:ext>
            </a:extLst>
          </p:cNvPr>
          <p:cNvSpPr txBox="1">
            <a:spLocks/>
          </p:cNvSpPr>
          <p:nvPr/>
        </p:nvSpPr>
        <p:spPr>
          <a:xfrm>
            <a:off x="361950" y="651287"/>
            <a:ext cx="9105900" cy="58061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dirty="0">
                <a:solidFill>
                  <a:srgbClr val="000000"/>
                </a:solidFill>
                <a:latin typeface="Arial"/>
              </a:rPr>
              <a:t>ПРИМЕРЫ СООБЩЕНИЙ О БРЕНДЕ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E35F9E2-B0A5-33DC-A69D-3801883FFBD7}"/>
              </a:ext>
            </a:extLst>
          </p:cNvPr>
          <p:cNvSpPr/>
          <p:nvPr/>
        </p:nvSpPr>
        <p:spPr>
          <a:xfrm>
            <a:off x="361015" y="1395495"/>
            <a:ext cx="10481155" cy="33855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ru-RU" sz="1100" b="0" dirty="0">
                <a:solidFill>
                  <a:srgbClr val="000000"/>
                </a:solidFill>
                <a:latin typeface="Arial"/>
              </a:rPr>
              <a:t>В мае опубликовали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62 комментария 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о бренде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Бактоблис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 в обсуждениях, социальных сетях и сайтах в топе выдачи. В комментариях авторы делились успешным опытом применения </a:t>
            </a:r>
            <a:r>
              <a:rPr lang="ru-RU" sz="1100" b="1" dirty="0">
                <a:solidFill>
                  <a:srgbClr val="000000"/>
                </a:solidFill>
                <a:latin typeface="Arial"/>
              </a:rPr>
              <a:t>Бакстоблис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 в разных </a:t>
            </a:r>
            <a:r>
              <a:rPr lang="ru-RU" sz="1100" dirty="0">
                <a:solidFill>
                  <a:srgbClr val="000000"/>
                </a:solidFill>
                <a:latin typeface="Arial"/>
              </a:rPr>
              <a:t>сценариях использования 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продукта.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9F4DBD-7F60-13B7-01F9-CE11C1CC0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015" y="4779006"/>
            <a:ext cx="4442314" cy="15398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8482F8-0FF1-4C91-6AB4-EF71C87EF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1074" y="3429000"/>
            <a:ext cx="5979215" cy="24698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E8670F-151C-0D54-2F42-DC134BE415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356" y="3542827"/>
            <a:ext cx="6004304" cy="11223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876442D-5A00-B9C1-2BD8-5381B44AF2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356" y="2160521"/>
            <a:ext cx="5228585" cy="108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82107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C8E7C-C1C4-5A8A-6B94-E378BF4C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0288CE6-39FA-8E46-DF11-EAA1DAE350A7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CC8F6E0A-FE2A-A743-8FFA-6ABAA0C6C061}"/>
              </a:ext>
            </a:extLst>
          </p:cNvPr>
          <p:cNvSpPr txBox="1">
            <a:spLocks/>
          </p:cNvSpPr>
          <p:nvPr/>
        </p:nvSpPr>
        <p:spPr>
          <a:xfrm>
            <a:off x="361950" y="651287"/>
            <a:ext cx="9105900" cy="580612"/>
          </a:xfrm>
          <a:prstGeom prst="rect">
            <a:avLst/>
          </a:prstGeom>
        </p:spPr>
        <p:txBody>
          <a:bodyPr vert="horz" lIns="0" tIns="0" rIns="0" bIns="0" rtlCol="0" anchor="t">
            <a:normAutofit fontScale="92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ПУБЛИКАЦИИ </a:t>
            </a:r>
            <a:r>
              <a:rPr lang="ru-RU" sz="2800" dirty="0">
                <a:solidFill>
                  <a:schemeClr val="dk1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В </a:t>
            </a:r>
            <a:r>
              <a:rPr lang="ru-RU" sz="28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ИНТЕРНЕТ-АПТЕКАХ И НА ОТЗОВИКАХ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D2AC476-57B2-02AA-AFDA-83138D633FE2}"/>
              </a:ext>
            </a:extLst>
          </p:cNvPr>
          <p:cNvSpPr/>
          <p:nvPr/>
        </p:nvSpPr>
        <p:spPr>
          <a:xfrm>
            <a:off x="361949" y="1135074"/>
            <a:ext cx="11268075" cy="1692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В мае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о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публиковали 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8 отзывов в крупных интернет-аптеках и на отзовиках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. В отзывах авторы описывали эффективность Бактоблис в разных контекстах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применения.</a:t>
            </a:r>
            <a:endParaRPr lang="ru-RU" sz="1100" b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3A4CC0-7738-5627-0BFD-CEB56EDE3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49" y="1391861"/>
            <a:ext cx="5337910" cy="27630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719895-CB6E-AA5B-D8DC-201836934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08722"/>
            <a:ext cx="4085120" cy="19202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DA4218-3746-E5BB-F495-89322EA391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723091"/>
            <a:ext cx="5226229" cy="27790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EAC7F1-F36E-4330-53EF-796BB8B4D6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49" y="4185258"/>
            <a:ext cx="5337910" cy="191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79263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0F1A12A-D594-4767-BC89-4BCB0B6B589B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620000" y="297942"/>
            <a:ext cx="109728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Rectangle 25"/>
          <p:cNvSpPr/>
          <p:nvPr/>
        </p:nvSpPr>
        <p:spPr>
          <a:xfrm>
            <a:off x="8894445" y="297942"/>
            <a:ext cx="169164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Rectangle 27"/>
          <p:cNvSpPr/>
          <p:nvPr/>
        </p:nvSpPr>
        <p:spPr>
          <a:xfrm>
            <a:off x="10740390" y="297942"/>
            <a:ext cx="123444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2" name="Picture 31" descr="slide11_review_total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072384"/>
            <a:ext cx="3703320" cy="3054096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7CF953E-506C-CE41-BE25-F8D774BD46A7}"/>
              </a:ext>
            </a:extLst>
          </p:cNvPr>
          <p:cNvSpPr txBox="1">
            <a:spLocks/>
          </p:cNvSpPr>
          <p:nvPr/>
        </p:nvSpPr>
        <p:spPr>
          <a:xfrm>
            <a:off x="365760" y="649224"/>
            <a:ext cx="11448288" cy="65836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dirty="0">
                <a:solidFill>
                  <a:srgbClr val="000000"/>
                </a:solidFill>
                <a:latin typeface="Arial"/>
              </a:rPr>
              <a:t>РЕЙТИНГИ БАКТОБЛИС В ОТЗЫВАХ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108E97A-EAAB-ED43-AF68-C6355B9C815F}"/>
              </a:ext>
            </a:extLst>
          </p:cNvPr>
          <p:cNvSpPr/>
          <p:nvPr/>
        </p:nvSpPr>
        <p:spPr>
          <a:xfrm>
            <a:off x="424647" y="6250106"/>
            <a:ext cx="10927354" cy="2307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dirty="0">
                <a:solidFill>
                  <a:srgbClr val="000000"/>
                </a:solidFill>
                <a:latin typeface="Arial"/>
              </a:rPr>
              <a:t>Источник: </a:t>
            </a:r>
            <a:r>
              <a:rPr lang="ru-RU" sz="900" b="0" dirty="0">
                <a:solidFill>
                  <a:srgbClr val="000000"/>
                </a:solidFill>
                <a:latin typeface="Arial"/>
              </a:rPr>
              <a:t>проектная</a:t>
            </a:r>
            <a:r>
              <a:rPr lang="en-US" sz="900" b="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900" b="0" dirty="0">
                <a:solidFill>
                  <a:srgbClr val="000000"/>
                </a:solidFill>
                <a:latin typeface="Arial"/>
              </a:rPr>
              <a:t>таблица</a:t>
            </a:r>
            <a:r>
              <a:rPr lang="en-US" sz="900" b="0" dirty="0">
                <a:solidFill>
                  <a:srgbClr val="000000"/>
                </a:solidFill>
                <a:latin typeface="Arial"/>
              </a:rPr>
              <a:t> ORM, </a:t>
            </a:r>
            <a:r>
              <a:rPr lang="ru-RU" sz="900" b="0" dirty="0">
                <a:solidFill>
                  <a:srgbClr val="000000"/>
                </a:solidFill>
                <a:latin typeface="Arial"/>
              </a:rPr>
              <a:t>лист «Рейтинги».</a:t>
            </a:r>
            <a:endParaRPr sz="9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16A75B-4CB4-F04F-8B58-6DEB6234180C}"/>
              </a:ext>
            </a:extLst>
          </p:cNvPr>
          <p:cNvSpPr txBox="1"/>
          <p:nvPr/>
        </p:nvSpPr>
        <p:spPr>
          <a:xfrm>
            <a:off x="457200" y="2788920"/>
            <a:ext cx="3703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Arial"/>
              </a:rPr>
              <a:t>Тональность площадок с отзывами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2592EF-FEE8-A7FF-853F-9067EFC29121}"/>
              </a:ext>
            </a:extLst>
          </p:cNvPr>
          <p:cNvSpPr txBox="1"/>
          <p:nvPr/>
        </p:nvSpPr>
        <p:spPr>
          <a:xfrm>
            <a:off x="4160520" y="2788920"/>
            <a:ext cx="35204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Arial"/>
              </a:rPr>
              <a:t>Площадки публикации отзывов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BC25F5-CA64-494D-B9A8-9C0A7C84D909}"/>
              </a:ext>
            </a:extLst>
          </p:cNvPr>
          <p:cNvSpPr txBox="1"/>
          <p:nvPr/>
        </p:nvSpPr>
        <p:spPr>
          <a:xfrm>
            <a:off x="7818120" y="2788920"/>
            <a:ext cx="370332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Количество отзывов на сайтах в топ-20 по запросам бренда</a:t>
            </a:r>
            <a:endParaRPr lang="ru-RU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25879" y="3746672"/>
            <a:ext cx="1823961" cy="16621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u="none" dirty="0">
                <a:solidFill>
                  <a:srgbClr val="333333"/>
                </a:solidFill>
                <a:latin typeface="Arial"/>
              </a:rPr>
              <a:t>www.megapteka.ru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+2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u="none" dirty="0">
                <a:solidFill>
                  <a:srgbClr val="333333"/>
                </a:solidFill>
                <a:latin typeface="Arial"/>
              </a:rPr>
              <a:t>medum.ru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+2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u="none" dirty="0">
                <a:solidFill>
                  <a:srgbClr val="333333"/>
                </a:solidFill>
                <a:latin typeface="Arial"/>
              </a:rPr>
              <a:t>ru.otzyv.com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+1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u="none" dirty="0">
                <a:solidFill>
                  <a:srgbClr val="333333"/>
                </a:solidFill>
                <a:latin typeface="Arial"/>
              </a:rPr>
              <a:t>vseotzyvy.ru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+1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u="none" dirty="0">
                <a:solidFill>
                  <a:srgbClr val="333333"/>
                </a:solidFill>
                <a:latin typeface="Arial"/>
              </a:rPr>
              <a:t>med-otzyv.ru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+1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u="none" dirty="0">
                <a:solidFill>
                  <a:srgbClr val="333333"/>
                </a:solidFill>
                <a:latin typeface="Arial"/>
              </a:rPr>
              <a:t>www.uteka.ru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+1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0" y="334518"/>
            <a:ext cx="884858" cy="569387"/>
          </a:xfrm>
          <a:prstGeom prst="rect">
            <a:avLst/>
          </a:prstGeom>
          <a:noFill/>
        </p:spPr>
        <p:txBody>
          <a:bodyPr wrap="none" lIns="25400" tIns="25400" rIns="25400" bIns="254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dirty="0">
                <a:solidFill>
                  <a:srgbClr val="333333"/>
                </a:solidFill>
                <a:latin typeface="Arial"/>
              </a:rPr>
              <a:t>4,</a:t>
            </a:r>
            <a:r>
              <a:rPr lang="ru-RU" sz="1800" b="1" dirty="0">
                <a:solidFill>
                  <a:srgbClr val="333333"/>
                </a:solidFill>
                <a:latin typeface="Arial"/>
              </a:rPr>
              <a:t>8</a:t>
            </a:r>
            <a:endParaRPr sz="1800" b="1" dirty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100"/>
              </a:spcAft>
            </a:pPr>
            <a:r>
              <a:rPr sz="700" b="0" dirty="0">
                <a:solidFill>
                  <a:srgbClr val="666666"/>
                </a:solidFill>
                <a:latin typeface="Arial"/>
              </a:rPr>
              <a:t>СРЕДНЯЯ ОЦЕНКА</a:t>
            </a:r>
          </a:p>
          <a:p>
            <a:pPr algn="l">
              <a:spcAft>
                <a:spcPts val="0"/>
              </a:spcAft>
            </a:pPr>
            <a:r>
              <a:rPr sz="700" b="0" dirty="0">
                <a:solidFill>
                  <a:srgbClr val="999999"/>
                </a:solidFill>
                <a:latin typeface="Arial"/>
              </a:rPr>
              <a:t>Май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445" y="334518"/>
            <a:ext cx="3154680" cy="56938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dirty="0">
                <a:solidFill>
                  <a:srgbClr val="333333"/>
                </a:solidFill>
                <a:latin typeface="Arial"/>
              </a:rPr>
              <a:t>7 740 → 7 889</a:t>
            </a:r>
          </a:p>
          <a:p>
            <a:pPr algn="l">
              <a:spcAft>
                <a:spcPts val="100"/>
              </a:spcAft>
            </a:pPr>
            <a:r>
              <a:rPr sz="700" b="0" dirty="0">
                <a:solidFill>
                  <a:srgbClr val="666666"/>
                </a:solidFill>
                <a:latin typeface="Arial"/>
              </a:rPr>
              <a:t>ОТЗЫВЫ БЫЛО / СТАЛО</a:t>
            </a:r>
          </a:p>
          <a:p>
            <a:pPr algn="l">
              <a:spcAft>
                <a:spcPts val="0"/>
              </a:spcAft>
            </a:pPr>
            <a:r>
              <a:rPr sz="700" b="0" dirty="0">
                <a:solidFill>
                  <a:srgbClr val="999999"/>
                </a:solidFill>
                <a:latin typeface="Arial"/>
              </a:rPr>
              <a:t>+149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0390" y="334518"/>
            <a:ext cx="3154680" cy="56938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dirty="0">
                <a:solidFill>
                  <a:srgbClr val="333333"/>
                </a:solidFill>
                <a:latin typeface="Arial"/>
              </a:rPr>
              <a:t>8</a:t>
            </a:r>
          </a:p>
          <a:p>
            <a:pPr algn="l">
              <a:spcAft>
                <a:spcPts val="100"/>
              </a:spcAft>
            </a:pPr>
            <a:r>
              <a:rPr sz="700" b="0" dirty="0">
                <a:solidFill>
                  <a:srgbClr val="666666"/>
                </a:solidFill>
                <a:latin typeface="Arial"/>
              </a:rPr>
              <a:t>РАЗМЕЩЕНО АГЕНТСТВОМ</a:t>
            </a:r>
          </a:p>
          <a:p>
            <a:pPr algn="l">
              <a:spcAft>
                <a:spcPts val="0"/>
              </a:spcAft>
            </a:pPr>
            <a:r>
              <a:rPr sz="700" b="0" dirty="0">
                <a:solidFill>
                  <a:srgbClr val="999999"/>
                </a:solidFill>
                <a:latin typeface="Arial"/>
              </a:rPr>
              <a:t>Мегаптека, medum.ru</a:t>
            </a:r>
            <a:r>
              <a:rPr lang="ru-RU" sz="700" dirty="0">
                <a:solidFill>
                  <a:srgbClr val="999999"/>
                </a:solidFill>
                <a:latin typeface="Arial"/>
              </a:rPr>
              <a:t> и др.</a:t>
            </a:r>
            <a:endParaRPr sz="700" b="0" dirty="0">
              <a:solidFill>
                <a:srgbClr val="999999"/>
              </a:solidFill>
              <a:latin typeface="Arial"/>
            </a:endParaRPr>
          </a:p>
        </p:txBody>
      </p:sp>
      <p:graphicFrame>
        <p:nvGraphicFramePr>
          <p:cNvPr id="22" name="Диаграмма 19">
            <a:extLst>
              <a:ext uri="{FF2B5EF4-FFF2-40B4-BE49-F238E27FC236}">
                <a16:creationId xmlns:a16="http://schemas.microsoft.com/office/drawing/2014/main" id="{6A37C9AB-D9F6-60F1-A357-58289CC887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8442145"/>
              </p:ext>
            </p:extLst>
          </p:nvPr>
        </p:nvGraphicFramePr>
        <p:xfrm>
          <a:off x="457200" y="2985056"/>
          <a:ext cx="37033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ACC9639C-684E-574A-8835-629CFD1AA838}"/>
              </a:ext>
            </a:extLst>
          </p:cNvPr>
          <p:cNvSpPr txBox="1"/>
          <p:nvPr/>
        </p:nvSpPr>
        <p:spPr>
          <a:xfrm>
            <a:off x="365760" y="1307592"/>
            <a:ext cx="103536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По итогам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мая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в выдаче Яндекса и Google сохраняется положительная репутация бренда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доля 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позитивных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карточек с отзывами о 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Бактоблис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составляет 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84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%;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площадки без отзывов – отзовики и аптеки (работа по ним не ведется).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Средний рейтинг в карточках бренда по итогам мая 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4,8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балла.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В мае опубликовано 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8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отзывов в е-ком аптеках и на отзовиках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Uteka, Megapteka, Medum.ru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других.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endParaRPr lang="ru-RU" sz="11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Количество отзывов на сайтах в топ-20 по запросам бренда на конец мая составило</a:t>
            </a:r>
            <a:r>
              <a:rPr lang="ru-RU" sz="11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7889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(+149 к началу мая), </a:t>
            </a:r>
            <a:r>
              <a:rPr lang="ru-RU" sz="110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наибольший прирост н </a:t>
            </a:r>
            <a:r>
              <a:rPr lang="en-US" sz="1100" b="0" dirty="0">
                <a:solidFill>
                  <a:srgbClr val="000000"/>
                </a:solidFill>
                <a:latin typeface="Arial"/>
              </a:rPr>
              <a:t>Ozon (+115)</a:t>
            </a:r>
            <a:r>
              <a:rPr lang="ru-RU" sz="1100" b="0" dirty="0">
                <a:solidFill>
                  <a:srgbClr val="000000"/>
                </a:solidFill>
                <a:latin typeface="Arial"/>
              </a:rPr>
              <a:t>.</a:t>
            </a:r>
            <a:endParaRPr lang="ru-RU" sz="11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5522429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/>
          <p:cNvSpPr txBox="1">
            <a:spLocks/>
          </p:cNvSpPr>
          <p:nvPr/>
        </p:nvSpPr>
        <p:spPr>
          <a:xfrm>
            <a:off x="361950" y="651287"/>
            <a:ext cx="5962650" cy="5806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700" b="0" i="0" u="none" strike="noStrike" kern="1200" cap="all" spc="0" normalizeH="0" baseline="0" noProof="0" dirty="0">
              <a:ln>
                <a:noFill/>
              </a:ln>
              <a:solidFill>
                <a:srgbClr val="9D00EA"/>
              </a:solidFill>
              <a:effectLst/>
              <a:uLnTx/>
              <a:uFillTx/>
              <a:latin typeface="HelveticaNeueCyr" pitchFamily="50" charset="-52"/>
              <a:ea typeface="+mj-ea"/>
              <a:cs typeface="+mj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B19538-2778-403D-AD85-4271CE4E4910}"/>
              </a:ext>
            </a:extLst>
          </p:cNvPr>
          <p:cNvSpPr/>
          <p:nvPr/>
        </p:nvSpPr>
        <p:spPr>
          <a:xfrm>
            <a:off x="0" y="611188"/>
            <a:ext cx="92075" cy="4651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Futura 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1280160"/>
            <a:ext cx="2066543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2679191" y="1280160"/>
            <a:ext cx="2066543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4901182" y="1280160"/>
            <a:ext cx="2066543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7123173" y="1280160"/>
            <a:ext cx="2066543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Rectangle 28"/>
          <p:cNvSpPr/>
          <p:nvPr/>
        </p:nvSpPr>
        <p:spPr>
          <a:xfrm>
            <a:off x="9345164" y="1280160"/>
            <a:ext cx="2066543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6D0CDDD-2809-42E4-B9CE-334F8812917A}"/>
              </a:ext>
            </a:extLst>
          </p:cNvPr>
          <p:cNvSpPr txBox="1">
            <a:spLocks/>
          </p:cNvSpPr>
          <p:nvPr/>
        </p:nvSpPr>
        <p:spPr>
          <a:xfrm>
            <a:off x="361950" y="651287"/>
            <a:ext cx="11155680" cy="5806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800" b="0" dirty="0">
                <a:solidFill>
                  <a:srgbClr val="000000"/>
                </a:solidFill>
                <a:latin typeface="Arial"/>
              </a:rPr>
              <a:t>ВЫВОДЫ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44FF08-5D30-4679-9DFD-30A794818C6F}"/>
              </a:ext>
            </a:extLst>
          </p:cNvPr>
          <p:cNvSpPr/>
          <p:nvPr/>
        </p:nvSpPr>
        <p:spPr>
          <a:xfrm>
            <a:off x="457200" y="2331720"/>
            <a:ext cx="10720873" cy="3503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Clr>
                <a:srgbClr val="00B0F0"/>
              </a:buClr>
              <a:buSzPct val="150000"/>
              <a:buFont typeface="Wingdings" pitchFamily="2" charset="2"/>
              <a:buChar char="§"/>
            </a:pPr>
            <a:r>
              <a:rPr lang="ru-RU" sz="1200" b="1" dirty="0">
                <a:solidFill>
                  <a:srgbClr val="000000"/>
                </a:solidFill>
                <a:latin typeface="Arial"/>
              </a:rPr>
              <a:t>Бактоблис вышел на уверенное второе место в группе прямых конкурентов. </a:t>
            </a:r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Доля голоса бренда SOV в мае составила 27,8%</a:t>
            </a:r>
            <a:r>
              <a:rPr lang="ru-RU" sz="1200" b="0" dirty="0">
                <a:solidFill>
                  <a:srgbClr val="000000"/>
                </a:solidFill>
                <a:latin typeface="Arial"/>
              </a:rPr>
              <a:t>,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что на 15,9 п.п. выше органического уровня без учета кампании.</a:t>
            </a:r>
            <a:r>
              <a:rPr lang="ru-RU" sz="1200" b="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1200" b="1" dirty="0">
                <a:solidFill>
                  <a:srgbClr val="000000"/>
                </a:solidFill>
                <a:latin typeface="Arial"/>
              </a:rPr>
              <a:t>Имудон</a:t>
            </a:r>
            <a:r>
              <a:rPr lang="ru-RU" sz="1200" b="0" dirty="0">
                <a:solidFill>
                  <a:srgbClr val="000000"/>
                </a:solidFill>
                <a:latin typeface="Arial"/>
              </a:rPr>
              <a:t> лидирует в категории: 180 сообщений и SOV 46,3%, разрыв с </a:t>
            </a:r>
            <a:r>
              <a:rPr lang="ru-RU" sz="1200" b="1" dirty="0">
                <a:solidFill>
                  <a:srgbClr val="000000"/>
                </a:solidFill>
                <a:latin typeface="Arial"/>
              </a:rPr>
              <a:t>Бактоблисом</a:t>
            </a:r>
            <a:r>
              <a:rPr lang="ru-RU" sz="1200" b="0" dirty="0">
                <a:solidFill>
                  <a:srgbClr val="000000"/>
                </a:solidFill>
                <a:latin typeface="Arial"/>
              </a:rPr>
              <a:t> составляет 1,7×.		</a:t>
            </a:r>
          </a:p>
          <a:p>
            <a:pPr marL="285750" indent="-285750" algn="just">
              <a:spcAft>
                <a:spcPts val="800"/>
              </a:spcAft>
              <a:buClr>
                <a:srgbClr val="00B0F0"/>
              </a:buClr>
              <a:buSzPct val="150000"/>
              <a:buFont typeface="Wingdings" pitchFamily="2" charset="2"/>
              <a:buChar char="§"/>
            </a:pPr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64% упоминаний в категории составляют обсуждения в соцсетях и мессенджерах, еще 25%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 отзывы (в первую очередь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Wildberries</a:t>
            </a:r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. В мае наибольший упор в посеве был сделан на сообщества и контент, связанный с обсуждением детских ЛОР-заболеваний, также проблем с голосом и горлом. </a:t>
            </a:r>
          </a:p>
          <a:p>
            <a:pPr marL="285750" indent="-285750" algn="just">
              <a:spcAft>
                <a:spcPts val="800"/>
              </a:spcAft>
              <a:buClr>
                <a:srgbClr val="00B0F0"/>
              </a:buClr>
              <a:buSzPct val="150000"/>
              <a:buFont typeface="Wingdings" pitchFamily="2" charset="2"/>
              <a:buChar char="§"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Тональность сообщений о бренде преимущественно </a:t>
            </a:r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позитивная (64%, 69 сообщений). 2 негативных сообщения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нейтрализованы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и отображены отдельным блоком в отчете. Пользователи отмечают удобство применения,и общий положительный эффект от использования </a:t>
            </a:r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Бактоблис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Clr>
                <a:srgbClr val="00B0F0"/>
              </a:buClr>
              <a:buSzPct val="150000"/>
              <a:buFont typeface="Wingdings" pitchFamily="2" charset="2"/>
              <a:buChar char="§"/>
            </a:pPr>
            <a:r>
              <a:rPr sz="1200" b="0" dirty="0">
                <a:solidFill>
                  <a:srgbClr val="000000"/>
                </a:solidFill>
                <a:latin typeface="Arial"/>
              </a:rPr>
              <a:t>Авторы агентства активно участвуют в пользовательских обсуждениях, поддерживают репутацию бренда 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Бактоблис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и формируют знание о продукте в пользовательских контекстах. В мае опубликовано </a:t>
            </a:r>
            <a:r>
              <a:rPr lang="ru-RU" sz="1200" b="1" dirty="0">
                <a:solidFill>
                  <a:srgbClr val="000000"/>
                </a:solidFill>
                <a:latin typeface="Arial"/>
              </a:rPr>
              <a:t>62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 комментари</a:t>
            </a:r>
            <a:r>
              <a:rPr lang="ru-RU" sz="1200" b="1" dirty="0">
                <a:solidFill>
                  <a:srgbClr val="000000"/>
                </a:solidFill>
                <a:latin typeface="Arial"/>
              </a:rPr>
              <a:t>я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в обсуждениях в социальных сетях, чатах, на форумах, в комментариях к статьям и видео, а также 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8 отзывов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на отзывных площадках и маркетплейсах. Материалы получили 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4 375 859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просмотров.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Clr>
                <a:srgbClr val="00B0F0"/>
              </a:buClr>
              <a:buSzPct val="150000"/>
              <a:buFont typeface="Wingdings" pitchFamily="2" charset="2"/>
              <a:buChar char="§"/>
            </a:pPr>
            <a:r>
              <a:rPr lang="ru-RU" sz="1200" dirty="0">
                <a:solidFill>
                  <a:srgbClr val="000000"/>
                </a:solidFill>
                <a:latin typeface="Arial"/>
              </a:rPr>
              <a:t>Рекомендуем продолжать кампанию в обсуждениях симптоматики в тематических сообществах по теме здоровья / детей / взаимопомощи. Формировать знание о продукте как наиболее эффективном вспомогательном средстве по ряду медицинских проблем (ЛОР-заболевания детей и взрослых, проблемы с голосом и горлом, запах полости рта...).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3728" y="1316736"/>
            <a:ext cx="793487" cy="464230"/>
          </a:xfrm>
          <a:prstGeom prst="rect">
            <a:avLst/>
          </a:prstGeom>
          <a:noFill/>
        </p:spPr>
        <p:txBody>
          <a:bodyPr wrap="none" lIns="25400" tIns="25400" rIns="25400" bIns="2540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800" b="1" dirty="0">
                <a:solidFill>
                  <a:srgbClr val="333333"/>
                </a:solidFill>
                <a:latin typeface="Arial"/>
              </a:rPr>
              <a:t>108</a:t>
            </a:r>
          </a:p>
          <a:p>
            <a:pPr algn="ctr">
              <a:spcAft>
                <a:spcPts val="100"/>
              </a:spcAft>
            </a:pPr>
            <a:r>
              <a:rPr sz="800" b="0" dirty="0">
                <a:solidFill>
                  <a:srgbClr val="666666"/>
                </a:solidFill>
                <a:latin typeface="Arial"/>
              </a:rPr>
              <a:t>УПОМИНАНИ</a:t>
            </a:r>
            <a:r>
              <a:rPr lang="ru-RU" sz="800" b="0" dirty="0">
                <a:solidFill>
                  <a:srgbClr val="666666"/>
                </a:solidFill>
                <a:latin typeface="Arial"/>
              </a:rPr>
              <a:t>Й</a:t>
            </a:r>
            <a:endParaRPr sz="800" b="0" dirty="0">
              <a:solidFill>
                <a:srgbClr val="666666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634445" y="1316736"/>
            <a:ext cx="2156039" cy="600164"/>
          </a:xfrm>
          <a:prstGeom prst="rect">
            <a:avLst/>
          </a:prstGeom>
          <a:noFill/>
        </p:spPr>
        <p:txBody>
          <a:bodyPr wrap="none" lIns="25400" tIns="25400" rIns="25400" bIns="2540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lang="ru-RU" sz="1800" b="1" dirty="0">
                <a:solidFill>
                  <a:srgbClr val="333333"/>
                </a:solidFill>
                <a:latin typeface="Arial"/>
              </a:rPr>
              <a:t>93</a:t>
            </a:r>
            <a:r>
              <a:rPr sz="1800" b="1" dirty="0">
                <a:solidFill>
                  <a:srgbClr val="333333"/>
                </a:solidFill>
                <a:latin typeface="Arial"/>
              </a:rPr>
              <a:t>,</a:t>
            </a:r>
            <a:r>
              <a:rPr lang="ru-RU" sz="1800" b="1" dirty="0">
                <a:solidFill>
                  <a:srgbClr val="333333"/>
                </a:solidFill>
                <a:latin typeface="Arial"/>
              </a:rPr>
              <a:t>6</a:t>
            </a:r>
            <a:r>
              <a:rPr sz="1800" b="1" dirty="0">
                <a:solidFill>
                  <a:srgbClr val="333333"/>
                </a:solidFill>
                <a:latin typeface="Arial"/>
              </a:rPr>
              <a:t>%</a:t>
            </a:r>
          </a:p>
          <a:p>
            <a:pPr algn="ctr">
              <a:spcAft>
                <a:spcPts val="100"/>
              </a:spcAft>
            </a:pPr>
            <a:r>
              <a:rPr lang="ru-RU" sz="800" b="0" dirty="0">
                <a:solidFill>
                  <a:srgbClr val="666666"/>
                </a:solidFill>
                <a:latin typeface="Arial"/>
              </a:rPr>
              <a:t>ИНДЕКС ЛОЯЛЬНОСТИ</a:t>
            </a:r>
            <a:endParaRPr sz="800" b="0" dirty="0">
              <a:solidFill>
                <a:srgbClr val="666666"/>
              </a:solidFill>
              <a:latin typeface="Arial"/>
            </a:endParaRPr>
          </a:p>
          <a:p>
            <a:pPr algn="ctr">
              <a:spcAft>
                <a:spcPts val="0"/>
              </a:spcAft>
            </a:pPr>
            <a:r>
              <a:rPr lang="ru-RU" sz="800" b="0" dirty="0">
                <a:solidFill>
                  <a:srgbClr val="999999"/>
                </a:solidFill>
                <a:latin typeface="Arial"/>
              </a:rPr>
              <a:t>34 позитивных упоминания на 1 негативное</a:t>
            </a:r>
            <a:endParaRPr sz="800" b="0" dirty="0">
              <a:solidFill>
                <a:srgbClr val="999999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383021" y="1316736"/>
            <a:ext cx="1102866" cy="600164"/>
          </a:xfrm>
          <a:prstGeom prst="rect">
            <a:avLst/>
          </a:prstGeom>
          <a:noFill/>
        </p:spPr>
        <p:txBody>
          <a:bodyPr wrap="none" lIns="25400" tIns="25400" rIns="25400" bIns="2540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lang="ru-RU" sz="1800" b="1" dirty="0">
                <a:solidFill>
                  <a:srgbClr val="333333"/>
                </a:solidFill>
                <a:latin typeface="Arial"/>
              </a:rPr>
              <a:t>1</a:t>
            </a:r>
            <a:r>
              <a:rPr sz="1800" b="1" dirty="0">
                <a:solidFill>
                  <a:srgbClr val="333333"/>
                </a:solidFill>
                <a:latin typeface="Arial"/>
              </a:rPr>
              <a:t>1,</a:t>
            </a:r>
            <a:r>
              <a:rPr lang="ru-RU" sz="1800" b="1" dirty="0">
                <a:solidFill>
                  <a:srgbClr val="333333"/>
                </a:solidFill>
                <a:latin typeface="Arial"/>
              </a:rPr>
              <a:t>9</a:t>
            </a:r>
            <a:r>
              <a:rPr sz="1800" b="1" dirty="0">
                <a:solidFill>
                  <a:srgbClr val="333333"/>
                </a:solidFill>
                <a:latin typeface="Arial"/>
              </a:rPr>
              <a:t>%</a:t>
            </a:r>
          </a:p>
          <a:p>
            <a:pPr algn="ctr">
              <a:spcAft>
                <a:spcPts val="100"/>
              </a:spcAft>
            </a:pPr>
            <a:r>
              <a:rPr lang="en-US" sz="800" b="0" dirty="0">
                <a:solidFill>
                  <a:srgbClr val="666666"/>
                </a:solidFill>
                <a:latin typeface="Arial"/>
              </a:rPr>
              <a:t>SOV </a:t>
            </a:r>
            <a:r>
              <a:rPr sz="800" b="0" dirty="0">
                <a:solidFill>
                  <a:srgbClr val="666666"/>
                </a:solidFill>
                <a:latin typeface="Arial"/>
              </a:rPr>
              <a:t>БЕЗ КАМПАНИИ</a:t>
            </a:r>
          </a:p>
          <a:p>
            <a:pPr algn="ctr">
              <a:spcAft>
                <a:spcPts val="0"/>
              </a:spcAft>
            </a:pPr>
            <a:r>
              <a:rPr lang="ru-RU" sz="800" b="0" dirty="0">
                <a:solidFill>
                  <a:srgbClr val="999999"/>
                </a:solidFill>
                <a:latin typeface="Arial"/>
              </a:rPr>
              <a:t>3</a:t>
            </a:r>
            <a:r>
              <a:rPr sz="800" b="0" dirty="0">
                <a:solidFill>
                  <a:srgbClr val="999999"/>
                </a:solidFill>
                <a:latin typeface="Arial"/>
              </a:rPr>
              <a:t>8 упоминаний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3064" y="1316736"/>
            <a:ext cx="1046761" cy="600164"/>
          </a:xfrm>
          <a:prstGeom prst="rect">
            <a:avLst/>
          </a:prstGeom>
          <a:noFill/>
        </p:spPr>
        <p:txBody>
          <a:bodyPr wrap="none" lIns="25400" tIns="25400" rIns="25400" bIns="2540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800" b="1" dirty="0">
                <a:solidFill>
                  <a:srgbClr val="333333"/>
                </a:solidFill>
                <a:latin typeface="Arial"/>
              </a:rPr>
              <a:t>27,8%</a:t>
            </a:r>
          </a:p>
          <a:p>
            <a:pPr algn="ctr">
              <a:spcAft>
                <a:spcPts val="100"/>
              </a:spcAft>
            </a:pPr>
            <a:r>
              <a:rPr lang="en-US" sz="800" b="0" dirty="0">
                <a:solidFill>
                  <a:srgbClr val="666666"/>
                </a:solidFill>
                <a:latin typeface="Arial"/>
              </a:rPr>
              <a:t>SOV </a:t>
            </a:r>
            <a:r>
              <a:rPr sz="800" b="0" dirty="0">
                <a:solidFill>
                  <a:srgbClr val="666666"/>
                </a:solidFill>
                <a:latin typeface="Arial"/>
              </a:rPr>
              <a:t>С КАМПАНИЕЙ</a:t>
            </a:r>
          </a:p>
          <a:p>
            <a:pPr algn="ctr">
              <a:spcAft>
                <a:spcPts val="0"/>
              </a:spcAft>
            </a:pPr>
            <a:r>
              <a:rPr sz="800" b="0" dirty="0">
                <a:solidFill>
                  <a:srgbClr val="999999"/>
                </a:solidFill>
                <a:latin typeface="Arial"/>
              </a:rPr>
              <a:t>108 упоминаний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6927" y="1316736"/>
            <a:ext cx="1183016" cy="600164"/>
          </a:xfrm>
          <a:prstGeom prst="rect">
            <a:avLst/>
          </a:prstGeom>
          <a:noFill/>
        </p:spPr>
        <p:txBody>
          <a:bodyPr wrap="none" lIns="25400" tIns="25400" rIns="25400" bIns="2540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800" b="1" dirty="0">
                <a:solidFill>
                  <a:srgbClr val="333333"/>
                </a:solidFill>
                <a:latin typeface="Arial"/>
              </a:rPr>
              <a:t>+</a:t>
            </a:r>
            <a:r>
              <a:rPr lang="ru-RU" sz="1800" b="1" dirty="0">
                <a:solidFill>
                  <a:srgbClr val="333333"/>
                </a:solidFill>
                <a:latin typeface="Arial"/>
              </a:rPr>
              <a:t>1</a:t>
            </a:r>
            <a:r>
              <a:rPr sz="1800" b="1" dirty="0">
                <a:solidFill>
                  <a:srgbClr val="333333"/>
                </a:solidFill>
                <a:latin typeface="Arial"/>
              </a:rPr>
              <a:t>8</a:t>
            </a:r>
            <a:r>
              <a:rPr lang="ru-RU" sz="1800" b="1" dirty="0">
                <a:solidFill>
                  <a:srgbClr val="333333"/>
                </a:solidFill>
                <a:latin typeface="Arial"/>
              </a:rPr>
              <a:t>4</a:t>
            </a:r>
            <a:r>
              <a:rPr sz="1800" b="1" dirty="0">
                <a:solidFill>
                  <a:srgbClr val="333333"/>
                </a:solidFill>
                <a:latin typeface="Arial"/>
              </a:rPr>
              <a:t>%</a:t>
            </a:r>
          </a:p>
          <a:p>
            <a:pPr algn="ctr">
              <a:spcAft>
                <a:spcPts val="100"/>
              </a:spcAft>
            </a:pPr>
            <a:r>
              <a:rPr lang="ru-RU" sz="800" b="0" dirty="0">
                <a:solidFill>
                  <a:srgbClr val="666666"/>
                </a:solidFill>
                <a:latin typeface="Arial"/>
              </a:rPr>
              <a:t>ПРИРОСТ ИНФОПОЛЯ</a:t>
            </a:r>
            <a:endParaRPr sz="800" b="0" dirty="0">
              <a:solidFill>
                <a:srgbClr val="666666"/>
              </a:solidFill>
              <a:latin typeface="Arial"/>
            </a:endParaRPr>
          </a:p>
          <a:p>
            <a:pPr algn="ctr">
              <a:spcAft>
                <a:spcPts val="0"/>
              </a:spcAft>
            </a:pPr>
            <a:r>
              <a:rPr lang="ru-RU" sz="800" b="0" dirty="0">
                <a:solidFill>
                  <a:srgbClr val="999999"/>
                </a:solidFill>
                <a:latin typeface="Arial"/>
              </a:rPr>
              <a:t>за счет кампании</a:t>
            </a:r>
            <a:endParaRPr sz="800" b="0" dirty="0">
              <a:solidFill>
                <a:srgbClr val="99999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71008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Yu Gothic Light"/>
      <a:font script="Hang" typeface="맑은 고딕"/>
      <a:font script="Hans" typeface="DengXian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Yu Gothic"/>
      <a:font script="Hang" typeface="맑은 고딕"/>
      <a:font script="Hans" typeface="DengXian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35758</TotalTime>
  <Words>1510</Words>
  <Application>Microsoft Office PowerPoint</Application>
  <PresentationFormat>Widescreen</PresentationFormat>
  <Paragraphs>229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Futura </vt:lpstr>
      <vt:lpstr>FuturaFuturisC</vt:lpstr>
      <vt:lpstr>Helvetica Neue</vt:lpstr>
      <vt:lpstr>HelveticaNeueCyr</vt:lpstr>
      <vt:lpstr>Poppins</vt:lpstr>
      <vt:lpstr>Wingdings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Microsoft Office</dc:creator>
  <cp:lastModifiedBy>Ruslan Ivanov</cp:lastModifiedBy>
  <cp:revision>1113</cp:revision>
  <dcterms:created xsi:type="dcterms:W3CDTF">2019-02-15T00:40:51Z</dcterms:created>
  <dcterms:modified xsi:type="dcterms:W3CDTF">2026-06-10T09:51:40Z</dcterms:modified>
</cp:coreProperties>
</file>