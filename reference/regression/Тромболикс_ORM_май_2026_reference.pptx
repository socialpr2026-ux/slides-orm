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theme/themeOverride1.xml" ContentType="application/vnd.openxmlformats-officedocument.themeOverr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9.xml" ContentType="application/vnd.openxmlformats-officedocument.drawingml.chart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1294" r:id="rId3"/>
    <p:sldId id="2147480947" r:id="rId4"/>
    <p:sldId id="2147480944" r:id="rId5"/>
    <p:sldId id="2147480948" r:id="rId6"/>
    <p:sldId id="6961" r:id="rId7"/>
    <p:sldId id="1371" r:id="rId8"/>
    <p:sldId id="6955" r:id="rId9"/>
    <p:sldId id="2147470308" r:id="rId10"/>
    <p:sldId id="2147480950" r:id="rId11"/>
    <p:sldId id="2147480949" r:id="rId12"/>
    <p:sldId id="131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2C81222-2513-0B40-AF81-B4C9A7ED8FCB}">
          <p14:sldIdLst>
            <p14:sldId id="256"/>
            <p14:sldId id="1294"/>
            <p14:sldId id="2147480947"/>
            <p14:sldId id="2147480944"/>
            <p14:sldId id="2147480948"/>
            <p14:sldId id="6961"/>
            <p14:sldId id="1371"/>
            <p14:sldId id="6955"/>
            <p14:sldId id="2147470308"/>
            <p14:sldId id="2147480950"/>
            <p14:sldId id="2147480949"/>
            <p14:sldId id="1313"/>
          </p14:sldIdLst>
        </p14:section>
      </p14:sectionLst>
    </p:ext>
    <p:ext uri="{EFAFB233-063F-42B5-8137-9DF3F51BA10A}">
      <p15:sldGuideLst xmlns:p15="http://schemas.microsoft.com/office/powerpoint/2012/main">
        <p15:guide id="1" pos="302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orient="horz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2096F3"/>
    <a:srgbClr val="DEEBF7"/>
    <a:srgbClr val="2196F3"/>
    <a:srgbClr val="FFFFFF"/>
    <a:srgbClr val="481E67"/>
    <a:srgbClr val="D9D9D9"/>
    <a:srgbClr val="BFBFBF"/>
    <a:srgbClr val="481F67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6301" autoAdjust="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>
        <p:guide pos="302"/>
        <p:guide pos="7423"/>
        <p:guide orient="horz" pos="2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7"/>
    </p:cViewPr>
  </p:sorterViewPr>
  <p:notesViewPr>
    <p:cSldViewPr snapToGrid="0" snapToObjects="1">
      <p:cViewPr varScale="1">
        <p:scale>
          <a:sx n="62" d="100"/>
          <a:sy n="62" d="100"/>
        </p:scale>
        <p:origin x="313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Органика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156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4E-4666-B5EF-73E74BB22F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Кампания</c:v>
                </c:pt>
              </c:strCache>
            </c:strRef>
          </c:tx>
          <c:spPr>
            <a:solidFill>
              <a:srgbClr val="1F9BEA"/>
            </a:solidFill>
            <a:ln>
              <a:solidFill>
                <a:srgbClr val="1F9BEA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4E-4666-B5EF-73E74BB22FB1}"/>
                </c:ext>
              </c:extLst>
            </c:dLbl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57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F9BE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E4E-4666-B5EF-73E74BB22F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7438927496752299"/>
          <c:y val="5.6003584229390682E-2"/>
          <c:w val="0.7098699842917362"/>
          <c:h val="0.87679211469534046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Аудитория OTS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9D6-46AB-9DE1-0BAC507161FC}"/>
              </c:ext>
            </c:extLst>
          </c:dPt>
          <c:dPt>
            <c:idx val="1"/>
            <c:invertIfNegative val="1"/>
            <c:bubble3D val="0"/>
            <c:spPr>
              <a:solidFill>
                <a:srgbClr val="1F9BEA"/>
              </a:solidFill>
              <a:ln>
                <a:solidFill>
                  <a:srgbClr val="1F9BE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79D6-46AB-9DE1-0BAC507161FC}"/>
              </c:ext>
            </c:extLst>
          </c:dPt>
          <c:dLbls>
            <c:dLbl>
              <c:idx val="0"/>
              <c:layout>
                <c:manualLayout>
                  <c:x val="0"/>
                  <c:y val="8.8194620833686107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D6-46AB-9DE1-0BAC507161FC}"/>
                </c:ext>
              </c:extLst>
            </c:dLbl>
            <c:numFmt formatCode="#\ ##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7538731</c:v>
                </c:pt>
                <c:pt idx="1">
                  <c:v>4660016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9D6-46AB-9DE1-0BAC507161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упоминаний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D9D9D9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Диабетическая стопа:
симптомы и уход</c:v>
                </c:pt>
                <c:pt idx="1">
                  <c:v>Сахарный диабет и
сосудистые риски</c:v>
                </c:pt>
                <c:pt idx="2">
                  <c:v>Диабетическая стопа как
осложнение диабета</c:v>
                </c:pt>
                <c:pt idx="3">
                  <c:v>Медпомощь и
региональные программы</c:v>
                </c:pt>
                <c:pt idx="4">
                  <c:v>Маркетплейсы и отзывы о
средствах для стоп</c:v>
                </c:pt>
                <c:pt idx="5">
                  <c:v>Врачи, специальности и
маршрутизация</c:v>
                </c:pt>
                <c:pt idx="6">
                  <c:v>Нейропатия, препараты и
ожидание эффекта</c:v>
                </c:pt>
                <c:pt idx="7">
                  <c:v>Лимфостаз, варикоз и
тромбоз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948</c:v>
                </c:pt>
                <c:pt idx="1">
                  <c:v>456</c:v>
                </c:pt>
                <c:pt idx="2">
                  <c:v>213</c:v>
                </c:pt>
                <c:pt idx="3">
                  <c:v>204</c:v>
                </c:pt>
                <c:pt idx="4">
                  <c:v>195</c:v>
                </c:pt>
                <c:pt idx="5">
                  <c:v>49</c:v>
                </c:pt>
                <c:pt idx="6">
                  <c:v>39</c:v>
                </c:pt>
                <c:pt idx="7">
                  <c:v>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D9D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627-40AB-82B3-40B39DF53C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012922842479563"/>
          <c:y val="9.2006583904208836E-3"/>
          <c:w val="0.8909443513461982"/>
          <c:h val="0.8987927577053702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SOV</c:v>
                </c:pt>
              </c:strCache>
            </c:strRef>
          </c:tx>
          <c:dPt>
            <c:idx val="0"/>
            <c:bubble3D val="0"/>
            <c:spPr>
              <a:solidFill>
                <a:srgbClr val="D9D9D9"/>
              </a:solidFill>
              <a:ln>
                <a:solidFill>
                  <a:srgbClr val="D9D9D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646-45D7-A7EC-7D0A50AF2CCA}"/>
              </c:ext>
            </c:extLst>
          </c:dPt>
          <c:dPt>
            <c:idx val="1"/>
            <c:bubble3D val="0"/>
            <c:spPr>
              <a:solidFill>
                <a:srgbClr val="1F9BEA"/>
              </a:solidFill>
              <a:ln>
                <a:solidFill>
                  <a:srgbClr val="1F9BE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646-45D7-A7EC-7D0A50AF2CCA}"/>
              </c:ext>
            </c:extLst>
          </c:dPt>
          <c:dPt>
            <c:idx val="2"/>
            <c:bubble3D val="0"/>
            <c:spPr>
              <a:solidFill>
                <a:srgbClr val="8EA9DB"/>
              </a:solidFill>
              <a:ln>
                <a:solidFill>
                  <a:srgbClr val="8EA9D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646-45D7-A7EC-7D0A50AF2CCA}"/>
              </c:ext>
            </c:extLst>
          </c:dPt>
          <c:dPt>
            <c:idx val="3"/>
            <c:bubble3D val="0"/>
            <c:spPr>
              <a:solidFill>
                <a:srgbClr val="F4C7A3"/>
              </a:solidFill>
              <a:ln>
                <a:solidFill>
                  <a:srgbClr val="F4C7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646-45D7-A7EC-7D0A50AF2CCA}"/>
              </c:ext>
            </c:extLst>
          </c:dPt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156</c:v>
                </c:pt>
                <c:pt idx="1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646-45D7-A7EC-7D0A50AF2C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3233965798008033E-2"/>
          <c:y val="9.5632811909149809E-2"/>
          <c:w val="0.79494489576557748"/>
          <c:h val="0.7171069453779820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Без учета кампании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0.98734200000000005</c:v>
                </c:pt>
                <c:pt idx="1">
                  <c:v>1.2658000000000001E-2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FBFB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586-4288-A735-C19004DCFC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учетом кампании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0.72611940298507505</c:v>
                </c:pt>
                <c:pt idx="1">
                  <c:v>0.27388059701492501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586-4288-A735-C19004DCFC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000" b="0">
              <a:solidFill>
                <a:srgbClr val="333333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96618692980656E-2"/>
          <c:y val="0.1649641610433758"/>
          <c:w val="0.94806761915684046"/>
          <c:h val="0.5887736612589540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2.2760692821152031E-3"/>
                  <c:y val="-2.6546098467791109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FC1-5946-A5A5-98D7E842C8D6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B8-E34B-9621-4DD38DF2F1FB}"/>
                </c:ext>
              </c:extLst>
            </c:dLbl>
            <c:dLbl>
              <c:idx val="2"/>
              <c:layout>
                <c:manualLayout>
                  <c:x val="0"/>
                  <c:y val="-1.750162751355067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C1-5946-A5A5-98D7E842C8D6}"/>
                </c:ext>
              </c:extLst>
            </c:dLbl>
            <c:dLbl>
              <c:idx val="3"/>
              <c:layout>
                <c:manualLayout>
                  <c:x val="0"/>
                  <c:y val="-1.8319159552073833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FC1-5946-A5A5-98D7E842C8D6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B8-E34B-9621-4DD38DF2F1FB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E2D-48C4-BE81-9DBF9EF1964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2D-48C4-BE81-9DBF9EF1964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B8-E34B-9621-4DD38DF2F1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Нейтрал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D9D9D9"/>
              </a:solidFill>
            </a:ln>
            <a:effectLst/>
          </c:spPr>
          <c:invertIfNegative val="0"/>
          <c:dLbls>
            <c:dLbl>
              <c:idx val="1"/>
              <c:layout>
                <c:manualLayout>
                  <c:x val="2.9170309127183008E-3"/>
                  <c:y val="4.358741593549042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C9A-42BE-B5F9-90609F44D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73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B8-E34B-9621-4DD38DF2F1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Негатив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299886513305214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C1-5946-A5A5-98D7E842C8D6}"/>
                </c:ext>
              </c:extLst>
            </c:dLbl>
            <c:dLbl>
              <c:idx val="1"/>
              <c:layout>
                <c:manualLayout>
                  <c:x val="2.2759731743404949E-3"/>
                  <c:y val="-1.728189560642279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A90-1C40-9B16-8D6A2025702F}"/>
                </c:ext>
              </c:extLst>
            </c:dLbl>
            <c:dLbl>
              <c:idx val="2"/>
              <c:layout>
                <c:manualLayout>
                  <c:x val="0"/>
                  <c:y val="-4.2999976299225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DB8-E34B-9621-4DD38DF2F1FB}"/>
                </c:ext>
              </c:extLst>
            </c:dLbl>
            <c:dLbl>
              <c:idx val="3"/>
              <c:layout>
                <c:manualLayout>
                  <c:x val="0"/>
                  <c:y val="-4.021221119298309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DB8-E34B-9621-4DD38DF2F1FB}"/>
                </c:ext>
              </c:extLst>
            </c:dLbl>
            <c:dLbl>
              <c:idx val="4"/>
              <c:layout>
                <c:manualLayout>
                  <c:x val="0"/>
                  <c:y val="-3.40309261246863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DB8-E34B-9621-4DD38DF2F1F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DB8-E34B-9621-4DD38DF2F1FB}"/>
                </c:ext>
              </c:extLst>
            </c:dLbl>
            <c:dLbl>
              <c:idx val="6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DB8-E34B-9621-4DD38DF2F1FB}"/>
                </c:ext>
              </c:extLst>
            </c:dLbl>
            <c:dLbl>
              <c:idx val="7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DB8-E34B-9621-4DD38DF2F1FB}"/>
                </c:ext>
              </c:extLst>
            </c:dLbl>
            <c:dLbl>
              <c:idx val="8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E2D-48C4-BE81-9DBF9EF19646}"/>
                </c:ext>
              </c:extLst>
            </c:dLbl>
            <c:dLbl>
              <c:idx val="16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DB8-E34B-9621-4DD38DF2F1F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Вессел</c:v>
                </c:pt>
                <c:pt idx="1">
                  <c:v>Тромболикс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DB8-E34B-9621-4DD38DF2F1F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3"/>
        <c:overlap val="100"/>
        <c:axId val="113518080"/>
        <c:axId val="113519616"/>
      </c:barChart>
      <c:catAx>
        <c:axId val="11351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519616"/>
        <c:crosses val="autoZero"/>
        <c:auto val="1"/>
        <c:lblAlgn val="ctr"/>
        <c:lblOffset val="100"/>
        <c:noMultiLvlLbl val="0"/>
      </c:catAx>
      <c:valAx>
        <c:axId val="1135196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351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1"/>
      <c:txPr>
        <a:bodyPr/>
        <a:lstStyle/>
        <a:p>
          <a:pPr>
            <a:defRPr sz="1000" b="0">
              <a:solidFill>
                <a:srgbClr val="333333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latin typeface="Helvetica" pitchFamily="2" charset="0"/>
        </a:defRPr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423643963864502E-2"/>
          <c:y val="0.16353895496596235"/>
          <c:w val="0.88252410057574482"/>
          <c:h val="0.598626481586032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18 мая</c:v>
                </c:pt>
                <c:pt idx="16">
                  <c:v>19 мая</c:v>
                </c:pt>
                <c:pt idx="17">
                  <c:v>20 мая</c:v>
                </c:pt>
                <c:pt idx="18">
                  <c:v>21 мая</c:v>
                </c:pt>
                <c:pt idx="19">
                  <c:v>22 мая</c:v>
                </c:pt>
                <c:pt idx="20">
                  <c:v>25 мая</c:v>
                </c:pt>
                <c:pt idx="21">
                  <c:v>26 мая</c:v>
                </c:pt>
                <c:pt idx="22">
                  <c:v>27 мая</c:v>
                </c:pt>
                <c:pt idx="23">
                  <c:v>28 мая</c:v>
                </c:pt>
                <c:pt idx="24">
                  <c:v>29 мая</c:v>
                </c:pt>
                <c:pt idx="25">
                  <c:v>30 мая</c:v>
                </c:pt>
                <c:pt idx="26">
                  <c:v>31 мая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  <c:pt idx="6">
                  <c:v>5</c:v>
                </c:pt>
                <c:pt idx="7">
                  <c:v>4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4</c:v>
                </c:pt>
                <c:pt idx="12">
                  <c:v>3</c:v>
                </c:pt>
                <c:pt idx="13">
                  <c:v>4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4</c:v>
                </c:pt>
                <c:pt idx="18">
                  <c:v>1</c:v>
                </c:pt>
                <c:pt idx="19">
                  <c:v>3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2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D0-F04D-9812-EB776ED437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Нейтрал</c:v>
                </c:pt>
              </c:strCache>
            </c:strRef>
          </c:tx>
          <c:spPr>
            <a:ln w="28575" cap="rnd">
              <a:solidFill>
                <a:srgbClr val="D9D9D9"/>
              </a:solidFill>
              <a:round/>
            </a:ln>
            <a:effectLst/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18 мая</c:v>
                </c:pt>
                <c:pt idx="16">
                  <c:v>19 мая</c:v>
                </c:pt>
                <c:pt idx="17">
                  <c:v>20 мая</c:v>
                </c:pt>
                <c:pt idx="18">
                  <c:v>21 мая</c:v>
                </c:pt>
                <c:pt idx="19">
                  <c:v>22 мая</c:v>
                </c:pt>
                <c:pt idx="20">
                  <c:v>25 мая</c:v>
                </c:pt>
                <c:pt idx="21">
                  <c:v>26 мая</c:v>
                </c:pt>
                <c:pt idx="22">
                  <c:v>27 мая</c:v>
                </c:pt>
                <c:pt idx="23">
                  <c:v>28 мая</c:v>
                </c:pt>
                <c:pt idx="24">
                  <c:v>29 мая</c:v>
                </c:pt>
                <c:pt idx="25">
                  <c:v>30 мая</c:v>
                </c:pt>
                <c:pt idx="26">
                  <c:v>31 мая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D0-F04D-9812-EB776ED437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Негатив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18 мая</c:v>
                </c:pt>
                <c:pt idx="16">
                  <c:v>19 мая</c:v>
                </c:pt>
                <c:pt idx="17">
                  <c:v>20 мая</c:v>
                </c:pt>
                <c:pt idx="18">
                  <c:v>21 мая</c:v>
                </c:pt>
                <c:pt idx="19">
                  <c:v>22 мая</c:v>
                </c:pt>
                <c:pt idx="20">
                  <c:v>25 мая</c:v>
                </c:pt>
                <c:pt idx="21">
                  <c:v>26 мая</c:v>
                </c:pt>
                <c:pt idx="22">
                  <c:v>27 мая</c:v>
                </c:pt>
                <c:pt idx="23">
                  <c:v>28 мая</c:v>
                </c:pt>
                <c:pt idx="24">
                  <c:v>29 мая</c:v>
                </c:pt>
                <c:pt idx="25">
                  <c:v>30 мая</c:v>
                </c:pt>
                <c:pt idx="26">
                  <c:v>31 мая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AE5-4C1D-A987-553E828413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638400"/>
        <c:axId val="113648384"/>
      </c:lineChart>
      <c:dateAx>
        <c:axId val="113638400"/>
        <c:scaling>
          <c:orientation val="minMax"/>
        </c:scaling>
        <c:delete val="0"/>
        <c:axPos val="b"/>
        <c:numFmt formatCode="[$-419]d\ mm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648384"/>
        <c:crosses val="autoZero"/>
        <c:auto val="1"/>
        <c:lblOffset val="100"/>
        <c:baseTimeUnit val="days"/>
        <c:majorUnit val="1"/>
        <c:majorTimeUnit val="days"/>
        <c:minorUnit val="5"/>
        <c:minorTimeUnit val="days"/>
      </c:dateAx>
      <c:valAx>
        <c:axId val="113648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63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27259406333207"/>
          <c:y val="0.92278094577828418"/>
          <c:w val="0.40283644232767168"/>
          <c:h val="7.437420311392617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885087968043578"/>
          <c:y val="4.4541189796523294E-2"/>
          <c:w val="0.54280893501849004"/>
          <c:h val="0.9208067223051937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Сообщения</c:v>
                </c:pt>
              </c:strCache>
            </c:strRef>
          </c:tx>
          <c:spPr>
            <a:solidFill>
              <a:srgbClr val="808080"/>
            </a:solidFill>
            <a:ln>
              <a:solidFill>
                <a:srgbClr val="808080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ВКонтакте</c:v>
                </c:pt>
                <c:pt idx="1">
                  <c:v>Дзен</c:v>
                </c:pt>
                <c:pt idx="2">
                  <c:v>Telegram</c:v>
                </c:pt>
                <c:pt idx="3">
                  <c:v>Sprosivracha.com</c:v>
                </c:pt>
                <c:pt idx="4">
                  <c:v>Мамлайф</c:v>
                </c:pt>
                <c:pt idx="5">
                  <c:v>Одноклассники</c:v>
                </c:pt>
                <c:pt idx="6">
                  <c:v>Otzovik.com</c:v>
                </c:pt>
                <c:pt idx="7">
                  <c:v>Telegram</c:v>
                </c:pt>
                <c:pt idx="8">
                  <c:v>Озон</c:v>
                </c:pt>
                <c:pt idx="9">
                  <c:v>Threads</c:v>
                </c:pt>
                <c:pt idx="10">
                  <c:v>Другие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91</c:v>
                </c:pt>
                <c:pt idx="1">
                  <c:v>23</c:v>
                </c:pt>
                <c:pt idx="2">
                  <c:v>18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5</c:v>
                </c:pt>
                <c:pt idx="9">
                  <c:v>4</c:v>
                </c:pt>
                <c:pt idx="1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82-7342-9C59-E5538DF514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2"/>
        <c:axId val="113267072"/>
        <c:axId val="113268608"/>
      </c:barChart>
      <c:catAx>
        <c:axId val="1132670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3268608"/>
        <c:crosses val="autoZero"/>
        <c:auto val="1"/>
        <c:lblAlgn val="ctr"/>
        <c:lblOffset val="100"/>
        <c:noMultiLvlLbl val="0"/>
      </c:catAx>
      <c:valAx>
        <c:axId val="11326860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1326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917655516561111"/>
          <c:y val="0.22861141284358838"/>
          <c:w val="0.60507541595022163"/>
          <c:h val="0.521548637499165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SOV</c:v>
                </c:pt>
              </c:strCache>
            </c:strRef>
          </c:tx>
          <c:spPr>
            <a:ln>
              <a:noFill/>
            </a:ln>
            <a:effectLst/>
            <a:scene3d>
              <a:camera prst="orthographicFront"/>
              <a:lightRig rig="brightRoom" dir="t"/>
            </a:scene3d>
            <a:sp3d prstMaterial="flat">
              <a:contourClr>
                <a:srgbClr val="000000"/>
              </a:contourClr>
            </a:sp3d>
          </c:spPr>
          <c:dPt>
            <c:idx val="0"/>
            <c:bubble3D val="0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99D-41AE-B6AF-3F39F57BC61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99D-41AE-B6AF-3F39F57BC61B}"/>
              </c:ext>
            </c:extLst>
          </c:dPt>
          <c:dPt>
            <c:idx val="2"/>
            <c:bubble3D val="0"/>
            <c:spPr>
              <a:solidFill>
                <a:srgbClr val="D9D9D9"/>
              </a:solidFill>
              <a:ln>
                <a:solidFill>
                  <a:srgbClr val="D9D9D9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99D-41AE-B6AF-3F39F57BC61B}"/>
              </c:ext>
            </c:extLst>
          </c:dPt>
          <c:dPt>
            <c:idx val="3"/>
            <c:bubble3D val="0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799D-41AE-B6AF-3F39F57BC61B}"/>
              </c:ext>
            </c:extLst>
          </c:dPt>
          <c:dPt>
            <c:idx val="4"/>
            <c:bubble3D val="0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799D-41AE-B6AF-3F39F57BC61B}"/>
              </c:ext>
            </c:extLst>
          </c:dPt>
          <c:dLbls>
            <c:dLbl>
              <c:idx val="0"/>
              <c:layout>
                <c:manualLayout>
                  <c:x val="6.2201799561056193E-3"/>
                  <c:y val="-0.13259238407299595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9D-41AE-B6AF-3F39F57BC61B}"/>
                </c:ext>
              </c:extLst>
            </c:dLbl>
            <c:dLbl>
              <c:idx val="1"/>
              <c:layout>
                <c:manualLayout>
                  <c:x val="0.15076314584839853"/>
                  <c:y val="0.13302984201348139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9D-41AE-B6AF-3F39F57BC61B}"/>
                </c:ext>
              </c:extLst>
            </c:dLbl>
            <c:dLbl>
              <c:idx val="2"/>
              <c:layout>
                <c:manualLayout>
                  <c:x val="1.4217123392182843E-2"/>
                  <c:y val="0.15994767140072577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080195600791521"/>
                      <c:h val="0.105092057214196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99D-41AE-B6AF-3F39F57BC61B}"/>
                </c:ext>
              </c:extLst>
            </c:dLbl>
            <c:dLbl>
              <c:idx val="3"/>
              <c:layout>
                <c:manualLayout>
                  <c:x val="-0.1514063631774514"/>
                  <c:y val="0.10357044177533585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99D-41AE-B6AF-3F39F57BC61B}"/>
                </c:ext>
              </c:extLst>
            </c:dLbl>
            <c:dLbl>
              <c:idx val="4"/>
              <c:layout>
                <c:manualLayout>
                  <c:x val="-0.19607815346869947"/>
                  <c:y val="3.2488075177264042E-2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99D-41AE-B6AF-3F39F57BC61B}"/>
                </c:ext>
              </c:extLst>
            </c:dLbl>
            <c:dLbl>
              <c:idx val="5"/>
              <c:layout>
                <c:manualLayout>
                  <c:x val="-0.19849059539669894"/>
                  <c:y val="-1.9049304862957139E-2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99D-41AE-B6AF-3F39F57BC6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Соцсети</c:v>
                </c:pt>
                <c:pt idx="1">
                  <c:v>Блоги</c:v>
                </c:pt>
                <c:pt idx="2">
                  <c:v>Мессенджеры</c:v>
                </c:pt>
                <c:pt idx="3">
                  <c:v>Форумы</c:v>
                </c:pt>
                <c:pt idx="4">
                  <c:v>Отзывы</c:v>
                </c:pt>
                <c:pt idx="5">
                  <c:v>СМИ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</c:v>
                </c:pt>
                <c:pt idx="1">
                  <c:v>30</c:v>
                </c:pt>
                <c:pt idx="2">
                  <c:v>25</c:v>
                </c:pt>
                <c:pt idx="3">
                  <c:v>15</c:v>
                </c:pt>
                <c:pt idx="4">
                  <c:v>21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99D-41AE-B6AF-3F39F57BC61B}"/>
            </c:ext>
          </c:extLst>
        </c:ser>
        <c:dLbls>
          <c:showLegendKey val="1"/>
          <c:showVal val="1"/>
          <c:showCatName val="1"/>
          <c:showSerName val="0"/>
          <c:showPercent val="1"/>
          <c:showBubbleSize val="0"/>
          <c:showLeaderLines val="0"/>
        </c:dLbls>
        <c:firstSliceAng val="274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  <a:ea typeface="Helvetica" panose="00000500000000000000" pitchFamily="50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spcAft>
                <a:spcPts val="0"/>
              </a:spcAft>
              <a:defRPr/>
            </a:pPr>
            <a:r>
              <a:rPr lang="ru-RU" sz="1000" b="1" dirty="0">
                <a:solidFill>
                  <a:schemeClr val="tx1"/>
                </a:solidFill>
                <a:latin typeface="Arial"/>
              </a:rPr>
              <a:t>Просмотры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2.0241870780616053E-2"/>
          <c:y val="0.14327132527092096"/>
          <c:w val="0.95138085446879017"/>
          <c:h val="0.649560395538594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Просмотры</c:v>
                </c:pt>
              </c:strCache>
            </c:strRef>
          </c:tx>
          <c:spPr>
            <a:solidFill>
              <a:srgbClr val="13AEE2"/>
            </a:solidFill>
            <a:ln>
              <a:solidFill>
                <a:srgbClr val="13AEE2"/>
              </a:solidFill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1A9-4F90-839D-3C9503A8C90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A9-4F90-839D-3C9503A8C90D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509-4834-BE9E-932B5E2953AD}"/>
                </c:ext>
              </c:extLst>
            </c:dLbl>
            <c:dLbl>
              <c:idx val="11"/>
              <c:layout>
                <c:manualLayout>
                  <c:x val="0"/>
                  <c:y val="3.01738680047706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A9-4F90-839D-3C9503A8C90D}"/>
                </c:ext>
              </c:extLst>
            </c:dLbl>
            <c:numFmt formatCode="#\ ###\ 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Апрель</c:v>
                </c:pt>
                <c:pt idx="1">
                  <c:v>Май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1381330</c:v>
                </c:pt>
                <c:pt idx="1">
                  <c:v>323470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A9-4F90-839D-3C9503A8C9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07976192"/>
        <c:axId val="107977728"/>
      </c:barChart>
      <c:catAx>
        <c:axId val="10797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07977728"/>
        <c:crosses val="autoZero"/>
        <c:auto val="1"/>
        <c:lblAlgn val="ctr"/>
        <c:lblOffset val="100"/>
        <c:noMultiLvlLbl val="0"/>
      </c:catAx>
      <c:valAx>
        <c:axId val="107977728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797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346072901759408"/>
          <c:y val="0.90569026880877357"/>
          <c:w val="0.41681779666900592"/>
          <c:h val="9.4309731191226293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 panose="020B0604030504040204" pitchFamily="34" charset="0"/>
              <a:ea typeface="Verdana" panose="020B0604030504040204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725090188591137E-2"/>
          <c:y val="4.881138853201409E-2"/>
          <c:w val="0.92854981962281768"/>
          <c:h val="0.709939459203357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Позитивные карточки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Старт</c:v>
                </c:pt>
                <c:pt idx="1">
                  <c:v>Март 2026</c:v>
                </c:pt>
                <c:pt idx="2">
                  <c:v>Май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12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F-4334-AC04-CDCEDC28BA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Негативные карточки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3.0864197530864196E-2"/>
                  <c:y val="-3.3692663417072867E-3"/>
                </c:manualLayout>
              </c:layout>
              <c:spPr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FF-4334-AC04-CDCEDC28BA6F}"/>
                </c:ext>
              </c:extLst>
            </c:dLbl>
            <c:dLbl>
              <c:idx val="1"/>
              <c:layout>
                <c:manualLayout>
                  <c:x val="0"/>
                  <c:y val="2.4408572598206054E-2"/>
                </c:manualLayout>
              </c:layout>
              <c:spPr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FF-4334-AC04-CDCEDC28BA6F}"/>
                </c:ext>
              </c:extLst>
            </c:dLbl>
            <c:dLbl>
              <c:idx val="2"/>
              <c:spPr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/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407407407407406E-2"/>
                      <c:h val="4.83930133733283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FA51-4B77-9EBA-E6DF7D85193A}"/>
                </c:ext>
              </c:extLst>
            </c:dLbl>
            <c:spPr>
              <a:noFill/>
              <a:ln>
                <a:solidFill>
                  <a:srgbClr val="C00000"/>
                </a:solidFill>
              </a:ln>
              <a:effectLst/>
            </c:spPr>
            <c:txPr>
              <a:bodyPr/>
              <a:lstStyle/>
              <a:p>
                <a:pPr algn="ctr">
                  <a:defRPr lang="ru-RU" sz="800" b="0" i="0" u="none" strike="noStrike" kern="1200" baseline="0">
                    <a:solidFill>
                      <a:prstClr val="whit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Старт</c:v>
                </c:pt>
                <c:pt idx="1">
                  <c:v>Март 2026</c:v>
                </c:pt>
                <c:pt idx="2">
                  <c:v>Май 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FF-4334-AC04-CDCEDC28BA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Без отзывов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Старт</c:v>
                </c:pt>
                <c:pt idx="1">
                  <c:v>Март 2026</c:v>
                </c:pt>
                <c:pt idx="2">
                  <c:v>Май 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FF-4334-AC04-CDCEDC28BA6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62"/>
        <c:overlap val="100"/>
        <c:axId val="113963776"/>
        <c:axId val="113965312"/>
      </c:barChart>
      <c:catAx>
        <c:axId val="11396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3965312"/>
        <c:crosses val="autoZero"/>
        <c:auto val="1"/>
        <c:lblAlgn val="ctr"/>
        <c:lblOffset val="100"/>
        <c:noMultiLvlLbl val="0"/>
      </c:catAx>
      <c:valAx>
        <c:axId val="1139653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396377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2875816993464052"/>
          <c:y val="0.21365972844120282"/>
          <c:w val="0.63536822041697849"/>
          <c:h val="0.5793970312328476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Маркетплейсы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rgbClr val="00B0F0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Старт</c:v>
                </c:pt>
                <c:pt idx="1">
                  <c:v>Май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B0F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40E-45EC-84FC-478994080D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Аптеки и отзовики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Старт</c:v>
                </c:pt>
                <c:pt idx="1">
                  <c:v>Май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FBFB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40E-45EC-84FC-478994080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8659210414718678"/>
          <c:y val="0.88803159596182801"/>
          <c:w val="0.56581686480366422"/>
          <c:h val="5.6088072843602635E-2"/>
        </c:manualLayout>
      </c:layout>
      <c:overlay val="1"/>
      <c:txPr>
        <a:bodyPr/>
        <a:lstStyle/>
        <a:p>
          <a:pPr>
            <a:defRPr sz="1000" b="0">
              <a:solidFill>
                <a:srgbClr val="333333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EDBD56-50A5-48A0-94C6-6193EF36B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074DD-548E-4587-95B6-97B750526B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5480D-DAD6-479A-AF42-3698FE8B49F7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46053-901D-4500-AD00-F61BAD626A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4A5A6-DEBC-42D9-B72F-7535E6D45C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FB8B0-0F3E-4EC0-BE35-C4EAF2A80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313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CBFC2-F115-4861-B510-3F99C30BA3FD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52007-8F7A-47EA-9635-D353BCBF381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67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525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9872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D1E2A3B-2704-D06C-1B27-3F757058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789847DB-814B-6EC1-F5F0-67731D50A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0E0D68E8-522C-0C32-6DDE-508B56026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FBAE0C6D-3ACF-CB10-FD79-A70B862B9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9990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7463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766414-1DE3-4FA8-9CFC-6A4B7D252A70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101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702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756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0041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2C55-3A3F-D023-01A2-60A2F838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909C1C-1A49-26AC-8DA2-0D9C7110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D91220-DC7E-ADE3-E9CA-5E03B981D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09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4785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52007-8F7A-47EA-9635-D353BCBF381D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238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45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9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7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58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18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29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89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3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55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272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щи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lvl="0">
              <a:defRPr sz="1800"/>
            </a:pPr>
            <a:r>
              <a:rPr sz="5600"/>
              <a:t>Текст заголовка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>
              <a:defRPr sz="1800"/>
            </a:pPr>
            <a:r>
              <a:rPr sz="2200"/>
              <a:t>Уровень текста 1</a:t>
            </a:r>
          </a:p>
          <a:p>
            <a:pPr lvl="1">
              <a:defRPr sz="1800"/>
            </a:pPr>
            <a:r>
              <a:rPr sz="2200"/>
              <a:t>Уровень текста 2</a:t>
            </a:r>
          </a:p>
          <a:p>
            <a:pPr lvl="2">
              <a:defRPr sz="1800"/>
            </a:pPr>
            <a:r>
              <a:rPr sz="2200"/>
              <a:t>Уровень текста 3</a:t>
            </a:r>
          </a:p>
          <a:p>
            <a:pPr lvl="3">
              <a:defRPr sz="1800"/>
            </a:pPr>
            <a:r>
              <a:rPr sz="2200"/>
              <a:t>Уровень текста 4</a:t>
            </a:r>
          </a:p>
          <a:p>
            <a:pPr lvl="4">
              <a:defRPr sz="1800"/>
            </a:pPr>
            <a:r>
              <a:rPr sz="2200"/>
              <a:t>Уровень текста 5</a:t>
            </a:r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890820" y="6135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1">
                <a:solidFill>
                  <a:schemeClr val="tx1">
                    <a:tint val="75000"/>
                  </a:schemeClr>
                </a:solidFill>
                <a:latin typeface="FuturaFuturisC" charset="0"/>
                <a:ea typeface="FuturaFuturisC" charset="0"/>
                <a:cs typeface="FuturaFuturisC" charset="0"/>
              </a:defRPr>
            </a:lvl1pPr>
          </a:lstStyle>
          <a:p>
            <a:fld id="{EA254C3E-CE8A-5D4B-8E34-BA13DC4CD9D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095511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блока+ заголов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30A168A-DB14-E8DE-D7B1-F6AA7523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76" y="202389"/>
            <a:ext cx="6987586" cy="6993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EB8A7B28-9628-3860-D3CE-4FDB58C7D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8899" y="6546850"/>
            <a:ext cx="7372855" cy="2345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3C4450A6-5252-E92B-8FF2-A83F2D49F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7949" y="6546851"/>
            <a:ext cx="578327" cy="2264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en-US" sz="1000" b="0" i="0" smtClean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1A8D1895-241D-B447-8705-FB5433B5C95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04D449CC-D647-8452-6D41-82DB2C250A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7740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E296CADC-1291-8367-4337-40A5303B8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7740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2C462AB5-2CAC-3566-D49E-DC07FE120C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355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955FD7-155E-BCD1-2B66-1B8575FC1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7489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993E13B-BE7A-790B-7AFC-D1BDFA3304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00314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F398C78-25D8-A595-294E-839F9A1695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5377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EF0477CC-9EE7-F55E-7FD0-F80A838041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57951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4B24CB46-25A0-C580-8C22-B86E547E88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00314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3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k.com/club38982223" TargetMode="External"/><Relationship Id="rId13" Type="http://schemas.openxmlformats.org/officeDocument/2006/relationships/hyperlink" Target="http://vk.com/club138737375" TargetMode="External"/><Relationship Id="rId3" Type="http://schemas.openxmlformats.org/officeDocument/2006/relationships/chart" Target="../charts/chart8.xml"/><Relationship Id="rId7" Type="http://schemas.openxmlformats.org/officeDocument/2006/relationships/hyperlink" Target="http://vk.com/club135703188" TargetMode="External"/><Relationship Id="rId12" Type="http://schemas.openxmlformats.org/officeDocument/2006/relationships/hyperlink" Target="http://vk.com/club12685051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vk.com/club177688766" TargetMode="External"/><Relationship Id="rId11" Type="http://schemas.openxmlformats.org/officeDocument/2006/relationships/hyperlink" Target="http://vk.com/club123403112" TargetMode="External"/><Relationship Id="rId5" Type="http://schemas.openxmlformats.org/officeDocument/2006/relationships/hyperlink" Target="http://vk.com/club185317296" TargetMode="External"/><Relationship Id="rId10" Type="http://schemas.openxmlformats.org/officeDocument/2006/relationships/hyperlink" Target="http://vk.com/club146361880" TargetMode="External"/><Relationship Id="rId4" Type="http://schemas.openxmlformats.org/officeDocument/2006/relationships/hyperlink" Target="http://vk.com/club60212615" TargetMode="External"/><Relationship Id="rId9" Type="http://schemas.openxmlformats.org/officeDocument/2006/relationships/hyperlink" Target="http://vk.com/club37094416" TargetMode="External"/><Relationship Id="rId1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megapteka.ru/vidnoe/catalog/zabolevaniya-krovi-53/tromboliks-pro-r-r-4669321" TargetMode="External"/><Relationship Id="rId3" Type="http://schemas.openxmlformats.org/officeDocument/2006/relationships/chart" Target="../charts/chart10.xml"/><Relationship Id="rId7" Type="http://schemas.openxmlformats.org/officeDocument/2006/relationships/hyperlink" Target="https://otzovik.com/review_18333385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tomsk.uteka.ru/lekarstvennye-sredstva/krov-i-krovoobrashhenie/tromboliks-pro/reviews/?sortKey=sort-date&amp;sortDirection=desc" TargetMode="External"/><Relationship Id="rId11" Type="http://schemas.openxmlformats.org/officeDocument/2006/relationships/hyperlink" Target="https://mom.life/post/69f6aaf337fc3d9f360ac88a" TargetMode="External"/><Relationship Id="rId5" Type="http://schemas.openxmlformats.org/officeDocument/2006/relationships/hyperlink" Target="https://dzen.ru/a/afiuExFy5VS5UEaJ?share_to=link#comment_3297728343&amp;comments_data=n_new" TargetMode="External"/><Relationship Id="rId10" Type="http://schemas.openxmlformats.org/officeDocument/2006/relationships/hyperlink" Target="https://medum.ru/tromboliks-pro?ysclid=m8hk98buqt733215592" TargetMode="External"/><Relationship Id="rId4" Type="http://schemas.openxmlformats.org/officeDocument/2006/relationships/hyperlink" Target="https://vk.com/wall-135703188_1361784?reply=1362155" TargetMode="External"/><Relationship Id="rId9" Type="http://schemas.openxmlformats.org/officeDocument/2006/relationships/hyperlink" Target="https://otzyv.pro/reviews/otzyvy-tromboliks-pro-514868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352585" y="2415201"/>
            <a:ext cx="1092134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sz="3600" b="1" dirty="0">
                <a:solidFill>
                  <a:srgbClr val="000000"/>
                </a:solidFill>
                <a:latin typeface="Arial"/>
              </a:rPr>
              <a:t>ИНФОРМАЦИОННАЯ КАМПАНИЯ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3600" b="1" dirty="0">
                <a:solidFill>
                  <a:srgbClr val="00AEEF"/>
                </a:solidFill>
                <a:latin typeface="Arial"/>
              </a:rPr>
              <a:t>ТРОМБОЛИКС</a:t>
            </a:r>
            <a:r>
              <a:rPr sz="3600" b="1" baseline="30000" dirty="0">
                <a:solidFill>
                  <a:srgbClr val="00AEEF"/>
                </a:solidFill>
                <a:latin typeface="Arial"/>
              </a:rPr>
              <a:t>®</a:t>
            </a:r>
          </a:p>
        </p:txBody>
      </p:sp>
      <p:sp>
        <p:nvSpPr>
          <p:cNvPr id="95" name="Google Shape;95;p1"/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52585" y="4271773"/>
            <a:ext cx="3096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11447977" cy="662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kumimoji="0" lang="ru-RU" sz="28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ТЕКУЩИЙ ОТЧЕТ ОБ ИНФОРМАЦИОННОЙ КАМПАНИИ</a:t>
            </a:r>
            <a:endParaRPr kumimoji="0" lang="ru-RU" sz="2600" b="0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Shape 219">
            <a:extLst>
              <a:ext uri="{FF2B5EF4-FFF2-40B4-BE49-F238E27FC236}">
                <a16:creationId xmlns:a16="http://schemas.microsoft.com/office/drawing/2014/main" id="{3769E816-E8D2-7345-842B-F34273750EB8}"/>
              </a:ext>
            </a:extLst>
          </p:cNvPr>
          <p:cNvSpPr/>
          <p:nvPr/>
        </p:nvSpPr>
        <p:spPr>
          <a:xfrm>
            <a:off x="450909" y="1203677"/>
            <a:ext cx="7427169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defTabSz="457200">
              <a:defRPr sz="2400" b="1">
                <a:solidFill>
                  <a:srgbClr val="686E7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ПЕРИОД: 1–31 МАЯ 2026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DA051C33-55E1-2CFF-FAA8-13B7B4C44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865978"/>
              </p:ext>
            </p:extLst>
          </p:nvPr>
        </p:nvGraphicFramePr>
        <p:xfrm>
          <a:off x="4164493" y="2045366"/>
          <a:ext cx="6958619" cy="3571664"/>
        </p:xfrm>
        <a:graphic>
          <a:graphicData uri="http://schemas.openxmlformats.org/drawingml/2006/table">
            <a:tbl>
              <a:tblPr/>
              <a:tblGrid>
                <a:gridCol w="3955478">
                  <a:extLst>
                    <a:ext uri="{9D8B030D-6E8A-4147-A177-3AD203B41FA5}">
                      <a16:colId xmlns:a16="http://schemas.microsoft.com/office/drawing/2014/main" val="321723194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3515080965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846863477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673345034"/>
                    </a:ext>
                  </a:extLst>
                </a:gridCol>
              </a:tblGrid>
              <a:tr h="322172">
                <a:tc>
                  <a:txBody>
                    <a:bodyPr/>
                    <a:lstStyle/>
                    <a:p>
                      <a:pPr algn="l"/>
                      <a:r>
                        <a:rPr sz="1100" b="1"/>
                        <a:t>Публикации в соцмедиа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Апрель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Май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Всего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22458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Отзывы (отзовики, аптеки) на топ-площадках без покупки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12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22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20335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Отзывы с покупкой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0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0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Комментарии на площадках в топ-20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0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5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5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296623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Комментарии в открытых обсуждениях (симптоматика, диагнозы, препараты)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35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35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70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5673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Комментарии с нативным фото продукта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Мониторинг и реагирование, PPT-отчет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0574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88F5C74-5482-0F2C-18B8-4D27BB7C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21180" y="1979140"/>
            <a:ext cx="2845394" cy="290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7129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1078992"/>
            <a:ext cx="1219200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078992"/>
            <a:ext cx="1219200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B8365692-55B6-F90B-2C79-9FE33B743EF7}"/>
              </a:ext>
            </a:extLst>
          </p:cNvPr>
          <p:cNvSpPr txBox="1">
            <a:spLocks/>
          </p:cNvSpPr>
          <p:nvPr/>
        </p:nvSpPr>
        <p:spPr>
          <a:xfrm>
            <a:off x="7302032" y="3182112"/>
            <a:ext cx="3524464" cy="2194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609585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2pPr>
            <a:lvl3pPr marL="1219170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1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3pPr>
            <a:lvl4pPr marL="1828755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05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4pPr>
            <a:lvl5pPr marL="2438339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05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Аудитория сообщений OTS, 1–31 мая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19DAD-6FCD-04DB-0CC0-F3BEFDE7B633}"/>
              </a:ext>
            </a:extLst>
          </p:cNvPr>
          <p:cNvSpPr txBox="1"/>
          <p:nvPr/>
        </p:nvSpPr>
        <p:spPr>
          <a:xfrm>
            <a:off x="2287371" y="3182112"/>
            <a:ext cx="3637941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Сообщения о брендах, 1–31 мая 2026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4A9D71-5C60-B765-15C8-CB11681AE841}"/>
              </a:ext>
            </a:extLst>
          </p:cNvPr>
          <p:cNvSpPr/>
          <p:nvPr/>
        </p:nvSpPr>
        <p:spPr>
          <a:xfrm>
            <a:off x="420624" y="6181344"/>
            <a:ext cx="10789920" cy="2926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Источник: Brand Analytics, 1–31 мая 2026 года. Исключен спам и нерелевантные упоминания.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9787F407-AF40-295E-B317-D1C11BD99F2A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125812F-D53F-6AFC-8DAA-7A5DA4DAE325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dk1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ИНФОПОЛЕ КАТЕГОРИИ В </a:t>
            </a:r>
            <a:r>
              <a:rPr lang="ru-RU" sz="2800" dirty="0">
                <a:solidFill>
                  <a:schemeClr val="dk1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МАЕ</a:t>
            </a:r>
            <a:endParaRPr lang="ru-RU" sz="2600" b="0" i="0" u="none" strike="noStrike" cap="none" dirty="0">
              <a:solidFill>
                <a:schemeClr val="dk1"/>
              </a:solidFill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0624" y="1453934"/>
            <a:ext cx="10052050" cy="1184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thaiDist">
              <a:spcAft>
                <a:spcPts val="35"/>
              </a:spcAft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Категория антикоагулянтов обсуждается умеренно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– в мае бренды суммарно получили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215 упоминаний. </a:t>
            </a:r>
          </a:p>
          <a:p>
            <a:pPr algn="thaiDist">
              <a:spcAft>
                <a:spcPts val="35"/>
              </a:spcAft>
            </a:pPr>
            <a:endParaRPr lang="ru-RU" sz="1100" b="1" dirty="0">
              <a:solidFill>
                <a:srgbClr val="000000"/>
              </a:solidFill>
              <a:latin typeface="Arial"/>
            </a:endParaRPr>
          </a:p>
          <a:p>
            <a:pPr algn="thaiDist">
              <a:lnSpc>
                <a:spcPct val="100000"/>
              </a:lnSpc>
              <a:spcAft>
                <a:spcPts val="35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Тромболикс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 учетом кампании занял 2-е место: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59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сообщений и SOV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7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,4%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. Из них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57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сообщений относятся к кампании,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2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— органическая часть.</a:t>
            </a:r>
            <a:endParaRPr lang="ru-RU" sz="1100" b="0" dirty="0">
              <a:solidFill>
                <a:srgbClr val="000000"/>
              </a:solidFill>
              <a:latin typeface="Arial"/>
            </a:endParaRPr>
          </a:p>
          <a:p>
            <a:pPr algn="thaiDist">
              <a:lnSpc>
                <a:spcPct val="100000"/>
              </a:lnSpc>
              <a:spcAft>
                <a:spcPts val="35"/>
              </a:spcAft>
            </a:pP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thaiDist">
              <a:lnSpc>
                <a:spcPct val="100000"/>
              </a:lnSpc>
              <a:spcAft>
                <a:spcPts val="35"/>
              </a:spcAft>
            </a:pPr>
            <a:r>
              <a:rPr sz="1100" b="0" dirty="0">
                <a:solidFill>
                  <a:srgbClr val="000000"/>
                </a:solidFill>
                <a:latin typeface="Arial"/>
              </a:rPr>
              <a:t>Больше всего упоминаний у </a:t>
            </a:r>
            <a:r>
              <a:rPr sz="1100" b="1" dirty="0" err="1">
                <a:solidFill>
                  <a:srgbClr val="000000"/>
                </a:solidFill>
                <a:latin typeface="Arial"/>
              </a:rPr>
              <a:t>Вессел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(156 сообщений, SOV 7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2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,6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%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)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, разрыв с первым местом для бренда – около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2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6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×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.</a:t>
            </a:r>
            <a:endParaRPr lang="ru-RU" sz="1100" b="0" dirty="0">
              <a:solidFill>
                <a:srgbClr val="000000"/>
              </a:solidFill>
              <a:latin typeface="Arial"/>
            </a:endParaRPr>
          </a:p>
          <a:p>
            <a:pPr algn="thaiDist">
              <a:lnSpc>
                <a:spcPct val="100000"/>
              </a:lnSpc>
              <a:spcAft>
                <a:spcPts val="35"/>
              </a:spcAft>
            </a:pP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thaiDist">
              <a:lnSpc>
                <a:spcPct val="100000"/>
              </a:lnSpc>
              <a:spcAft>
                <a:spcPts val="35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Благодаря проведению кампании в мае мы заняли прочную позицию в инфополе и стали реальным конкурентом для бренда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Вессел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488509"/>
              </p:ext>
            </p:extLst>
          </p:nvPr>
        </p:nvGraphicFramePr>
        <p:xfrm>
          <a:off x="941832" y="3401568"/>
          <a:ext cx="498348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987839"/>
              </p:ext>
            </p:extLst>
          </p:nvPr>
        </p:nvGraphicFramePr>
        <p:xfrm>
          <a:off x="5998464" y="3401568"/>
          <a:ext cx="4828032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758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FD2C4CC2-AED2-A5C3-F58D-148C8309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A092DD3-786B-112C-C3F8-19D4C2BEA6B4}"/>
              </a:ext>
            </a:extLst>
          </p:cNvPr>
          <p:cNvSpPr txBox="1">
            <a:spLocks/>
          </p:cNvSpPr>
          <p:nvPr/>
        </p:nvSpPr>
        <p:spPr>
          <a:xfrm>
            <a:off x="534037" y="278915"/>
            <a:ext cx="11123926" cy="1135508"/>
          </a:xfrm>
          <a:prstGeom prst="rect">
            <a:avLst/>
          </a:prstGeom>
        </p:spPr>
        <p:txBody>
          <a:bodyPr vert="horz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3304D76B-686F-B87D-C405-39800070E45C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B8623-2371-D6AE-FF23-7FE9DE5C3494}"/>
              </a:ext>
            </a:extLst>
          </p:cNvPr>
          <p:cNvSpPr txBox="1">
            <a:spLocks/>
          </p:cNvSpPr>
          <p:nvPr/>
        </p:nvSpPr>
        <p:spPr>
          <a:xfrm>
            <a:off x="424662" y="434148"/>
            <a:ext cx="11233302" cy="819216"/>
          </a:xfrm>
          <a:prstGeom prst="rect">
            <a:avLst/>
          </a:prstGeom>
        </p:spPr>
        <p:txBody>
          <a:bodyPr vert="horz" lIns="91440" tIns="45721" rIns="91440" bIns="45721" rtlCol="0" anchor="t">
            <a:normAutofit/>
          </a:bodyPr>
          <a:lstStyle/>
          <a:p>
            <a:endParaRPr lang="ru-RU" sz="2800" dirty="0"/>
          </a:p>
        </p:txBody>
      </p:sp>
      <p:sp>
        <p:nvSpPr>
          <p:cNvPr id="13" name="Любой проект мы начинаем с исследований и аналитики…">
            <a:extLst>
              <a:ext uri="{FF2B5EF4-FFF2-40B4-BE49-F238E27FC236}">
                <a16:creationId xmlns:a16="http://schemas.microsoft.com/office/drawing/2014/main" id="{893BACA0-6825-6AB3-D3C3-DC93F46C5703}"/>
              </a:ext>
            </a:extLst>
          </p:cNvPr>
          <p:cNvSpPr txBox="1"/>
          <p:nvPr/>
        </p:nvSpPr>
        <p:spPr>
          <a:xfrm>
            <a:off x="6689982" y="3538416"/>
            <a:ext cx="4661641" cy="1790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L="169329" indent="-169329" algn="l" defTabSz="609585">
              <a:lnSpc>
                <a:spcPct val="100000"/>
              </a:lnSpc>
              <a:spcBef>
                <a:spcPts val="800"/>
              </a:spcBef>
              <a:spcAft>
                <a:spcPts val="1100"/>
              </a:spcAft>
              <a:defRPr sz="1100">
                <a:solidFill>
                  <a:srgbClr val="1A1A1A"/>
                </a:solidFill>
              </a:defRPr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Симптомы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диабетической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стопы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уход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самоконтроль</a:t>
            </a: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Контроль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сахара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диабет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сосудистые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риски</a:t>
            </a: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Диабетическая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стопа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как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осложнение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сахарного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диабета</a:t>
            </a: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Медицинская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помощь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региональные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программы</a:t>
            </a: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Отзывы и выбор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средств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для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ухода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за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стопами</a:t>
            </a:r>
            <a:endParaRPr sz="11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4260C1-11CC-6E69-3E67-4D3D0FBFC425}"/>
              </a:ext>
            </a:extLst>
          </p:cNvPr>
          <p:cNvSpPr txBox="1"/>
          <p:nvPr/>
        </p:nvSpPr>
        <p:spPr>
          <a:xfrm>
            <a:off x="6689982" y="2814024"/>
            <a:ext cx="425572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Контексты обсуждений брендов категории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48E161-41DD-B19F-68D5-9CB6EB0EF671}"/>
              </a:ext>
            </a:extLst>
          </p:cNvPr>
          <p:cNvSpPr txBox="1"/>
          <p:nvPr/>
        </p:nvSpPr>
        <p:spPr>
          <a:xfrm>
            <a:off x="361950" y="1269766"/>
            <a:ext cx="11399731" cy="1051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Темы </a:t>
            </a:r>
            <a:r>
              <a:rPr lang="ru-RU" sz="1100" b="0" dirty="0">
                <a:latin typeface="Arial"/>
              </a:rPr>
              <a:t>сосудистых осложнений и проблем нижних конечностей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активно обсуждаются: в мае найдено 2 141 сообщение. </a:t>
            </a:r>
          </a:p>
          <a:p>
            <a:pPr>
              <a:spcAft>
                <a:spcPts val="800"/>
              </a:spcAft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В рамках кампании мы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выходи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м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в обсуждения, где люди уже ищут подходящую проблему. В сообщениях связываем бренд с проблемой, моментом выбора и понятным курсом приема. </a:t>
            </a:r>
          </a:p>
          <a:p>
            <a:pPr>
              <a:spcAft>
                <a:spcPts val="80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П</a:t>
            </a:r>
            <a:r>
              <a:rPr lang="ru-RU" sz="1100" dirty="0"/>
              <a:t>отенциал инфополя позволяет охватывать большую аудиторию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.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Наиболее сильные точки входа для дальнейшего роста — симптомы диабетической стопы, контроль сахара, диабет и сосудистые риски.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8C9DA084-BD5D-73E2-0EDC-7BC2352797DA}"/>
              </a:ext>
            </a:extLst>
          </p:cNvPr>
          <p:cNvSpPr txBox="1">
            <a:spLocks/>
          </p:cNvSpPr>
          <p:nvPr/>
        </p:nvSpPr>
        <p:spPr>
          <a:xfrm>
            <a:off x="361950" y="607745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ИНФОПОЛЕ ОБСУЖДЕНИЙ ПРОБЛЕМЫ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0619" y="2814024"/>
            <a:ext cx="279403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Arial"/>
              </a:rPr>
              <a:t>Количество упоминаний тематик в месяц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72563" y="3088344"/>
          <a:ext cx="5390148" cy="3011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035E83AB-D205-BD7C-398A-588E5388F349}"/>
              </a:ext>
            </a:extLst>
          </p:cNvPr>
          <p:cNvSpPr/>
          <p:nvPr/>
        </p:nvSpPr>
        <p:spPr>
          <a:xfrm>
            <a:off x="577061" y="64024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Медиалогия SM, 01 – 31 мая 2026 года. Исключен спам и нерелевантные упоминания.</a:t>
            </a:r>
          </a:p>
        </p:txBody>
      </p:sp>
    </p:spTree>
    <p:extLst>
      <p:ext uri="{BB962C8B-B14F-4D97-AF65-F5344CB8AC3E}">
        <p14:creationId xmlns:p14="http://schemas.microsoft.com/office/powerpoint/2010/main" val="260659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5">
            <a:extLst>
              <a:ext uri="{FF2B5EF4-FFF2-40B4-BE49-F238E27FC236}">
                <a16:creationId xmlns:a16="http://schemas.microsoft.com/office/drawing/2014/main" id="{9E31763E-6BB3-FC46-AC03-4CFC5DEE42FD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679295"/>
              </p:ext>
            </p:extLst>
          </p:nvPr>
        </p:nvGraphicFramePr>
        <p:xfrm>
          <a:off x="1536192" y="3354921"/>
          <a:ext cx="2157984" cy="2157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190690"/>
              </p:ext>
            </p:extLst>
          </p:nvPr>
        </p:nvGraphicFramePr>
        <p:xfrm>
          <a:off x="5084064" y="2918594"/>
          <a:ext cx="6936672" cy="3054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Группа 5"/>
          <p:cNvGrpSpPr/>
          <p:nvPr/>
        </p:nvGrpSpPr>
        <p:grpSpPr>
          <a:xfrm>
            <a:off x="9253595" y="4023360"/>
            <a:ext cx="770260" cy="406683"/>
            <a:chOff x="10132482" y="3787315"/>
            <a:chExt cx="770260" cy="527993"/>
          </a:xfrm>
        </p:grpSpPr>
        <p:sp>
          <p:nvSpPr>
            <p:cNvPr id="12" name="Облачко с текстом: прямоугольное 4">
              <a:extLst>
                <a:ext uri="{FF2B5EF4-FFF2-40B4-BE49-F238E27FC236}">
                  <a16:creationId xmlns:a16="http://schemas.microsoft.com/office/drawing/2014/main" id="{6399189F-E8A7-1AEF-F754-CD30D87361E0}"/>
                </a:ext>
              </a:extLst>
            </p:cNvPr>
            <p:cNvSpPr/>
            <p:nvPr/>
          </p:nvSpPr>
          <p:spPr>
            <a:xfrm>
              <a:off x="10132482" y="3787315"/>
              <a:ext cx="770260" cy="296961"/>
            </a:xfrm>
            <a:prstGeom prst="wedgeRectCallout">
              <a:avLst>
                <a:gd name="adj1" fmla="val 15476"/>
                <a:gd name="adj2" fmla="val 44576"/>
              </a:avLst>
            </a:prstGeom>
            <a:solidFill>
              <a:srgbClr val="1655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Arial"/>
                </a:rPr>
                <a:t>+2</a:t>
              </a:r>
              <a:r>
                <a:rPr lang="ru-RU" sz="1000" b="1" dirty="0">
                  <a:solidFill>
                    <a:srgbClr val="FFFFFF"/>
                  </a:solidFill>
                  <a:latin typeface="Arial"/>
                </a:rPr>
                <a:t>6</a:t>
              </a:r>
              <a:r>
                <a:rPr sz="1000" b="1" dirty="0">
                  <a:solidFill>
                    <a:srgbClr val="FFFFFF"/>
                  </a:solidFill>
                  <a:latin typeface="Arial"/>
                </a:rPr>
                <a:t>,</a:t>
              </a:r>
              <a:r>
                <a:rPr lang="ru-RU" sz="1000" b="1" dirty="0">
                  <a:solidFill>
                    <a:srgbClr val="FFFFFF"/>
                  </a:solidFill>
                  <a:latin typeface="Arial"/>
                </a:rPr>
                <a:t>1</a:t>
              </a:r>
              <a:r>
                <a:rPr sz="1000" b="1" dirty="0">
                  <a:solidFill>
                    <a:srgbClr val="FFFFFF"/>
                  </a:solidFill>
                  <a:latin typeface="Arial"/>
                </a:rPr>
                <a:t> п.п.</a:t>
              </a:r>
            </a:p>
          </p:txBody>
        </p: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09C8B09B-0072-B94B-E3D3-53C268C05C2C}"/>
                </a:ext>
              </a:extLst>
            </p:cNvPr>
            <p:cNvCxnSpPr>
              <a:cxnSpLocks/>
            </p:cNvCxnSpPr>
            <p:nvPr/>
          </p:nvCxnSpPr>
          <p:spPr>
            <a:xfrm>
              <a:off x="10517612" y="4084275"/>
              <a:ext cx="0" cy="231033"/>
            </a:xfrm>
            <a:prstGeom prst="line">
              <a:avLst/>
            </a:prstGeom>
            <a:ln>
              <a:solidFill>
                <a:srgbClr val="1655C5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CF29057-D9D3-4B56-FFE2-964B809D58EA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Медиалогия, 01 – 31 мая 2026 года. Исключен спам и нерелевантные упоминания.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AABAFA-F33B-B502-871E-429FA85AC936}"/>
              </a:ext>
            </a:extLst>
          </p:cNvPr>
          <p:cNvSpPr txBox="1">
            <a:spLocks/>
          </p:cNvSpPr>
          <p:nvPr/>
        </p:nvSpPr>
        <p:spPr>
          <a:xfrm>
            <a:off x="365760" y="649224"/>
            <a:ext cx="11448288" cy="658368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ДОЛИ ГОЛОСА БРЕНДОВ В ИНФОПОЛЕ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6A673-EFF9-C8EA-5BBC-D8C74E6C3463}"/>
              </a:ext>
            </a:extLst>
          </p:cNvPr>
          <p:cNvSpPr txBox="1"/>
          <p:nvPr/>
        </p:nvSpPr>
        <p:spPr>
          <a:xfrm>
            <a:off x="384048" y="1353312"/>
            <a:ext cx="201168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0070C0"/>
                </a:solidFill>
                <a:latin typeface="Arial"/>
              </a:rPr>
              <a:t>2</a:t>
            </a:r>
            <a:r>
              <a:rPr lang="ru-RU" sz="4000" b="1" dirty="0">
                <a:solidFill>
                  <a:srgbClr val="0070C0"/>
                </a:solidFill>
                <a:latin typeface="Arial"/>
              </a:rPr>
              <a:t>7</a:t>
            </a:r>
            <a:r>
              <a:rPr sz="4000" b="1" dirty="0">
                <a:solidFill>
                  <a:srgbClr val="0070C0"/>
                </a:solidFill>
                <a:latin typeface="Arial"/>
              </a:rPr>
              <a:t>,4%</a:t>
            </a:r>
            <a:endParaRPr lang="ru-RU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785616" y="4856343"/>
            <a:ext cx="731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13632" y="4819767"/>
            <a:ext cx="429605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 err="1">
                <a:solidFill>
                  <a:srgbClr val="000000"/>
                </a:solidFill>
                <a:latin typeface="Arial"/>
              </a:rPr>
              <a:t>Вессел</a:t>
            </a:r>
            <a:endParaRPr sz="1000" b="0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156</a:t>
            </a:r>
          </a:p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7</a:t>
            </a:r>
            <a:r>
              <a:rPr lang="ru-RU" sz="1000" b="0" dirty="0">
                <a:solidFill>
                  <a:srgbClr val="000000"/>
                </a:solidFill>
                <a:latin typeface="Arial"/>
              </a:rPr>
              <a:t>2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,6%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7587" y="3596440"/>
            <a:ext cx="73152" cy="73152"/>
          </a:xfrm>
          <a:prstGeom prst="rect">
            <a:avLst/>
          </a:prstGeom>
          <a:solidFill>
            <a:srgbClr val="1F9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5603" y="3559864"/>
            <a:ext cx="782265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Тромболикс</a:t>
            </a:r>
          </a:p>
          <a:p>
            <a:pPr algn="l">
              <a:spcAft>
                <a:spcPts val="0"/>
              </a:spcAft>
            </a:pPr>
            <a:r>
              <a:rPr lang="ru-RU" sz="1000" b="1" dirty="0">
                <a:solidFill>
                  <a:srgbClr val="000000"/>
                </a:solidFill>
                <a:latin typeface="Arial"/>
              </a:rPr>
              <a:t>59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2</a:t>
            </a:r>
            <a:r>
              <a:rPr lang="ru-RU" sz="1000" b="1" dirty="0">
                <a:solidFill>
                  <a:srgbClr val="000000"/>
                </a:solidFill>
                <a:latin typeface="Arial"/>
              </a:rPr>
              <a:t>7</a:t>
            </a:r>
            <a:r>
              <a:rPr sz="1000" b="1" dirty="0">
                <a:solidFill>
                  <a:srgbClr val="000000"/>
                </a:solidFill>
                <a:latin typeface="Arial"/>
              </a:rPr>
              <a:t>,4%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3BA8E-2AF1-4A34-09D0-B2F629771410}"/>
              </a:ext>
            </a:extLst>
          </p:cNvPr>
          <p:cNvSpPr txBox="1"/>
          <p:nvPr/>
        </p:nvSpPr>
        <p:spPr>
          <a:xfrm>
            <a:off x="1476630" y="2663020"/>
            <a:ext cx="2322122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SOV% брендов, 1–31 мая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D117E-531E-39B1-D61C-A36058B1743A}"/>
              </a:ext>
            </a:extLst>
          </p:cNvPr>
          <p:cNvSpPr txBox="1"/>
          <p:nvPr/>
        </p:nvSpPr>
        <p:spPr>
          <a:xfrm>
            <a:off x="6323537" y="2663019"/>
            <a:ext cx="4644244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SOV% с ORM-публикациями и без них, 1–31 мая 2026</a:t>
            </a:r>
          </a:p>
        </p:txBody>
      </p:sp>
      <p:sp>
        <p:nvSpPr>
          <p:cNvPr id="13" name="Google Shape;141;p4">
            <a:extLst>
              <a:ext uri="{FF2B5EF4-FFF2-40B4-BE49-F238E27FC236}">
                <a16:creationId xmlns:a16="http://schemas.microsoft.com/office/drawing/2014/main" id="{640B9AE8-3510-EACE-98AE-837FEE36762B}"/>
              </a:ext>
            </a:extLst>
          </p:cNvPr>
          <p:cNvSpPr txBox="1"/>
          <p:nvPr/>
        </p:nvSpPr>
        <p:spPr>
          <a:xfrm>
            <a:off x="5059386" y="1485256"/>
            <a:ext cx="651057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Доля голоса бренда 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в группе прямых конкурентов</a:t>
            </a:r>
            <a:r>
              <a:rPr lang="ru-RU" sz="110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составила 27,</a:t>
            </a:r>
            <a:r>
              <a:rPr lang="ru-RU" sz="1100" b="1" dirty="0">
                <a:cs typeface="Arial" panose="020B0604020202020204" pitchFamily="34" charset="0"/>
              </a:rPr>
              <a:t>4</a:t>
            </a: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При этом без учета репутационной кампании показатель был бы ниже (1</a:t>
            </a:r>
            <a:r>
              <a:rPr lang="ru-RU" sz="1100" dirty="0">
                <a:cs typeface="Arial" panose="020B0604020202020204" pitchFamily="34" charset="0"/>
              </a:rPr>
              <a:t>,3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%, 2 сообщения)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;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  за счет проведения кампании бренд стал более заметен относительно прямых конкурентов</a:t>
            </a:r>
            <a:r>
              <a:rPr lang="en-US" sz="1100" dirty="0">
                <a:cs typeface="Arial" panose="020B0604020202020204" pitchFamily="34" charset="0"/>
              </a:rPr>
              <a:t>.</a:t>
            </a:r>
            <a:endParaRPr lang="ru-RU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4" name="Прямоугольник 4">
            <a:extLst>
              <a:ext uri="{FF2B5EF4-FFF2-40B4-BE49-F238E27FC236}">
                <a16:creationId xmlns:a16="http://schemas.microsoft.com/office/drawing/2014/main" id="{B2C5D9C8-72C3-079F-4538-DA792B32B631}"/>
              </a:ext>
            </a:extLst>
          </p:cNvPr>
          <p:cNvSpPr/>
          <p:nvPr/>
        </p:nvSpPr>
        <p:spPr>
          <a:xfrm>
            <a:off x="384048" y="1984583"/>
            <a:ext cx="3886200" cy="1846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 </a:t>
            </a:r>
            <a:r>
              <a:rPr lang="ru-RU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бренда 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инфополе категории в 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мае</a:t>
            </a:r>
          </a:p>
        </p:txBody>
      </p:sp>
    </p:spTree>
    <p:extLst>
      <p:ext uri="{BB962C8B-B14F-4D97-AF65-F5344CB8AC3E}">
        <p14:creationId xmlns:p14="http://schemas.microsoft.com/office/powerpoint/2010/main" val="335010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DB0FC593-E857-344B-97F9-1F082E6B7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4854224"/>
              </p:ext>
            </p:extLst>
          </p:nvPr>
        </p:nvGraphicFramePr>
        <p:xfrm>
          <a:off x="122866" y="1412526"/>
          <a:ext cx="4353742" cy="291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15">
            <a:extLst>
              <a:ext uri="{FF2B5EF4-FFF2-40B4-BE49-F238E27FC236}">
                <a16:creationId xmlns:a16="http://schemas.microsoft.com/office/drawing/2014/main" id="{FD58F3BF-1CF4-644A-9FE3-684DF61759F3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5FECAA9A-7BE4-9A6D-2CA1-CB5F1B17AC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7327599"/>
              </p:ext>
            </p:extLst>
          </p:nvPr>
        </p:nvGraphicFramePr>
        <p:xfrm>
          <a:off x="4476608" y="1412526"/>
          <a:ext cx="7103476" cy="291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2C52A404-D2BD-00B1-AC39-E5E534D360CF}"/>
              </a:ext>
            </a:extLst>
          </p:cNvPr>
          <p:cNvSpPr txBox="1">
            <a:spLocks/>
          </p:cNvSpPr>
          <p:nvPr/>
        </p:nvSpPr>
        <p:spPr>
          <a:xfrm>
            <a:off x="361959" y="651297"/>
            <a:ext cx="11707175" cy="8192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ТОНАЛЬНОСТЬ СООБЩЕНИЙ О БРЕНДАХ КАТЕГОРИИ</a:t>
            </a:r>
          </a:p>
        </p:txBody>
      </p:sp>
      <p:sp>
        <p:nvSpPr>
          <p:cNvPr id="5" name="Google Shape;105;g10e8a6c01b7_0_40">
            <a:extLst>
              <a:ext uri="{FF2B5EF4-FFF2-40B4-BE49-F238E27FC236}">
                <a16:creationId xmlns:a16="http://schemas.microsoft.com/office/drawing/2014/main" id="{074F38FA-F9F3-C0CE-0745-4CC00986BF49}"/>
              </a:ext>
            </a:extLst>
          </p:cNvPr>
          <p:cNvSpPr txBox="1">
            <a:spLocks/>
          </p:cNvSpPr>
          <p:nvPr/>
        </p:nvSpPr>
        <p:spPr>
          <a:xfrm>
            <a:off x="490986" y="4435342"/>
            <a:ext cx="10383844" cy="133010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sz="1100" b="1" dirty="0">
                <a:solidFill>
                  <a:srgbClr val="01A2FF"/>
                </a:solidFill>
                <a:latin typeface="Arial"/>
              </a:rPr>
              <a:t>ВЫВОДЫ ПО АНАЛИЗУ:</a:t>
            </a:r>
          </a:p>
          <a:p>
            <a:pPr marL="171450" indent="-171450" algn="l">
              <a:buClr>
                <a:srgbClr val="01A2FF"/>
              </a:buClr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Доля позитивных упоминаний в мае у бренда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Тромболикс</a:t>
            </a:r>
            <a:r>
              <a:rPr sz="1100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ru-RU" sz="1100" b="1" dirty="0">
                <a:solidFill>
                  <a:srgbClr val="00B050"/>
                </a:solidFill>
                <a:latin typeface="Arial"/>
              </a:rPr>
              <a:t>97</a:t>
            </a:r>
            <a:r>
              <a:rPr sz="1100" b="1" dirty="0">
                <a:solidFill>
                  <a:srgbClr val="00B050"/>
                </a:solidFill>
                <a:latin typeface="Arial"/>
              </a:rPr>
              <a:t>%</a:t>
            </a:r>
            <a:r>
              <a:rPr sz="1100" dirty="0">
                <a:solidFill>
                  <a:srgbClr val="000000"/>
                </a:solidFill>
                <a:latin typeface="Arial"/>
              </a:rPr>
              <a:t> (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57</a:t>
            </a:r>
            <a:r>
              <a:rPr sz="1100" dirty="0">
                <a:solidFill>
                  <a:srgbClr val="000000"/>
                </a:solidFill>
                <a:latin typeface="Arial"/>
              </a:rPr>
              <a:t> сообщений).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Позитивные</a:t>
            </a:r>
            <a:r>
              <a:rPr sz="1100" dirty="0">
                <a:solidFill>
                  <a:srgbClr val="000000"/>
                </a:solidFill>
                <a:latin typeface="Arial"/>
              </a:rPr>
              <a:t> сообщения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отражают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опыт</a:t>
            </a:r>
            <a:r>
              <a:rPr sz="1100" dirty="0">
                <a:solidFill>
                  <a:srgbClr val="000000"/>
                </a:solidFill>
                <a:latin typeface="Arial"/>
              </a:rPr>
              <a:t> применения,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удобство</a:t>
            </a:r>
            <a:r>
              <a:rPr sz="1100" dirty="0">
                <a:solidFill>
                  <a:srgbClr val="000000"/>
                </a:solidFill>
                <a:latin typeface="Arial"/>
              </a:rPr>
              <a:t> продукта и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общий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положительный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эффект</a:t>
            </a:r>
            <a:r>
              <a:rPr sz="11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171450" indent="-171450" algn="l">
              <a:buClr>
                <a:srgbClr val="01A2FF"/>
              </a:buClr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Негативные упоминания бренда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Тромболикс</a:t>
            </a:r>
            <a:r>
              <a:rPr sz="1100" dirty="0">
                <a:solidFill>
                  <a:srgbClr val="000000"/>
                </a:solidFill>
                <a:latin typeface="Arial"/>
              </a:rPr>
              <a:t> не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зафиксированы</a:t>
            </a:r>
            <a:r>
              <a:rPr sz="1100" dirty="0">
                <a:solidFill>
                  <a:srgbClr val="000000"/>
                </a:solidFill>
                <a:latin typeface="Arial"/>
              </a:rPr>
              <a:t>.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Важно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сохранять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мониторинг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вопросов</a:t>
            </a:r>
            <a:r>
              <a:rPr sz="11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нейтральных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сомнений</a:t>
            </a:r>
            <a:r>
              <a:rPr sz="11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171450" indent="-171450" algn="l">
              <a:buClr>
                <a:srgbClr val="01A2FF"/>
              </a:buClr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Нейтральные упоминания составили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3</a:t>
            </a:r>
            <a:r>
              <a:rPr sz="1100" dirty="0">
                <a:solidFill>
                  <a:srgbClr val="000000"/>
                </a:solidFill>
                <a:latin typeface="Arial"/>
              </a:rPr>
              <a:t>% (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2</a:t>
            </a:r>
            <a:r>
              <a:rPr sz="1100" dirty="0">
                <a:solidFill>
                  <a:srgbClr val="000000"/>
                </a:solidFill>
                <a:latin typeface="Arial"/>
              </a:rPr>
              <a:t> сообщени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я</a:t>
            </a:r>
            <a:r>
              <a:rPr sz="1100" dirty="0">
                <a:solidFill>
                  <a:srgbClr val="000000"/>
                </a:solidFill>
                <a:latin typeface="Arial"/>
              </a:rPr>
              <a:t>):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это единственные органические упоминания помимо кампании.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D3213-5E27-A833-4EC1-328B7DE89FCC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Источник: Медиалогия, 01 – 31 мая 2026 года. Исключен спам и нерелевантные упоминания.</a:t>
            </a:r>
          </a:p>
        </p:txBody>
      </p:sp>
    </p:spTree>
    <p:extLst>
      <p:ext uri="{BB962C8B-B14F-4D97-AF65-F5344CB8AC3E}">
        <p14:creationId xmlns:p14="http://schemas.microsoft.com/office/powerpoint/2010/main" val="102773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>
            <a:extLst>
              <a:ext uri="{FF2B5EF4-FFF2-40B4-BE49-F238E27FC236}">
                <a16:creationId xmlns:a16="http://schemas.microsoft.com/office/drawing/2014/main" id="{48D2CF2D-F658-D875-83DA-D2B8D1320D57}"/>
              </a:ext>
            </a:extLst>
          </p:cNvPr>
          <p:cNvSpPr/>
          <p:nvPr/>
        </p:nvSpPr>
        <p:spPr>
          <a:xfrm>
            <a:off x="0" y="467436"/>
            <a:ext cx="92076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1" dirty="0">
              <a:latin typeface="Futura "/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1E1DD8F4-F8E0-EEC0-A52B-7334D2BFB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771759"/>
              </p:ext>
            </p:extLst>
          </p:nvPr>
        </p:nvGraphicFramePr>
        <p:xfrm>
          <a:off x="3228647" y="2330533"/>
          <a:ext cx="3968362" cy="3852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519FE3F-AC09-167F-516E-94EBE3F1D98D}"/>
              </a:ext>
            </a:extLst>
          </p:cNvPr>
          <p:cNvSpPr txBox="1">
            <a:spLocks/>
          </p:cNvSpPr>
          <p:nvPr/>
        </p:nvSpPr>
        <p:spPr>
          <a:xfrm>
            <a:off x="361832" y="507533"/>
            <a:ext cx="11707302" cy="8192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ПЛОЩАДКИ ОБСУЖДЕНИЙ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3DADE-DEB0-42BE-9AAB-24988CA3178B}"/>
              </a:ext>
            </a:extLst>
          </p:cNvPr>
          <p:cNvSpPr txBox="1"/>
          <p:nvPr/>
        </p:nvSpPr>
        <p:spPr>
          <a:xfrm>
            <a:off x="389825" y="1024534"/>
            <a:ext cx="11329425" cy="7540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В мае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более половины всех обсуждений (6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9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%) составили обсуждения в соцсетях и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блогах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. По количеству упоминаний лидируют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ВКонтакте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91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сообщени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е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) и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Дзен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2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3 сообщени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я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). Бренды обсуждают </a:t>
            </a:r>
            <a:r>
              <a:rPr lang="ru-RU" sz="1100" dirty="0"/>
              <a:t>в сообществах на тему здоровья, взаимопомощи, в множестве женских сообществ. Авторы агентства встраивались в обсуждения и формировали знание о </a:t>
            </a:r>
            <a:r>
              <a:rPr lang="ru-RU" sz="1100" b="1" dirty="0"/>
              <a:t>Тромболикс</a:t>
            </a:r>
            <a:r>
              <a:rPr lang="ru-RU" sz="1100" dirty="0"/>
              <a:t> как о наиболее эффективном продукте в данном контексте. </a:t>
            </a:r>
            <a:endParaRPr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Отзывы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составили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10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% инфополя — прежде всего это </a:t>
            </a:r>
            <a:r>
              <a:rPr sz="1100" dirty="0">
                <a:solidFill>
                  <a:srgbClr val="000000"/>
                </a:solidFill>
                <a:latin typeface="Arial"/>
              </a:rPr>
              <a:t>отзывы на Otzovik.com (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+7</a:t>
            </a:r>
            <a:r>
              <a:rPr sz="1100" dirty="0">
                <a:solidFill>
                  <a:srgbClr val="000000"/>
                </a:solidFill>
                <a:latin typeface="Arial"/>
              </a:rPr>
              <a:t>) и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Озон </a:t>
            </a:r>
            <a:r>
              <a:rPr sz="110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+5).</a:t>
            </a:r>
            <a:endParaRPr sz="11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BAC790B-A100-461A-B528-6AD44086CF60}"/>
              </a:ext>
            </a:extLst>
          </p:cNvPr>
          <p:cNvSpPr/>
          <p:nvPr/>
        </p:nvSpPr>
        <p:spPr>
          <a:xfrm>
            <a:off x="1619332" y="2134660"/>
            <a:ext cx="1019510" cy="15388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latin typeface="Arial"/>
              </a:rPr>
              <a:t>Типы площадок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D502F6-832B-88AE-646C-725ECEE15E92}"/>
              </a:ext>
            </a:extLst>
          </p:cNvPr>
          <p:cNvSpPr/>
          <p:nvPr/>
        </p:nvSpPr>
        <p:spPr>
          <a:xfrm>
            <a:off x="4299917" y="2134661"/>
            <a:ext cx="1825821" cy="15388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latin typeface="Arial"/>
              </a:rPr>
              <a:t>Топ источников упоминаний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1B7E101-4FB0-3C48-C873-48694EFB7DC7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Источник: Медиалогия, 01 – 31 мая 2026 года. Исключен спам и нерелевантные упоминания.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649769F-21CD-325F-B4E5-FE7A0D1E2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527262"/>
              </p:ext>
            </p:extLst>
          </p:nvPr>
        </p:nvGraphicFramePr>
        <p:xfrm>
          <a:off x="7197009" y="2420690"/>
          <a:ext cx="4377574" cy="388577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047840">
                  <a:extLst>
                    <a:ext uri="{9D8B030D-6E8A-4147-A177-3AD203B41FA5}">
                      <a16:colId xmlns:a16="http://schemas.microsoft.com/office/drawing/2014/main" val="10674490"/>
                    </a:ext>
                  </a:extLst>
                </a:gridCol>
                <a:gridCol w="894858">
                  <a:extLst>
                    <a:ext uri="{9D8B030D-6E8A-4147-A177-3AD203B41FA5}">
                      <a16:colId xmlns:a16="http://schemas.microsoft.com/office/drawing/2014/main" val="57419100"/>
                    </a:ext>
                  </a:extLst>
                </a:gridCol>
                <a:gridCol w="755780">
                  <a:extLst>
                    <a:ext uri="{9D8B030D-6E8A-4147-A177-3AD203B41FA5}">
                      <a16:colId xmlns:a16="http://schemas.microsoft.com/office/drawing/2014/main" val="4177457098"/>
                    </a:ext>
                  </a:extLst>
                </a:gridCol>
                <a:gridCol w="679096">
                  <a:extLst>
                    <a:ext uri="{9D8B030D-6E8A-4147-A177-3AD203B41FA5}">
                      <a16:colId xmlns:a16="http://schemas.microsoft.com/office/drawing/2014/main" val="3655591771"/>
                    </a:ext>
                  </a:extLst>
                </a:gridCol>
              </a:tblGrid>
              <a:tr h="3076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Топ сообществ-источников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Аудитория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012331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4"/>
                        </a:rPr>
                        <a:t>Подслушано l </a:t>
                      </a:r>
                      <a:r>
                        <a:rPr sz="900" b="0" u="none" dirty="0" err="1">
                          <a:solidFill>
                            <a:srgbClr val="000000"/>
                          </a:solidFill>
                          <a:latin typeface="Arial"/>
                          <a:hlinkClick r:id="rId4"/>
                        </a:rPr>
                        <a:t>Иваново</a:t>
                      </a:r>
                      <a:endParaRPr sz="900" b="0" u="none" dirty="0">
                        <a:solidFill>
                          <a:srgbClr val="000000"/>
                        </a:solidFill>
                        <a:latin typeface="Arial"/>
                        <a:hlinkClick r:id="rId4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153 213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3450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5"/>
                        </a:rPr>
                        <a:t>Женский </a:t>
                      </a:r>
                      <a:r>
                        <a:rPr sz="900" b="0" u="none" dirty="0" err="1">
                          <a:solidFill>
                            <a:srgbClr val="000000"/>
                          </a:solidFill>
                          <a:latin typeface="Arial"/>
                          <a:hlinkClick r:id="rId5"/>
                        </a:rPr>
                        <a:t>Воронеж</a:t>
                      </a:r>
                      <a:endParaRPr sz="900" b="0" u="none" dirty="0">
                        <a:solidFill>
                          <a:srgbClr val="000000"/>
                        </a:solidFill>
                        <a:latin typeface="Arial"/>
                        <a:hlinkClick r:id="rId5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42 011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634908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 err="1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Территория</a:t>
                      </a: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 </a:t>
                      </a:r>
                      <a:r>
                        <a:rPr sz="900" b="0" u="none" dirty="0" err="1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Здоровья</a:t>
                      </a:r>
                      <a:endParaRPr sz="900" b="0" u="none" dirty="0">
                        <a:solidFill>
                          <a:srgbClr val="000000"/>
                        </a:solidFill>
                        <a:latin typeface="Arial"/>
                        <a:hlinkClick r:id="rId6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559 878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430172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О </a:t>
                      </a:r>
                      <a:r>
                        <a:rPr sz="900" b="0" u="none" dirty="0" err="1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главном</a:t>
                      </a: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...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1 280 300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08815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8"/>
                        </a:rPr>
                        <a:t>Известия Мордовии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60 187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330205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Мамы Мурино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24 003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47265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10"/>
                        </a:rPr>
                        <a:t>Женский Питер Санкт-Петербург СПБ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87 176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427801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11"/>
                        </a:rPr>
                        <a:t>Подслушано у Мам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173 962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859734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12"/>
                        </a:rPr>
                        <a:t>Мамы Ижевска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27 256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6450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 err="1">
                          <a:solidFill>
                            <a:srgbClr val="000000"/>
                          </a:solidFill>
                          <a:latin typeface="Arial"/>
                          <a:hlinkClick r:id="rId13"/>
                        </a:rPr>
                        <a:t>Саморазвитие</a:t>
                      </a: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3"/>
                        </a:rPr>
                        <a:t> 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507 238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436863"/>
                  </a:ext>
                </a:extLst>
              </a:tr>
            </a:tbl>
          </a:graphicData>
        </a:graphic>
      </p:graphicFrame>
      <p:graphicFrame>
        <p:nvGraphicFramePr>
          <p:cNvPr id="9" name="Диаграмма 5">
            <a:extLst>
              <a:ext uri="{FF2B5EF4-FFF2-40B4-BE49-F238E27FC236}">
                <a16:creationId xmlns:a16="http://schemas.microsoft.com/office/drawing/2014/main" id="{99410F05-2C26-60C5-65E4-E8D1FE6D1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6556903"/>
              </p:ext>
            </p:extLst>
          </p:nvPr>
        </p:nvGraphicFramePr>
        <p:xfrm>
          <a:off x="361832" y="2277296"/>
          <a:ext cx="3316142" cy="3847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  <p:extLst>
      <p:ext uri="{BB962C8B-B14F-4D97-AF65-F5344CB8AC3E}">
        <p14:creationId xmlns:p14="http://schemas.microsoft.com/office/powerpoint/2010/main" val="10614685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3" name="Диаграмма 1">
            <a:extLst>
              <a:ext uri="{FF2B5EF4-FFF2-40B4-BE49-F238E27FC236}">
                <a16:creationId xmlns:a16="http://schemas.microsoft.com/office/drawing/2014/main" id="{DD541B73-FD16-78B2-F8E9-AF89AE843C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3600764"/>
              </p:ext>
            </p:extLst>
          </p:nvPr>
        </p:nvGraphicFramePr>
        <p:xfrm>
          <a:off x="548472" y="2857499"/>
          <a:ext cx="5766603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ПОКАЗАТЕЛИ ПОСЕВА СООБЩЕНИЙ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1F914FCB-CBD9-A2D7-D54D-1BF2E8170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760250"/>
              </p:ext>
            </p:extLst>
          </p:nvPr>
        </p:nvGraphicFramePr>
        <p:xfrm>
          <a:off x="7413402" y="1562201"/>
          <a:ext cx="3938599" cy="354180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78540">
                  <a:extLst>
                    <a:ext uri="{9D8B030D-6E8A-4147-A177-3AD203B41FA5}">
                      <a16:colId xmlns:a16="http://schemas.microsoft.com/office/drawing/2014/main" val="10674490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57419100"/>
                    </a:ext>
                  </a:extLst>
                </a:gridCol>
                <a:gridCol w="1080344">
                  <a:extLst>
                    <a:ext uri="{9D8B030D-6E8A-4147-A177-3AD203B41FA5}">
                      <a16:colId xmlns:a16="http://schemas.microsoft.com/office/drawing/2014/main" val="4177457098"/>
                    </a:ext>
                  </a:extLst>
                </a:gridCol>
              </a:tblGrid>
              <a:tr h="307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Сообщения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Просмотры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012331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4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239 299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980347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5"/>
                        </a:rPr>
                        <a:t>Дзен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84 171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439298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Ютека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095742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Отзовик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727503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8"/>
                        </a:rPr>
                        <a:t>Мегаптека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165693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otzyv.pro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127202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10"/>
                        </a:rPr>
                        <a:t>medum.ru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732069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>
                          <a:solidFill>
                            <a:srgbClr val="000000"/>
                          </a:solidFill>
                          <a:latin typeface="Arial"/>
                          <a:hlinkClick r:id="rId11"/>
                        </a:rPr>
                        <a:t>mom.life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93657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4647" y="6250106"/>
            <a:ext cx="10927354" cy="2307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Источник: проектная таблица ORM, лист «Май 2026», 1–31 мая 2026 года.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5264F-6139-71F7-BF02-AB0BC5AB5A8D}"/>
              </a:ext>
            </a:extLst>
          </p:cNvPr>
          <p:cNvSpPr txBox="1"/>
          <p:nvPr/>
        </p:nvSpPr>
        <p:spPr>
          <a:xfrm>
            <a:off x="322489" y="1269999"/>
            <a:ext cx="66482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/>
              <a:t>57 сообщений </a:t>
            </a:r>
            <a:r>
              <a:rPr lang="ru-RU" sz="1100" dirty="0"/>
              <a:t>разместили авторы агентства в активных обсуждениях в соцсетях, форумах, чатах и топе выдачи по запросам тематики. 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В мае наибольший упор в посеве был сделан на сообщества и контент, связанный с обсуждением кровообращения и связанных заболеваний.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/>
              <a:t>Комментарии получили 323 470 просмотров</a:t>
            </a:r>
            <a:r>
              <a:rPr lang="ru-RU" sz="11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42279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FE829EAC-359C-1245-A6EF-1736C4E3ADF3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ПРИМЕРЫ СООБЩЕНИЙ О БРЕНДЕ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77947C-164A-E448-2CB2-E4C1FFF2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2200047"/>
            <a:ext cx="5592301" cy="12289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204D61-C089-186F-48F4-CE1A4B809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623" y="2017645"/>
            <a:ext cx="5783594" cy="1411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B4CCDB-4A29-3AB6-596A-4322C27E3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66" y="4363141"/>
            <a:ext cx="5734050" cy="10993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374479-6403-828F-8D3A-1CCA372CC4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686" y="4149555"/>
            <a:ext cx="5572991" cy="1312950"/>
          </a:xfrm>
          <a:prstGeom prst="rect">
            <a:avLst/>
          </a:prstGeo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F392FE58-6992-86CE-B5F3-5FB1071C075C}"/>
              </a:ext>
            </a:extLst>
          </p:cNvPr>
          <p:cNvSpPr/>
          <p:nvPr/>
        </p:nvSpPr>
        <p:spPr>
          <a:xfrm>
            <a:off x="361015" y="1395495"/>
            <a:ext cx="10481155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В мае опубликовали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45 комментариев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о бренде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Тромболикс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в обсуждениях, социальных сетях и сайтах в топе выдачи. В комментариях авторы делились успешным опытом применения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Тромболикс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в разных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сценариях использования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продукта. </a:t>
            </a:r>
          </a:p>
        </p:txBody>
      </p:sp>
    </p:spTree>
    <p:extLst>
      <p:ext uri="{BB962C8B-B14F-4D97-AF65-F5344CB8AC3E}">
        <p14:creationId xmlns:p14="http://schemas.microsoft.com/office/powerpoint/2010/main" val="148370021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8E7C-C1C4-5A8A-6B94-E378BF4C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0288CE6-39FA-8E46-DF11-EAA1DAE350A7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C8F6E0A-FE2A-A743-8FFA-6ABAA0C6C061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ПРИМЕРЫ ОТЗЫВОВ О БРЕНДЕ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D05F0-B665-AC27-FCA6-C855493D4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52" y="1661122"/>
            <a:ext cx="4569385" cy="25718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F2489D-0359-05D1-FFC9-39AC69B89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653" y="4243334"/>
            <a:ext cx="4569386" cy="2250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38A279-29A7-A0EA-8895-A47862CF6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42" y="1751793"/>
            <a:ext cx="5299932" cy="1933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2FA53C-D4F7-EB5E-95AF-FE14FC14A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42" y="3941679"/>
            <a:ext cx="4956979" cy="2401233"/>
          </a:xfrm>
          <a:prstGeom prst="rect">
            <a:avLst/>
          </a:prstGeom>
        </p:spPr>
      </p:pic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CDB5677B-6033-A6F4-1BAB-00C9297D7DEB}"/>
              </a:ext>
            </a:extLst>
          </p:cNvPr>
          <p:cNvSpPr/>
          <p:nvPr/>
        </p:nvSpPr>
        <p:spPr>
          <a:xfrm>
            <a:off x="337167" y="1322569"/>
            <a:ext cx="11298106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мае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публиковали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12 отзывов в крупных интернет-аптеках и на отзовиках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В отзывах авторы описывали эффективность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Трентал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в разных контекстах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применения.</a:t>
            </a:r>
            <a:endParaRPr lang="ru-RU"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100" b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545611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22" name="Диаграмма 19">
            <a:extLst>
              <a:ext uri="{FF2B5EF4-FFF2-40B4-BE49-F238E27FC236}">
                <a16:creationId xmlns:a16="http://schemas.microsoft.com/office/drawing/2014/main" id="{6A37C9AB-D9F6-60F1-A357-58289CC887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700935"/>
              </p:ext>
            </p:extLst>
          </p:nvPr>
        </p:nvGraphicFramePr>
        <p:xfrm>
          <a:off x="457200" y="2779776"/>
          <a:ext cx="3703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Rectangle 34"/>
          <p:cNvSpPr/>
          <p:nvPr/>
        </p:nvSpPr>
        <p:spPr>
          <a:xfrm>
            <a:off x="7616952" y="301752"/>
            <a:ext cx="109728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897112" y="301752"/>
            <a:ext cx="169164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744200" y="301752"/>
            <a:ext cx="123444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2" name="Chart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1413"/>
              </p:ext>
            </p:extLst>
          </p:nvPr>
        </p:nvGraphicFramePr>
        <p:xfrm>
          <a:off x="6780543" y="2117300"/>
          <a:ext cx="4798747" cy="4199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5760" y="649224"/>
            <a:ext cx="11448288" cy="65836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РЕЙТИНГИ ТРОМБОЛИКС В ОТЗЫВАХ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108E97A-EAAB-ED43-AF68-C6355B9C815F}"/>
              </a:ext>
            </a:extLst>
          </p:cNvPr>
          <p:cNvSpPr/>
          <p:nvPr/>
        </p:nvSpPr>
        <p:spPr>
          <a:xfrm>
            <a:off x="424647" y="6250106"/>
            <a:ext cx="10927354" cy="230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Источник: проектная таблица ORM, лист «Рейтинги».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6A75B-4CB4-F04F-8B58-6DEB6234180C}"/>
              </a:ext>
            </a:extLst>
          </p:cNvPr>
          <p:cNvSpPr txBox="1"/>
          <p:nvPr/>
        </p:nvSpPr>
        <p:spPr>
          <a:xfrm>
            <a:off x="457200" y="24688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Количество карточек по рейтинговому статусу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592EF-FEE8-A7FF-853F-9067EFC29121}"/>
              </a:ext>
            </a:extLst>
          </p:cNvPr>
          <p:cNvSpPr txBox="1"/>
          <p:nvPr/>
        </p:nvSpPr>
        <p:spPr>
          <a:xfrm>
            <a:off x="4160520" y="246888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Площадки публикации отзывов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C25F5-CA64-494D-B9A8-9C0A7C84D909}"/>
              </a:ext>
            </a:extLst>
          </p:cNvPr>
          <p:cNvSpPr txBox="1"/>
          <p:nvPr/>
        </p:nvSpPr>
        <p:spPr>
          <a:xfrm>
            <a:off x="7678155" y="246888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Суммарное количество отзывов на бренд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3924" y="3582421"/>
            <a:ext cx="1878463" cy="1371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www.uteka.ru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+5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www.megapteka.ru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+3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www.otzovik.com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+2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otzyv.pro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+1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medum.ru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+1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338328"/>
            <a:ext cx="1097280" cy="585216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4,9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СРЕДНЯЯ ОЦЕНКА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Май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338328"/>
            <a:ext cx="1691640" cy="585216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0 → 113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ОТЗЫВЫ БЫЛО / СТАЛО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+113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338328"/>
            <a:ext cx="1272784" cy="569387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12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РАЗМЕЩЕНО АГЕНТСТВОМ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Ютека, Мегаптека</a:t>
            </a:r>
            <a:r>
              <a:rPr lang="ru-RU" sz="700" b="0" dirty="0">
                <a:solidFill>
                  <a:srgbClr val="999999"/>
                </a:solidFill>
                <a:latin typeface="Arial"/>
              </a:rPr>
              <a:t> и др.</a:t>
            </a:r>
            <a:endParaRPr sz="7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73FF8-0819-D508-AC91-8C91D8BA750C}"/>
              </a:ext>
            </a:extLst>
          </p:cNvPr>
          <p:cNvSpPr txBox="1"/>
          <p:nvPr/>
        </p:nvSpPr>
        <p:spPr>
          <a:xfrm>
            <a:off x="365760" y="1307592"/>
            <a:ext cx="10353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По итогам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мая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в выдаче Яндекса и Google сохраняется положительная репутация бренда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доля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позитивных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карточек с отзывами о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Тромболикс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составляет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%;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площадки без отзывов – отзовики и аптеки (работа по ним не ведется).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Средний рейтинг в карточках бренда по итогам мая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4,9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балла.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мае опубликовано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12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отзывов в е-ком аптеках и на отзовиках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Uteka, Megapteka, Otzovik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других.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endParaRPr lang="ru-RU" sz="11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Количество отзывов на сайтах в топ-20 по запросам бренда на конец мая составило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113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(+113 к старту кампании)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</a:t>
            </a:r>
            <a:endParaRPr lang="ru-RU" sz="11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52242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 txBox="1">
            <a:spLocks/>
          </p:cNvSpPr>
          <p:nvPr/>
        </p:nvSpPr>
        <p:spPr>
          <a:xfrm>
            <a:off x="361950" y="651287"/>
            <a:ext cx="5962650" cy="580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700" b="0" i="0" u="none" strike="noStrike" kern="1200" cap="all" spc="0" normalizeH="0" baseline="0" noProof="0" dirty="0">
              <a:ln>
                <a:noFill/>
              </a:ln>
              <a:solidFill>
                <a:srgbClr val="9D00EA"/>
              </a:solidFill>
              <a:effectLst/>
              <a:uLnTx/>
              <a:uFillTx/>
              <a:latin typeface="HelveticaNeueCyr" pitchFamily="50" charset="-52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19538-2778-403D-AD85-4271CE4E4910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79191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01182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23173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45164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6D0CDDD-2809-42E4-B9CE-334F8812917A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11155680" cy="580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ВЫВОДЫ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44FF08-5D30-4679-9DFD-30A794818C6F}"/>
              </a:ext>
            </a:extLst>
          </p:cNvPr>
          <p:cNvSpPr/>
          <p:nvPr/>
        </p:nvSpPr>
        <p:spPr>
          <a:xfrm>
            <a:off x="361951" y="2377415"/>
            <a:ext cx="1115567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285750" algn="thaiDist">
              <a:spcAft>
                <a:spcPts val="1200"/>
              </a:spcAft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Тромболикс занимает уверенную позицию в группе прямых конкурентов. Доля голоса бренда SOV в мае составила 2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7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,4%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(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59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упоминаний). </a:t>
            </a:r>
            <a:r>
              <a:rPr sz="1200" b="1" dirty="0" err="1">
                <a:solidFill>
                  <a:srgbClr val="000000"/>
                </a:solidFill>
                <a:latin typeface="Arial"/>
              </a:rPr>
              <a:t>Вессел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лидирует в категории: 156 сообщений и SOV 77,6%.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Отставание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от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первого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места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составляет 55,2 п.п. Без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учета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кампании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сценарный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SOV составляет 0,0%,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разница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с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текущим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уровнем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— 22,4 п.п.</a:t>
            </a:r>
          </a:p>
          <a:p>
            <a:pPr marL="182880" indent="-285750" algn="thaiDist">
              <a:spcAft>
                <a:spcPts val="1200"/>
              </a:spcAft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6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9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% упоминаний в </a:t>
            </a:r>
            <a:r>
              <a:rPr sz="1200" b="1" dirty="0" err="1">
                <a:solidFill>
                  <a:srgbClr val="000000"/>
                </a:solidFill>
                <a:latin typeface="Arial"/>
              </a:rPr>
              <a:t>инфополе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Arial"/>
              </a:rPr>
              <a:t>составляют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 обсуждения в соцсетях и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блогах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, </a:t>
            </a:r>
            <a:r>
              <a:rPr sz="1200" b="1" dirty="0" err="1">
                <a:solidFill>
                  <a:srgbClr val="000000"/>
                </a:solidFill>
                <a:latin typeface="Arial"/>
              </a:rPr>
              <a:t>еще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10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% — отзывы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в первую очередь 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Отзовик и Otzyvru.com)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. По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количеству упоминаний лидируют ВКонтакте и Дзен.</a:t>
            </a:r>
          </a:p>
          <a:p>
            <a:pPr marL="182880" indent="-285750" algn="thaiDist">
              <a:spcAft>
                <a:spcPts val="1200"/>
              </a:spcAft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Тональность сообщений о бренде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полностью позитивная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97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%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позитива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(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57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сообщений), 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3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%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нейтрал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ьных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(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2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сообщений). Негативные сообщения не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зафиксированы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 Только позитивные сообщения по причине низкого числа органики, только 2 сообщения.</a:t>
            </a:r>
            <a:endParaRPr sz="1200" b="0" dirty="0">
              <a:solidFill>
                <a:srgbClr val="000000"/>
              </a:solidFill>
              <a:latin typeface="Arial"/>
            </a:endParaRPr>
          </a:p>
          <a:p>
            <a:pPr marL="182880" indent="-285750" algn="thaiDist">
              <a:spcAft>
                <a:spcPts val="1200"/>
              </a:spcAft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 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Авторы агентства активно участвуют в пользовательских обсуждениях, поддерживают репутацию бренда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Тромболикс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и формируют знание о продукте в пользовательских контекстах. В мае опубликовано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45 комментариев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в обсуждениях в социальных сетях, чатах, на форумах, в комментариях к статьям и видео, а также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12 отзывов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на отзывных площадках и маркетплейсах. Материалы получили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323 470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просмотров.</a:t>
            </a:r>
          </a:p>
          <a:p>
            <a:pPr marL="182880" indent="-285750" algn="thaiDist">
              <a:spcAft>
                <a:spcPts val="1200"/>
              </a:spcAft>
            </a:pPr>
            <a:r>
              <a:rPr sz="1200" b="0" dirty="0">
                <a:solidFill>
                  <a:srgbClr val="01A2FF"/>
                </a:solidFill>
                <a:latin typeface="Arial"/>
              </a:rPr>
              <a:t>▪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Рекомендуем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продолжать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кампанию</a:t>
            </a:r>
            <a:r>
              <a:rPr sz="1200" dirty="0">
                <a:solidFill>
                  <a:srgbClr val="000000"/>
                </a:solidFill>
                <a:latin typeface="Arial"/>
              </a:rPr>
              <a:t> в обсуждениях 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симптоматики в тематических сообществах по теме здоровья / матерей / взаимопомощи. Формировать знание о продукте как наиболее эффективном вспомогательном средстве по ряду медицинских проблем (проблемы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кровообращения и связанных заболеваний</a:t>
            </a:r>
            <a:r>
              <a:rPr lang="ru-RU" sz="1200" dirty="0">
                <a:solidFill>
                  <a:srgbClr val="000000"/>
                </a:solidFill>
                <a:latin typeface="Arial"/>
              </a:rPr>
              <a:t>).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3728" y="1316736"/>
            <a:ext cx="793487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ru-RU" sz="1800" b="1" dirty="0">
                <a:solidFill>
                  <a:srgbClr val="333333"/>
                </a:solidFill>
                <a:latin typeface="Arial"/>
              </a:rPr>
              <a:t>59</a:t>
            </a:r>
            <a:endParaRPr sz="1800" b="1" dirty="0">
              <a:solidFill>
                <a:srgbClr val="333333"/>
              </a:solidFill>
              <a:latin typeface="Arial"/>
            </a:endParaRP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УПОМИНАНИ</a:t>
            </a:r>
            <a:r>
              <a:rPr lang="ru-RU" sz="800" dirty="0">
                <a:solidFill>
                  <a:srgbClr val="666666"/>
                </a:solidFill>
                <a:latin typeface="Arial"/>
              </a:rPr>
              <a:t>Й</a:t>
            </a:r>
            <a:endParaRPr lang="ru-RU" sz="800" b="0" dirty="0">
              <a:solidFill>
                <a:srgbClr val="666666"/>
              </a:solidFill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ru-RU" sz="800" b="0" dirty="0">
                <a:solidFill>
                  <a:srgbClr val="999999"/>
                </a:solidFill>
                <a:latin typeface="Arial"/>
              </a:rPr>
              <a:t>за май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1" y="1316736"/>
            <a:ext cx="2066543" cy="585216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333333"/>
                </a:solidFill>
                <a:latin typeface="Arial"/>
              </a:rPr>
              <a:t>100,0%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ИНДЕКС ЛОЯЛЬНОСТИ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999999"/>
                </a:solidFill>
                <a:latin typeface="Arial"/>
              </a:rPr>
              <a:t>негатив не зафиксирован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3020" y="1316736"/>
            <a:ext cx="1102866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ru-RU" sz="1800" b="1" dirty="0">
                <a:solidFill>
                  <a:srgbClr val="333333"/>
                </a:solidFill>
                <a:latin typeface="Arial"/>
              </a:rPr>
              <a:t>1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,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3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SOV БЕЗ КАМПАНИИ</a:t>
            </a:r>
          </a:p>
          <a:p>
            <a:pPr algn="ctr">
              <a:spcAft>
                <a:spcPts val="0"/>
              </a:spcAft>
            </a:pPr>
            <a:r>
              <a:rPr lang="ru-RU" sz="800" b="0" dirty="0">
                <a:solidFill>
                  <a:srgbClr val="999999"/>
                </a:solidFill>
                <a:latin typeface="Arial"/>
              </a:rPr>
              <a:t>2</a:t>
            </a:r>
            <a:r>
              <a:rPr sz="800" b="0" dirty="0">
                <a:solidFill>
                  <a:srgbClr val="999999"/>
                </a:solidFill>
                <a:latin typeface="Arial"/>
              </a:rPr>
              <a:t> упоминани</a:t>
            </a:r>
            <a:r>
              <a:rPr lang="ru-RU" sz="800" dirty="0">
                <a:solidFill>
                  <a:srgbClr val="999999"/>
                </a:solidFill>
                <a:latin typeface="Arial"/>
              </a:rPr>
              <a:t>я</a:t>
            </a:r>
            <a:endParaRPr sz="8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33064" y="1316736"/>
            <a:ext cx="1046761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2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7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,4%</a:t>
            </a: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SOV С КАМПАНИЕЙ</a:t>
            </a:r>
          </a:p>
          <a:p>
            <a:pPr algn="ctr">
              <a:spcAft>
                <a:spcPts val="0"/>
              </a:spcAft>
            </a:pPr>
            <a:r>
              <a:rPr lang="ru-RU" sz="800" dirty="0">
                <a:solidFill>
                  <a:srgbClr val="999999"/>
                </a:solidFill>
                <a:latin typeface="Arial"/>
              </a:rPr>
              <a:t>59</a:t>
            </a:r>
            <a:r>
              <a:rPr sz="800" b="0" dirty="0">
                <a:solidFill>
                  <a:srgbClr val="999999"/>
                </a:solidFill>
                <a:latin typeface="Arial"/>
              </a:rPr>
              <a:t> упоминаний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6927" y="1316736"/>
            <a:ext cx="1183016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lang="en-US" sz="1800" b="0" dirty="0">
                <a:solidFill>
                  <a:srgbClr val="000000"/>
                </a:solidFill>
                <a:latin typeface="Arial"/>
              </a:rPr>
              <a:t>×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ctr">
              <a:spcAft>
                <a:spcPts val="100"/>
              </a:spcAft>
            </a:pPr>
            <a:r>
              <a:rPr lang="ru-RU" sz="800" b="0" dirty="0">
                <a:solidFill>
                  <a:srgbClr val="666666"/>
                </a:solidFill>
                <a:latin typeface="Arial"/>
              </a:rPr>
              <a:t>ПРИРОСТ ИНФОПОЛЯ</a:t>
            </a:r>
          </a:p>
          <a:p>
            <a:pPr algn="ctr">
              <a:spcAft>
                <a:spcPts val="0"/>
              </a:spcAft>
            </a:pPr>
            <a:r>
              <a:rPr sz="800" b="0" dirty="0">
                <a:solidFill>
                  <a:srgbClr val="999999"/>
                </a:solidFill>
                <a:latin typeface="Arial"/>
              </a:rPr>
              <a:t>за счет 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29971008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37074</TotalTime>
  <Words>1393</Words>
  <Application>Microsoft Office PowerPoint</Application>
  <PresentationFormat>Widescreen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Futura </vt:lpstr>
      <vt:lpstr>FuturaFuturisC</vt:lpstr>
      <vt:lpstr>Helvetica Neue</vt:lpstr>
      <vt:lpstr>HelveticaNeueCyr</vt:lpstr>
      <vt:lpstr>Poppins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Microsoft Office</dc:creator>
  <cp:lastModifiedBy>Ruslan Ivanov</cp:lastModifiedBy>
  <cp:revision>1133</cp:revision>
  <dcterms:created xsi:type="dcterms:W3CDTF">2019-02-15T00:40:51Z</dcterms:created>
  <dcterms:modified xsi:type="dcterms:W3CDTF">2026-06-11T13:49:27Z</dcterms:modified>
</cp:coreProperties>
</file>