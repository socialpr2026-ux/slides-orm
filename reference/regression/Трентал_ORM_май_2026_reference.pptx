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1.xml" ContentType="application/vnd.openxmlformats-officedocument.themeOverr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1294" r:id="rId3"/>
    <p:sldId id="2147470299" r:id="rId4"/>
    <p:sldId id="2147480944" r:id="rId5"/>
    <p:sldId id="1383" r:id="rId6"/>
    <p:sldId id="6961" r:id="rId7"/>
    <p:sldId id="1371" r:id="rId8"/>
    <p:sldId id="6955" r:id="rId9"/>
    <p:sldId id="2147480946" r:id="rId10"/>
    <p:sldId id="2147480947" r:id="rId11"/>
    <p:sldId id="2147470300" r:id="rId12"/>
    <p:sldId id="214748094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2C81222-2513-0B40-AF81-B4C9A7ED8FCB}">
          <p14:sldIdLst>
            <p14:sldId id="256"/>
            <p14:sldId id="1294"/>
            <p14:sldId id="2147470299"/>
            <p14:sldId id="2147480944"/>
            <p14:sldId id="1383"/>
            <p14:sldId id="6961"/>
            <p14:sldId id="1371"/>
            <p14:sldId id="6955"/>
            <p14:sldId id="2147480946"/>
            <p14:sldId id="2147480947"/>
            <p14:sldId id="2147470300"/>
            <p14:sldId id="2147480945"/>
          </p14:sldIdLst>
        </p14:section>
      </p14:sectionLst>
    </p:ext>
    <p:ext uri="{EFAFB233-063F-42B5-8137-9DF3F51BA10A}">
      <p15:sldGuideLst xmlns:p15="http://schemas.microsoft.com/office/powerpoint/2012/main">
        <p15:guide id="1" pos="302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2096F3"/>
    <a:srgbClr val="2196F3"/>
    <a:srgbClr val="FFFFFF"/>
    <a:srgbClr val="481E67"/>
    <a:srgbClr val="D9D9D9"/>
    <a:srgbClr val="BFBFBF"/>
    <a:srgbClr val="481F67"/>
    <a:srgbClr val="B0B0B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1" autoAdjust="0"/>
    <p:restoredTop sz="96301" autoAdjust="0"/>
  </p:normalViewPr>
  <p:slideViewPr>
    <p:cSldViewPr snapToGrid="0" snapToObjects="1">
      <p:cViewPr varScale="1">
        <p:scale>
          <a:sx n="82" d="100"/>
          <a:sy n="82" d="100"/>
        </p:scale>
        <p:origin x="797" y="72"/>
      </p:cViewPr>
      <p:guideLst>
        <p:guide pos="302"/>
        <p:guide pos="7423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3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Органика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204</c:v>
                </c:pt>
                <c:pt idx="1">
                  <c:v>118</c:v>
                </c:pt>
                <c:pt idx="2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666-42DD-B280-AA0EBB897B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Кампания</c:v>
                </c:pt>
              </c:strCache>
            </c:strRef>
          </c:tx>
          <c:spPr>
            <a:solidFill>
              <a:srgbClr val="1F9BEA"/>
            </a:solidFill>
            <a:ln>
              <a:solidFill>
                <a:srgbClr val="1F9BEA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666-42DD-B280-AA0EBB897B9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66-42DD-B280-AA0EBB897B96}"/>
                </c:ext>
              </c:extLst>
            </c:dLbl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57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9BE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666-42DD-B280-AA0EBB897B9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1443474161943576"/>
          <c:y val="6.1603942652329748E-2"/>
          <c:w val="0.62541447473935319"/>
          <c:h val="0.8767921146953404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Аудитория OTS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45A-4A81-A5E7-DFDBFC31CE37}"/>
              </c:ext>
            </c:extLst>
          </c:dPt>
          <c:dPt>
            <c:idx val="1"/>
            <c:invertIfNegative val="1"/>
            <c:bubble3D val="0"/>
            <c:spPr>
              <a:solidFill>
                <a:srgbClr val="1F9BEA"/>
              </a:solidFill>
              <a:ln>
                <a:solidFill>
                  <a:srgbClr val="1F9BE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45A-4A81-A5E7-DFDBFC31CE37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845A-4A81-A5E7-DFDBFC31CE37}"/>
              </c:ext>
            </c:extLst>
          </c:dPt>
          <c:dLbls>
            <c:dLbl>
              <c:idx val="0"/>
              <c:layout>
                <c:manualLayout>
                  <c:x val="0"/>
                  <c:y val="2.56680129193951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5A-4A81-A5E7-DFDBFC31CE37}"/>
                </c:ext>
              </c:extLst>
            </c:dLbl>
            <c:numFmt formatCode="#\ ##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Трентал</c:v>
                </c:pt>
                <c:pt idx="1">
                  <c:v>Пентоксифиллин</c:v>
                </c:pt>
                <c:pt idx="2">
                  <c:v>Вазонит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20568934</c:v>
                </c:pt>
                <c:pt idx="1">
                  <c:v>15007673</c:v>
                </c:pt>
                <c:pt idx="2">
                  <c:v>564154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845A-4A81-A5E7-DFDBFC31CE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упоминаний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Диабетическая стопа:
симптомы и уход</c:v>
                </c:pt>
                <c:pt idx="1">
                  <c:v>Сахарный диабет и
сосудистые риски</c:v>
                </c:pt>
                <c:pt idx="2">
                  <c:v>Диабетическая стопа как
осложнение диабета</c:v>
                </c:pt>
                <c:pt idx="3">
                  <c:v>Медпомощь и
региональные программы</c:v>
                </c:pt>
                <c:pt idx="4">
                  <c:v>Маркетплейсы и отзывы о
средствах для стоп</c:v>
                </c:pt>
                <c:pt idx="5">
                  <c:v>Врачи, специальности и
маршрутизация</c:v>
                </c:pt>
                <c:pt idx="6">
                  <c:v>Нейропатия, препараты и
ожидание эффекта</c:v>
                </c:pt>
                <c:pt idx="7">
                  <c:v>Лимфостаз, варикоз и
тромбоз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948</c:v>
                </c:pt>
                <c:pt idx="1">
                  <c:v>456</c:v>
                </c:pt>
                <c:pt idx="2">
                  <c:v>213</c:v>
                </c:pt>
                <c:pt idx="3">
                  <c:v>204</c:v>
                </c:pt>
                <c:pt idx="4">
                  <c:v>195</c:v>
                </c:pt>
                <c:pt idx="5">
                  <c:v>49</c:v>
                </c:pt>
                <c:pt idx="6">
                  <c:v>39</c:v>
                </c:pt>
                <c:pt idx="7">
                  <c:v>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D9D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627-40AB-82B3-40B39DF53C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6395804789386E-2"/>
          <c:y val="0.1673803386665296"/>
          <c:w val="0.9237820384184231"/>
          <c:h val="0.618788819113204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учета кампании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1.83084914495020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2EC-8847-B0B3-3A3C5CD5550A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000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576-0940-B18E-74A65699C277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000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576-0940-B18E-74A65699C277}"/>
                </c:ext>
              </c:extLst>
            </c:dLbl>
            <c:dLbl>
              <c:idx val="4"/>
              <c:layout>
                <c:manualLayout>
                  <c:x val="1.830849144950201E-3"/>
                  <c:y val="1.12133646281697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EC-8847-B0B3-3A3C5CD5550A}"/>
                </c:ext>
              </c:extLst>
            </c:dLbl>
            <c:dLbl>
              <c:idx val="5"/>
              <c:layout>
                <c:manualLayout>
                  <c:x val="-1.830849144950201E-3"/>
                  <c:y val="6.59458079660065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2EC-8847-B0B3-3A3C5CD5550A}"/>
                </c:ext>
              </c:extLst>
            </c:dLbl>
            <c:dLbl>
              <c:idx val="6"/>
              <c:layout>
                <c:manualLayout>
                  <c:x val="-1.830849144950268E-3"/>
                  <c:y val="-2.5179599369631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EC-8847-B0B3-3A3C5CD5550A}"/>
                </c:ext>
              </c:extLst>
            </c:dLbl>
            <c:dLbl>
              <c:idx val="7"/>
              <c:layout>
                <c:manualLayout>
                  <c:x val="0"/>
                  <c:y val="-1.7985428121165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2EC-8847-B0B3-3A3C5CD5550A}"/>
                </c:ext>
              </c:extLst>
            </c:dLbl>
            <c:dLbl>
              <c:idx val="8"/>
              <c:layout>
                <c:manualLayout>
                  <c:x val="-1.8308491449501338E-3"/>
                  <c:y val="-2.15825137453988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EC-8847-B0B3-3A3C5CD5550A}"/>
                </c:ext>
              </c:extLst>
            </c:dLbl>
            <c:dLbl>
              <c:idx val="9"/>
              <c:layout>
                <c:manualLayout>
                  <c:x val="0"/>
                  <c:y val="-2.51795993696320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2EC-8847-B0B3-3A3C5CD5550A}"/>
                </c:ext>
              </c:extLst>
            </c:dLbl>
            <c:dLbl>
              <c:idx val="10"/>
              <c:layout>
                <c:manualLayout>
                  <c:x val="-3.661698289900536E-3"/>
                  <c:y val="-1.07912568726994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2EC-8847-B0B3-3A3C5CD5550A}"/>
                </c:ext>
              </c:extLst>
            </c:dLbl>
            <c:dLbl>
              <c:idx val="11"/>
              <c:layout>
                <c:manualLayout>
                  <c:x val="-1.830849144950201E-3"/>
                  <c:y val="-1.43883424969325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2EC-8847-B0B3-3A3C5CD5550A}"/>
                </c:ext>
              </c:extLst>
            </c:dLbl>
            <c:dLbl>
              <c:idx val="12"/>
              <c:layout>
                <c:manualLayout>
                  <c:x val="-1.830849144950201E-3"/>
                  <c:y val="-2.15825137453988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2EC-8847-B0B3-3A3C5CD5550A}"/>
                </c:ext>
              </c:extLst>
            </c:dLbl>
            <c:dLbl>
              <c:idx val="13"/>
              <c:layout>
                <c:manualLayout>
                  <c:x val="-5.492547434850603E-3"/>
                  <c:y val="-1.7985428121165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2EC-8847-B0B3-3A3C5CD5550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0.59130400000000005</c:v>
                </c:pt>
                <c:pt idx="1">
                  <c:v>0.34202900000000003</c:v>
                </c:pt>
                <c:pt idx="2">
                  <c:v>6.6667000000000004E-2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58-8C4C-B8E1-64F8A8B4CF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учетом кампании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3.661698289900402E-3"/>
                  <c:y val="-6.63340089726560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576-0940-B18E-74A65699C277}"/>
                </c:ext>
              </c:extLst>
            </c:dLbl>
            <c:dLbl>
              <c:idx val="1"/>
              <c:layout>
                <c:manualLayout>
                  <c:x val="3.66169828990040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76-0940-B18E-74A65699C277}"/>
                </c:ext>
              </c:extLst>
            </c:dLbl>
            <c:dLbl>
              <c:idx val="2"/>
              <c:layout>
                <c:manualLayout>
                  <c:x val="5.492547434850603E-3"/>
                  <c:y val="8.31556929024476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576-0940-B18E-74A65699C277}"/>
                </c:ext>
              </c:extLst>
            </c:dLbl>
            <c:dLbl>
              <c:idx val="3"/>
              <c:layout>
                <c:manualLayout>
                  <c:x val="0"/>
                  <c:y val="4.15794834387607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76-0940-B18E-74A65699C27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0.507463</c:v>
                </c:pt>
                <c:pt idx="1">
                  <c:v>0.43532300000000002</c:v>
                </c:pt>
                <c:pt idx="2">
                  <c:v>5.7214000000000001E-2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958-8C4C-B8E1-64F8A8B4CF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3"/>
        <c:axId val="112440448"/>
        <c:axId val="112441984"/>
      </c:barChart>
      <c:catAx>
        <c:axId val="11244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2441984"/>
        <c:crosses val="autoZero"/>
        <c:auto val="1"/>
        <c:lblAlgn val="ctr"/>
        <c:lblOffset val="100"/>
        <c:noMultiLvlLbl val="0"/>
      </c:catAx>
      <c:valAx>
        <c:axId val="1124419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244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086545824856648"/>
          <c:y val="0.90208817404189579"/>
          <c:w val="0.45136356454507293"/>
          <c:h val="6.134220576689299E-2"/>
        </c:manualLayout>
      </c:layout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28800039567288"/>
          <c:y val="0.14758913783944252"/>
          <c:w val="0.42841318293043451"/>
          <c:h val="0.5733507268575822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dPt>
            <c:idx val="0"/>
            <c:bubble3D val="0"/>
            <c:spPr>
              <a:solidFill>
                <a:srgbClr val="D9D9D9"/>
              </a:solidFill>
              <a:ln w="19050">
                <a:solidFill>
                  <a:srgbClr val="D9D9D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244-194B-A445-DE48B465836E}"/>
              </c:ext>
            </c:extLst>
          </c:dPt>
          <c:dPt>
            <c:idx val="1"/>
            <c:bubble3D val="0"/>
            <c:spPr>
              <a:solidFill>
                <a:srgbClr val="1F9BEA"/>
              </a:solidFill>
              <a:ln w="19050">
                <a:solidFill>
                  <a:srgbClr val="1F9BE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244-194B-A445-DE48B465836E}"/>
              </c:ext>
            </c:extLst>
          </c:dPt>
          <c:dPt>
            <c:idx val="2"/>
            <c:bubble3D val="0"/>
            <c:spPr>
              <a:solidFill>
                <a:srgbClr val="8EA9DB"/>
              </a:solidFill>
              <a:ln>
                <a:solidFill>
                  <a:srgbClr val="8EA9D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244-194B-A445-DE48B465836E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9244-194B-A445-DE48B465836E}"/>
              </c:ext>
            </c:extLst>
          </c:dPt>
          <c:dPt>
            <c:idx val="4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9244-194B-A445-DE48B465836E}"/>
              </c:ext>
            </c:extLst>
          </c:dPt>
          <c:dPt>
            <c:idx val="5"/>
            <c:bubble3D val="0"/>
            <c:spPr>
              <a:solidFill>
                <a:schemeClr val="accent5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B-9244-194B-A445-DE48B465836E}"/>
              </c:ext>
            </c:extLst>
          </c:dPt>
          <c:dLbls>
            <c:dLbl>
              <c:idx val="0"/>
              <c:layout>
                <c:manualLayout>
                  <c:x val="-9.731285909374425E-2"/>
                  <c:y val="-1.681660901486659E-2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Helvetica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30913042641995"/>
                      <c:h val="0.1144680860079054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244-194B-A445-DE48B465836E}"/>
                </c:ext>
              </c:extLst>
            </c:dLbl>
            <c:dLbl>
              <c:idx val="1"/>
              <c:layout>
                <c:manualLayout>
                  <c:x val="2.9654628868915955E-2"/>
                  <c:y val="2.3542696494124389E-2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Helvetica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44-194B-A445-DE48B465836E}"/>
                </c:ext>
              </c:extLst>
            </c:dLbl>
            <c:dLbl>
              <c:idx val="2"/>
              <c:layout>
                <c:manualLayout>
                  <c:x val="-2.2297357326496986E-2"/>
                  <c:y val="2.5528333595507303E-2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Helvetica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563682725306852"/>
                      <c:h val="0.124439967183228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244-194B-A445-DE48B465836E}"/>
                </c:ext>
              </c:extLst>
            </c:dLbl>
            <c:dLbl>
              <c:idx val="3"/>
              <c:layout>
                <c:manualLayout>
                  <c:x val="-0.16239967356987611"/>
                  <c:y val="7.4035821973783653E-2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Helvetica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5979645065861"/>
                      <c:h val="0.1216372751356076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244-194B-A445-DE48B465836E}"/>
                </c:ext>
              </c:extLst>
            </c:dLbl>
            <c:dLbl>
              <c:idx val="4"/>
              <c:layout>
                <c:manualLayout>
                  <c:x val="-0.15097668002978537"/>
                  <c:y val="2.6246531490806166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510801946958476"/>
                      <c:h val="0.114417504961444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9244-194B-A445-DE48B465836E}"/>
                </c:ext>
              </c:extLst>
            </c:dLbl>
            <c:dLbl>
              <c:idx val="5"/>
              <c:layout>
                <c:manualLayout>
                  <c:x val="-3.6860317399256833E-2"/>
                  <c:y val="-7.5235996332741722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244-194B-A445-DE48B465836E}"/>
                </c:ext>
              </c:extLst>
            </c:dLbl>
            <c:dLbl>
              <c:idx val="6"/>
              <c:layout>
                <c:manualLayout>
                  <c:x val="-5.8349786865905813E-2"/>
                  <c:y val="3.088383360901327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244-194B-A445-DE48B465836E}"/>
                </c:ext>
              </c:extLst>
            </c:dLbl>
            <c:dLbl>
              <c:idx val="7"/>
              <c:layout>
                <c:manualLayout>
                  <c:x val="-5.1794493696209414E-2"/>
                  <c:y val="2.9368785615280029E-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244-194B-A445-DE48B465836E}"/>
                </c:ext>
              </c:extLst>
            </c:dLbl>
            <c:dLbl>
              <c:idx val="8"/>
              <c:layout>
                <c:manualLayout>
                  <c:x val="-4.498057434404526E-2"/>
                  <c:y val="-8.83502581222302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244-194B-A445-DE48B465836E}"/>
                </c:ext>
              </c:extLst>
            </c:dLbl>
            <c:dLbl>
              <c:idx val="9"/>
              <c:layout>
                <c:manualLayout>
                  <c:x val="1.1239256723786027E-2"/>
                  <c:y val="-0.154711266967822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244-194B-A445-DE48B465836E}"/>
                </c:ext>
              </c:extLst>
            </c:dLbl>
            <c:dLbl>
              <c:idx val="10"/>
              <c:layout>
                <c:manualLayout>
                  <c:x val="5.9373408321074787E-2"/>
                  <c:y val="-0.24270030756454114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244-194B-A445-DE48B465836E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244-194B-A445-DE48B465836E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244-194B-A445-DE48B465836E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244-194B-A445-DE48B465836E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244-194B-A445-DE48B465836E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9244-194B-A445-DE48B465836E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244-194B-A445-DE48B465836E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9244-194B-A445-DE48B465836E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9244-194B-A445-DE48B465836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Helvetica" panose="020B0604020202020204" pitchFamily="34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204</c:v>
                </c:pt>
                <c:pt idx="1">
                  <c:v>175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9244-194B-A445-DE48B465836E}"/>
            </c:ext>
          </c:extLst>
        </c:ser>
        <c:dLbls>
          <c:dLblPos val="outEnd"/>
          <c:showLegendKey val="1"/>
          <c:showVal val="1"/>
          <c:showCatName val="1"/>
          <c:showSerName val="0"/>
          <c:showPercent val="1"/>
          <c:showBubbleSize val="0"/>
          <c:showLeaderLines val="1"/>
        </c:dLbls>
        <c:firstSliceAng val="313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96618692980656E-2"/>
          <c:y val="0.1649641610433758"/>
          <c:w val="0.94806761915684046"/>
          <c:h val="0.5887736612589540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2760692821152031E-3"/>
                  <c:y val="-2.6546098467791109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FE-4E04-B9DE-52DFA33029CD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FE-4E04-B9DE-52DFA33029CD}"/>
                </c:ext>
              </c:extLst>
            </c:dLbl>
            <c:dLbl>
              <c:idx val="2"/>
              <c:layout>
                <c:manualLayout>
                  <c:x val="0"/>
                  <c:y val="-1.750162751355067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FE-4E04-B9DE-52DFA33029CD}"/>
                </c:ext>
              </c:extLst>
            </c:dLbl>
            <c:dLbl>
              <c:idx val="3"/>
              <c:layout>
                <c:manualLayout>
                  <c:x val="0"/>
                  <c:y val="-1.8319159552073833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FE-4E04-B9DE-52DFA33029C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FE-4E04-B9DE-52DFA33029C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FE-4E04-B9DE-52DFA33029C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0FE-4E04-B9DE-52DFA33029C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57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0FE-4E04-B9DE-52DFA33029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</c:v>
                </c:pt>
                <c:pt idx="1">
                  <c:v>111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FE-4E04-B9DE-52DFA33029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299886513305214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0FE-4E04-B9DE-52DFA33029CD}"/>
                </c:ext>
              </c:extLst>
            </c:dLbl>
            <c:dLbl>
              <c:idx val="1"/>
              <c:layout>
                <c:manualLayout>
                  <c:x val="2.2760692821152031E-3"/>
                  <c:y val="-3.471670956917224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0FE-4E04-B9DE-52DFA33029CD}"/>
                </c:ext>
              </c:extLst>
            </c:dLbl>
            <c:dLbl>
              <c:idx val="2"/>
              <c:layout>
                <c:manualLayout>
                  <c:x val="0"/>
                  <c:y val="-4.2999976299225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0FE-4E04-B9DE-52DFA33029CD}"/>
                </c:ext>
              </c:extLst>
            </c:dLbl>
            <c:dLbl>
              <c:idx val="3"/>
              <c:layout>
                <c:manualLayout>
                  <c:x val="0"/>
                  <c:y val="-4.021221119298309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0FE-4E04-B9DE-52DFA33029CD}"/>
                </c:ext>
              </c:extLst>
            </c:dLbl>
            <c:dLbl>
              <c:idx val="4"/>
              <c:layout>
                <c:manualLayout>
                  <c:x val="0"/>
                  <c:y val="-3.40309261246863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0FE-4E04-B9DE-52DFA33029C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0FE-4E04-B9DE-52DFA33029CD}"/>
                </c:ext>
              </c:extLst>
            </c:dLbl>
            <c:dLbl>
              <c:idx val="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0FE-4E04-B9DE-52DFA33029CD}"/>
                </c:ext>
              </c:extLst>
            </c:dLbl>
            <c:dLbl>
              <c:idx val="7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0FE-4E04-B9DE-52DFA33029CD}"/>
                </c:ext>
              </c:extLst>
            </c:dLbl>
            <c:dLbl>
              <c:idx val="8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0FE-4E04-B9DE-52DFA33029CD}"/>
                </c:ext>
              </c:extLst>
            </c:dLbl>
            <c:dLbl>
              <c:idx val="1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0FE-4E04-B9DE-52DFA33029C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Пентоксифиллин</c:v>
                </c:pt>
                <c:pt idx="1">
                  <c:v>Трентал</c:v>
                </c:pt>
                <c:pt idx="2">
                  <c:v>Вазонит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</c:v>
                </c:pt>
                <c:pt idx="1">
                  <c:v>7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50FE-4E04-B9DE-52DFA33029C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3"/>
        <c:overlap val="100"/>
        <c:axId val="113518080"/>
        <c:axId val="113519616"/>
      </c:barChart>
      <c:catAx>
        <c:axId val="11351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519616"/>
        <c:crosses val="autoZero"/>
        <c:auto val="1"/>
        <c:lblAlgn val="ctr"/>
        <c:lblOffset val="100"/>
        <c:noMultiLvlLbl val="0"/>
      </c:catAx>
      <c:valAx>
        <c:axId val="1135196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351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latin typeface="Helvetica" pitchFamily="2" charset="0"/>
        </a:defRPr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23643963864502E-2"/>
          <c:y val="0.16353895496596235"/>
          <c:w val="0.88252410057574482"/>
          <c:h val="0.598626481586032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21 мая</c:v>
                </c:pt>
                <c:pt idx="20">
                  <c:v>22 мая</c:v>
                </c:pt>
                <c:pt idx="21">
                  <c:v>23 мая</c:v>
                </c:pt>
                <c:pt idx="22">
                  <c:v>24 мая</c:v>
                </c:pt>
                <c:pt idx="23">
                  <c:v>25 мая</c:v>
                </c:pt>
                <c:pt idx="24">
                  <c:v>26 мая</c:v>
                </c:pt>
                <c:pt idx="25">
                  <c:v>27 мая</c:v>
                </c:pt>
                <c:pt idx="26">
                  <c:v>28 мая</c:v>
                </c:pt>
                <c:pt idx="27">
                  <c:v>29 мая</c:v>
                </c:pt>
                <c:pt idx="28">
                  <c:v>30 мая</c:v>
                </c:pt>
                <c:pt idx="29">
                  <c:v>31 мая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0</c:v>
                </c:pt>
                <c:pt idx="9">
                  <c:v>2</c:v>
                </c:pt>
                <c:pt idx="10">
                  <c:v>0</c:v>
                </c:pt>
                <c:pt idx="11">
                  <c:v>3</c:v>
                </c:pt>
                <c:pt idx="12">
                  <c:v>5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5</c:v>
                </c:pt>
                <c:pt idx="20">
                  <c:v>2</c:v>
                </c:pt>
                <c:pt idx="21">
                  <c:v>1</c:v>
                </c:pt>
                <c:pt idx="22">
                  <c:v>0</c:v>
                </c:pt>
                <c:pt idx="23">
                  <c:v>0</c:v>
                </c:pt>
                <c:pt idx="24">
                  <c:v>5</c:v>
                </c:pt>
                <c:pt idx="25">
                  <c:v>3</c:v>
                </c:pt>
                <c:pt idx="26">
                  <c:v>6</c:v>
                </c:pt>
                <c:pt idx="27">
                  <c:v>1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38-44AB-A704-EB9AAC587D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ln w="28575" cap="rnd">
              <a:solidFill>
                <a:srgbClr val="D9D9D9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21 мая</c:v>
                </c:pt>
                <c:pt idx="20">
                  <c:v>22 мая</c:v>
                </c:pt>
                <c:pt idx="21">
                  <c:v>23 мая</c:v>
                </c:pt>
                <c:pt idx="22">
                  <c:v>24 мая</c:v>
                </c:pt>
                <c:pt idx="23">
                  <c:v>25 мая</c:v>
                </c:pt>
                <c:pt idx="24">
                  <c:v>26 мая</c:v>
                </c:pt>
                <c:pt idx="25">
                  <c:v>27 мая</c:v>
                </c:pt>
                <c:pt idx="26">
                  <c:v>28 мая</c:v>
                </c:pt>
                <c:pt idx="27">
                  <c:v>29 мая</c:v>
                </c:pt>
                <c:pt idx="28">
                  <c:v>30 мая</c:v>
                </c:pt>
                <c:pt idx="29">
                  <c:v>31 мая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9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  <c:pt idx="4">
                  <c:v>6</c:v>
                </c:pt>
                <c:pt idx="5">
                  <c:v>8</c:v>
                </c:pt>
                <c:pt idx="6">
                  <c:v>2</c:v>
                </c:pt>
                <c:pt idx="7">
                  <c:v>14</c:v>
                </c:pt>
                <c:pt idx="8">
                  <c:v>9</c:v>
                </c:pt>
                <c:pt idx="9">
                  <c:v>10</c:v>
                </c:pt>
                <c:pt idx="10">
                  <c:v>6</c:v>
                </c:pt>
                <c:pt idx="11">
                  <c:v>4</c:v>
                </c:pt>
                <c:pt idx="12">
                  <c:v>3</c:v>
                </c:pt>
                <c:pt idx="13">
                  <c:v>5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0</c:v>
                </c:pt>
                <c:pt idx="18">
                  <c:v>1</c:v>
                </c:pt>
                <c:pt idx="19">
                  <c:v>9</c:v>
                </c:pt>
                <c:pt idx="20">
                  <c:v>3</c:v>
                </c:pt>
                <c:pt idx="21">
                  <c:v>7</c:v>
                </c:pt>
                <c:pt idx="22">
                  <c:v>4</c:v>
                </c:pt>
                <c:pt idx="23">
                  <c:v>7</c:v>
                </c:pt>
                <c:pt idx="24">
                  <c:v>6</c:v>
                </c:pt>
                <c:pt idx="25">
                  <c:v>1</c:v>
                </c:pt>
                <c:pt idx="26">
                  <c:v>0</c:v>
                </c:pt>
                <c:pt idx="27">
                  <c:v>2</c:v>
                </c:pt>
                <c:pt idx="28">
                  <c:v>2</c:v>
                </c:pt>
                <c:pt idx="2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38-44AB-A704-EB9AAC587D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0338-44AB-A704-EB9AAC587DEB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0338-44AB-A704-EB9AAC587DEB}"/>
              </c:ext>
            </c:extLst>
          </c:dPt>
          <c:dPt>
            <c:idx val="2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0338-44AB-A704-EB9AAC587DEB}"/>
              </c:ext>
            </c:extLst>
          </c:dPt>
          <c:cat>
            <c:strRef>
              <c:f>Sheet1!$A$2:$A$31</c:f>
              <c:strCache>
                <c:ptCount val="30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21 мая</c:v>
                </c:pt>
                <c:pt idx="20">
                  <c:v>22 мая</c:v>
                </c:pt>
                <c:pt idx="21">
                  <c:v>23 мая</c:v>
                </c:pt>
                <c:pt idx="22">
                  <c:v>24 мая</c:v>
                </c:pt>
                <c:pt idx="23">
                  <c:v>25 мая</c:v>
                </c:pt>
                <c:pt idx="24">
                  <c:v>26 мая</c:v>
                </c:pt>
                <c:pt idx="25">
                  <c:v>27 мая</c:v>
                </c:pt>
                <c:pt idx="26">
                  <c:v>28 мая</c:v>
                </c:pt>
                <c:pt idx="27">
                  <c:v>29 мая</c:v>
                </c:pt>
                <c:pt idx="28">
                  <c:v>30 мая</c:v>
                </c:pt>
                <c:pt idx="29">
                  <c:v>31 мая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2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338-44AB-A704-EB9AAC587D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638400"/>
        <c:axId val="113648384"/>
      </c:lineChart>
      <c:dateAx>
        <c:axId val="113638400"/>
        <c:scaling>
          <c:orientation val="minMax"/>
        </c:scaling>
        <c:delete val="0"/>
        <c:axPos val="b"/>
        <c:numFmt formatCode="[$-419]d\ m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48384"/>
        <c:crosses val="autoZero"/>
        <c:auto val="1"/>
        <c:lblOffset val="100"/>
        <c:baseTimeUnit val="days"/>
        <c:majorUnit val="1"/>
        <c:majorTimeUnit val="days"/>
        <c:minorUnit val="5"/>
        <c:minorTimeUnit val="days"/>
      </c:dateAx>
      <c:valAx>
        <c:axId val="113648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3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27259406333207"/>
          <c:y val="0.92278094577828418"/>
          <c:w val="0.54468054250202913"/>
          <c:h val="7.437420311392617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917655516561111"/>
          <c:y val="0.22861141284358838"/>
          <c:w val="0.60507541595022163"/>
          <c:h val="0.521548637499165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spPr>
            <a:ln>
              <a:noFill/>
            </a:ln>
            <a:effectLst/>
            <a:scene3d>
              <a:camera prst="orthographicFront"/>
              <a:lightRig rig="brightRoom" dir="t"/>
            </a:scene3d>
            <a:sp3d prstMaterial="flat">
              <a:contourClr>
                <a:srgbClr val="000000"/>
              </a:contourClr>
            </a:sp3d>
          </c:spPr>
          <c:dPt>
            <c:idx val="0"/>
            <c:bubble3D val="0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675-9642-9F91-C018051595B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675-9642-9F91-C018051595B8}"/>
              </c:ext>
            </c:extLst>
          </c:dPt>
          <c:dPt>
            <c:idx val="2"/>
            <c:bubble3D val="0"/>
            <c:spPr>
              <a:solidFill>
                <a:srgbClr val="D9D9D9"/>
              </a:solidFill>
              <a:ln>
                <a:solidFill>
                  <a:srgbClr val="D9D9D9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675-9642-9F91-C018051595B8}"/>
              </c:ext>
            </c:extLst>
          </c:dPt>
          <c:dPt>
            <c:idx val="3"/>
            <c:bubble3D val="0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675-9642-9F91-C018051595B8}"/>
              </c:ext>
            </c:extLst>
          </c:dPt>
          <c:dPt>
            <c:idx val="4"/>
            <c:bubble3D val="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675-9642-9F91-C018051595B8}"/>
              </c:ext>
            </c:extLst>
          </c:dPt>
          <c:dLbls>
            <c:dLbl>
              <c:idx val="0"/>
              <c:layout>
                <c:manualLayout>
                  <c:x val="6.2201799561056193E-3"/>
                  <c:y val="-0.13259238407299595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75-9642-9F91-C018051595B8}"/>
                </c:ext>
              </c:extLst>
            </c:dLbl>
            <c:dLbl>
              <c:idx val="1"/>
              <c:layout>
                <c:manualLayout>
                  <c:x val="5.5019356830919783E-2"/>
                  <c:y val="0.14293307881234979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75-9642-9F91-C018051595B8}"/>
                </c:ext>
              </c:extLst>
            </c:dLbl>
            <c:dLbl>
              <c:idx val="2"/>
              <c:layout>
                <c:manualLayout>
                  <c:x val="-0.10067542342879165"/>
                  <c:y val="0.1533455135348135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080195600791521"/>
                      <c:h val="0.105092057214196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675-9642-9F91-C018051595B8}"/>
                </c:ext>
              </c:extLst>
            </c:dLbl>
            <c:dLbl>
              <c:idx val="3"/>
              <c:layout>
                <c:manualLayout>
                  <c:x val="-0.18587412722374375"/>
                  <c:y val="7.7161810311686826E-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75-9642-9F91-C018051595B8}"/>
                </c:ext>
              </c:extLst>
            </c:dLbl>
            <c:dLbl>
              <c:idx val="4"/>
              <c:layout>
                <c:manualLayout>
                  <c:x val="-0.19224840190800033"/>
                  <c:y val="1.5982680512483406E-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75-9642-9F91-C018051595B8}"/>
                </c:ext>
              </c:extLst>
            </c:dLbl>
            <c:dLbl>
              <c:idx val="5"/>
              <c:layout>
                <c:manualLayout>
                  <c:x val="-0.20131767578107332"/>
                  <c:y val="-0.11478059391868481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675-9642-9F91-C018051595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Соцсети</c:v>
                </c:pt>
                <c:pt idx="1">
                  <c:v>Блоги</c:v>
                </c:pt>
                <c:pt idx="2">
                  <c:v>Мессенджеры</c:v>
                </c:pt>
                <c:pt idx="3">
                  <c:v>Форумы</c:v>
                </c:pt>
                <c:pt idx="4">
                  <c:v>Отзывы</c:v>
                </c:pt>
                <c:pt idx="5">
                  <c:v>СМИ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158</c:v>
                </c:pt>
                <c:pt idx="1">
                  <c:v>68</c:v>
                </c:pt>
                <c:pt idx="2">
                  <c:v>60</c:v>
                </c:pt>
                <c:pt idx="3">
                  <c:v>46</c:v>
                </c:pt>
                <c:pt idx="4">
                  <c:v>15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75-9642-9F91-C018051595B8}"/>
            </c:ext>
          </c:extLst>
        </c:ser>
        <c:dLbls>
          <c:showLegendKey val="1"/>
          <c:showVal val="1"/>
          <c:showCatName val="1"/>
          <c:showSerName val="0"/>
          <c:showPercent val="1"/>
          <c:showBubbleSize val="0"/>
          <c:showLeaderLines val="0"/>
        </c:dLbls>
        <c:firstSliceAng val="274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  <a:ea typeface="Helvetica" panose="00000500000000000000" pitchFamily="50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885087968043578"/>
          <c:y val="4.4541189796523294E-2"/>
          <c:w val="0.54280893501849004"/>
          <c:h val="0.920806722305193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`</c:v>
                </c:pt>
              </c:strCache>
            </c:strRef>
          </c:tx>
          <c:spPr>
            <a:solidFill>
              <a:srgbClr val="808080"/>
            </a:solidFill>
            <a:ln>
              <a:solidFill>
                <a:srgbClr val="808080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ВКонтакте</c:v>
                </c:pt>
                <c:pt idx="1">
                  <c:v>Дзен</c:v>
                </c:pt>
                <c:pt idx="2">
                  <c:v>Telegram</c:v>
                </c:pt>
                <c:pt idx="3">
                  <c:v>Одноклассники</c:v>
                </c:pt>
                <c:pt idx="4">
                  <c:v>YouTube</c:v>
                </c:pt>
                <c:pt idx="5">
                  <c:v>Sprosivracha.com</c:v>
                </c:pt>
                <c:pt idx="6">
                  <c:v>Hron-prostatit.ru</c:v>
                </c:pt>
                <c:pt idx="7">
                  <c:v>Instagram</c:v>
                </c:pt>
                <c:pt idx="8">
                  <c:v>Threads</c:v>
                </c:pt>
                <c:pt idx="9">
                  <c:v>Мамлайф</c:v>
                </c:pt>
                <c:pt idx="10">
                  <c:v>Другие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127</c:v>
                </c:pt>
                <c:pt idx="1">
                  <c:v>31</c:v>
                </c:pt>
                <c:pt idx="2">
                  <c:v>26</c:v>
                </c:pt>
                <c:pt idx="3">
                  <c:v>25</c:v>
                </c:pt>
                <c:pt idx="4">
                  <c:v>23</c:v>
                </c:pt>
                <c:pt idx="5">
                  <c:v>19</c:v>
                </c:pt>
                <c:pt idx="6">
                  <c:v>18</c:v>
                </c:pt>
                <c:pt idx="7">
                  <c:v>15</c:v>
                </c:pt>
                <c:pt idx="8">
                  <c:v>8</c:v>
                </c:pt>
                <c:pt idx="9">
                  <c:v>5</c:v>
                </c:pt>
                <c:pt idx="10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82-7342-9C59-E5538DF514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2"/>
        <c:axId val="113267072"/>
        <c:axId val="113268608"/>
      </c:barChart>
      <c:catAx>
        <c:axId val="1132670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268608"/>
        <c:crosses val="autoZero"/>
        <c:auto val="1"/>
        <c:lblAlgn val="ctr"/>
        <c:lblOffset val="100"/>
        <c:noMultiLvlLbl val="0"/>
      </c:catAx>
      <c:valAx>
        <c:axId val="11326860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1326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spcAft>
                <a:spcPts val="0"/>
              </a:spcAft>
              <a:defRPr/>
            </a:pPr>
            <a:r>
              <a:rPr lang="ru-RU" sz="1000" b="1" dirty="0">
                <a:solidFill>
                  <a:schemeClr val="tx1"/>
                </a:solidFill>
                <a:latin typeface="Arial"/>
              </a:rPr>
              <a:t>Просмотры</a:t>
            </a:r>
          </a:p>
        </c:rich>
      </c:tx>
      <c:layout>
        <c:manualLayout>
          <c:xMode val="edge"/>
          <c:yMode val="edge"/>
          <c:x val="0.42180044554380208"/>
          <c:y val="4.581586794151885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0241870780616053E-2"/>
          <c:y val="0.17534490246437198"/>
          <c:w val="0.95138085446879017"/>
          <c:h val="0.617486898354541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Просмотры</c:v>
                </c:pt>
              </c:strCache>
            </c:strRef>
          </c:tx>
          <c:spPr>
            <a:solidFill>
              <a:srgbClr val="13AEE2"/>
            </a:solidFill>
            <a:ln>
              <a:solidFill>
                <a:srgbClr val="13AEE2"/>
              </a:solidFill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D8B-C745-BE45-DCFDA6981CA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5D8B-C745-BE45-DCFDA6981CAF}"/>
              </c:ext>
            </c:extLst>
          </c:dPt>
          <c:dLbls>
            <c:dLbl>
              <c:idx val="11"/>
              <c:layout>
                <c:manualLayout>
                  <c:x val="0"/>
                  <c:y val="3.01738680047706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F50-425E-B654-E4C670A009A2}"/>
                </c:ext>
              </c:extLst>
            </c:dLbl>
            <c:numFmt formatCode="#\ ###\ 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Апрель</c:v>
                </c:pt>
                <c:pt idx="1">
                  <c:v>Май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253219</c:v>
                </c:pt>
                <c:pt idx="1">
                  <c:v>166902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5C-FE4F-9BE4-F9E972FD2B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7976192"/>
        <c:axId val="107977728"/>
      </c:barChart>
      <c:catAx>
        <c:axId val="10797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07977728"/>
        <c:crosses val="autoZero"/>
        <c:auto val="1"/>
        <c:lblAlgn val="ctr"/>
        <c:lblOffset val="100"/>
        <c:noMultiLvlLbl val="0"/>
      </c:catAx>
      <c:valAx>
        <c:axId val="107977728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797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346072901759408"/>
          <c:y val="0.90569026880877357"/>
          <c:w val="0.41681779666900592"/>
          <c:h val="9.430973119122629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 panose="020B0604030504040204" pitchFamily="34" charset="0"/>
              <a:ea typeface="Verdana" panose="020B0604030504040204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946296545711027E-2"/>
          <c:y val="5.4034944402412965E-2"/>
          <c:w val="0.93810740690857797"/>
          <c:h val="0.688212568907124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Маркетплейсы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B0F0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6D-5140-B177-2ED8B0A097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Аптеки и отзовики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104</c:v>
                </c:pt>
                <c:pt idx="1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6D-5140-B177-2ED8B0A097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842048"/>
        <c:axId val="113843584"/>
      </c:barChart>
      <c:catAx>
        <c:axId val="11384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843584"/>
        <c:crosses val="autoZero"/>
        <c:auto val="1"/>
        <c:lblAlgn val="ctr"/>
        <c:lblOffset val="100"/>
        <c:noMultiLvlLbl val="0"/>
      </c:catAx>
      <c:valAx>
        <c:axId val="113843584"/>
        <c:scaling>
          <c:orientation val="minMax"/>
          <c:max val="150"/>
        </c:scaling>
        <c:delete val="1"/>
        <c:axPos val="l"/>
        <c:numFmt formatCode="General" sourceLinked="1"/>
        <c:majorTickMark val="out"/>
        <c:minorTickMark val="none"/>
        <c:tickLblPos val="nextTo"/>
        <c:crossAx val="113842048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legend>
      <c:legendPos val="b"/>
      <c:layout>
        <c:manualLayout>
          <c:xMode val="edge"/>
          <c:yMode val="edge"/>
          <c:x val="0.20062943520948773"/>
          <c:y val="0.83084583177102866"/>
          <c:w val="0.6302447533564477"/>
          <c:h val="6.672196113993135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583681669420954E-2"/>
          <c:y val="1.7065366829146365E-2"/>
          <c:w val="0.92854981962281768"/>
          <c:h val="0.753590176227971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Позитивные карточки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16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3-4A08-B31A-DEE14294C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Негативные карточки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4408572598206064E-2"/>
                </c:manualLayout>
              </c:layout>
              <c:spPr>
                <a:solidFill>
                  <a:srgbClr val="C00000"/>
                </a:solidFill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A4-474C-8A36-DBDCF7C50F19}"/>
                </c:ext>
              </c:extLst>
            </c:dLbl>
            <c:dLbl>
              <c:idx val="1"/>
              <c:layout>
                <c:manualLayout>
                  <c:x val="0"/>
                  <c:y val="2.4408572598206054E-2"/>
                </c:manualLayout>
              </c:layout>
              <c:spPr>
                <a:solidFill>
                  <a:srgbClr val="C00000"/>
                </a:solidFill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A4-474C-8A36-DBDCF7C50F19}"/>
                </c:ext>
              </c:extLst>
            </c:dLbl>
            <c:dLbl>
              <c:idx val="2"/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C4B4-478A-8455-AEAEB01E23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algn="ctr">
                  <a:defRPr lang="ru-RU" sz="800" b="0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93-4A08-B31A-DEE14294CF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отзывов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93-4A08-B31A-DEE14294CFC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62"/>
        <c:overlap val="100"/>
        <c:axId val="113963776"/>
        <c:axId val="113965312"/>
      </c:barChart>
      <c:catAx>
        <c:axId val="11396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965312"/>
        <c:crosses val="autoZero"/>
        <c:auto val="1"/>
        <c:lblAlgn val="ctr"/>
        <c:lblOffset val="100"/>
        <c:noMultiLvlLbl val="0"/>
      </c:catAx>
      <c:valAx>
        <c:axId val="1139653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396377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EDBD56-50A5-48A0-94C6-6193EF36B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74DD-548E-4587-95B6-97B750526B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5480D-DAD6-479A-AF42-3698FE8B49F7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46053-901D-4500-AD00-F61BAD626A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4A5A6-DEBC-42D9-B72F-7535E6D45C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FB8B0-0F3E-4EC0-BE35-C4EAF2A80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313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CBFC2-F115-4861-B510-3F99C30BA3FD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52007-8F7A-47EA-9635-D353BCBF381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67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25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872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D1E2A3B-2704-D06C-1B27-3F757058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789847DB-814B-6EC1-F5F0-67731D50A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0E0D68E8-522C-0C32-6DDE-508B56026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FBAE0C6D-3ACF-CB10-FD79-A70B862B9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9990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7463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766414-1DE3-4FA8-9CFC-6A4B7D252A70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10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702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756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0041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2C55-3A3F-D023-01A2-60A2F838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909C1C-1A49-26AC-8DA2-0D9C7110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D91220-DC7E-ADE3-E9CA-5E03B981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09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2025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52007-8F7A-47EA-9635-D353BCBF381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3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45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9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7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58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18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29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89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55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27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щи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lvl="0">
              <a:defRPr sz="1800"/>
            </a:pPr>
            <a:r>
              <a:rPr sz="5600"/>
              <a:t>Текст заголовка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>
              <a:defRPr sz="1800"/>
            </a:pPr>
            <a:r>
              <a:rPr sz="2200"/>
              <a:t>Уровень текста 1</a:t>
            </a:r>
          </a:p>
          <a:p>
            <a:pPr lvl="1">
              <a:defRPr sz="1800"/>
            </a:pPr>
            <a:r>
              <a:rPr sz="2200"/>
              <a:t>Уровень текста 2</a:t>
            </a:r>
          </a:p>
          <a:p>
            <a:pPr lvl="2">
              <a:defRPr sz="1800"/>
            </a:pPr>
            <a:r>
              <a:rPr sz="2200"/>
              <a:t>Уровень текста 3</a:t>
            </a:r>
          </a:p>
          <a:p>
            <a:pPr lvl="3">
              <a:defRPr sz="1800"/>
            </a:pPr>
            <a:r>
              <a:rPr sz="2200"/>
              <a:t>Уровень текста 4</a:t>
            </a:r>
          </a:p>
          <a:p>
            <a:pPr lvl="4">
              <a:defRPr sz="1800"/>
            </a:pPr>
            <a:r>
              <a:rPr sz="2200"/>
              <a:t>Уровень текста 5</a:t>
            </a:r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890820" y="6135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1">
                <a:solidFill>
                  <a:schemeClr val="tx1">
                    <a:tint val="75000"/>
                  </a:schemeClr>
                </a:solidFill>
                <a:latin typeface="FuturaFuturisC" charset="0"/>
                <a:ea typeface="FuturaFuturisC" charset="0"/>
                <a:cs typeface="FuturaFuturisC" charset="0"/>
              </a:defRPr>
            </a:lvl1pPr>
          </a:lstStyle>
          <a:p>
            <a:fld id="{EA254C3E-CE8A-5D4B-8E34-BA13DC4CD9D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95511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блока+ заголов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30A168A-DB14-E8DE-D7B1-F6AA7523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76" y="202389"/>
            <a:ext cx="6987586" cy="699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EB8A7B28-9628-3860-D3CE-4FDB58C7D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8899" y="6546850"/>
            <a:ext cx="7372855" cy="2345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3C4450A6-5252-E92B-8FF2-A83F2D49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7949" y="6546851"/>
            <a:ext cx="578327" cy="2264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en-US" sz="1000" b="0" i="0" smtClean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A8D1895-241D-B447-8705-FB5433B5C95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4D449CC-D647-8452-6D41-82DB2C250A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740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E296CADC-1291-8367-4337-40A5303B8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7740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C462AB5-2CAC-3566-D49E-DC07FE120C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355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55FD7-155E-BCD1-2B66-1B8575FC1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7489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993E13B-BE7A-790B-7AFC-D1BDFA3304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00314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F398C78-25D8-A595-294E-839F9A1695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5377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EF0477CC-9EE7-F55E-7FD0-F80A838041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7951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4B24CB46-25A0-C580-8C22-B86E547E88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00314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4771F-E448-7642-B056-F6FC95D4A473}" type="datetimeFigureOut">
              <a:rPr lang="ru-RU" smtClean="0"/>
              <a:pPr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3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k.com/club171736200" TargetMode="External"/><Relationship Id="rId13" Type="http://schemas.openxmlformats.org/officeDocument/2006/relationships/hyperlink" Target="https://www.babyblog.ru/community/happypregn" TargetMode="External"/><Relationship Id="rId3" Type="http://schemas.openxmlformats.org/officeDocument/2006/relationships/chart" Target="../charts/chart8.xml"/><Relationship Id="rId7" Type="http://schemas.openxmlformats.org/officeDocument/2006/relationships/hyperlink" Target="http://ok.ru/group/70000001016930" TargetMode="External"/><Relationship Id="rId12" Type="http://schemas.openxmlformats.org/officeDocument/2006/relationships/hyperlink" Target="http://vk.com/club13190847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vk.com/club217589574" TargetMode="External"/><Relationship Id="rId11" Type="http://schemas.openxmlformats.org/officeDocument/2006/relationships/hyperlink" Target="http://vk.com/club118324715" TargetMode="External"/><Relationship Id="rId5" Type="http://schemas.openxmlformats.org/officeDocument/2006/relationships/hyperlink" Target="https://dzen.ru/id/5eaafa59cf77ee27c9421287" TargetMode="External"/><Relationship Id="rId15" Type="http://schemas.openxmlformats.org/officeDocument/2006/relationships/hyperlink" Target="http://vk.com/club49066148" TargetMode="External"/><Relationship Id="rId10" Type="http://schemas.openxmlformats.org/officeDocument/2006/relationships/hyperlink" Target="http://vk.com/club149047382" TargetMode="External"/><Relationship Id="rId4" Type="http://schemas.openxmlformats.org/officeDocument/2006/relationships/chart" Target="../charts/chart9.xml"/><Relationship Id="rId9" Type="http://schemas.openxmlformats.org/officeDocument/2006/relationships/hyperlink" Target="https://telegram.me/hamovnikipoleznychatik" TargetMode="External"/><Relationship Id="rId14" Type="http://schemas.openxmlformats.org/officeDocument/2006/relationships/hyperlink" Target="https://instagram.com/ps.popov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ivnvo/12458?comment=279989" TargetMode="External"/><Relationship Id="rId3" Type="http://schemas.openxmlformats.org/officeDocument/2006/relationships/chart" Target="../charts/chart10.xml"/><Relationship Id="rId7" Type="http://schemas.openxmlformats.org/officeDocument/2006/relationships/hyperlink" Target="https://www.youtube.com/watch?v=yVqhTupwoJQ&amp;lc=UgwJXVPNUmEETuMAlrN4AaABAg" TargetMode="External"/><Relationship Id="rId12" Type="http://schemas.openxmlformats.org/officeDocument/2006/relationships/hyperlink" Target="https://otzovik.com/review_18381772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forum.baby.ru/comments/goto/2635344570_0_2635337922/" TargetMode="External"/><Relationship Id="rId11" Type="http://schemas.openxmlformats.org/officeDocument/2006/relationships/hyperlink" Target="https://megapteka.ru/product/trental/reviews" TargetMode="External"/><Relationship Id="rId5" Type="http://schemas.openxmlformats.org/officeDocument/2006/relationships/hyperlink" Target="https://vk.com/wall-55541786_309162?reply=309171" TargetMode="External"/><Relationship Id="rId10" Type="http://schemas.openxmlformats.org/officeDocument/2006/relationships/hyperlink" Target="https://uteka.ru/product/trental-400-297894/" TargetMode="External"/><Relationship Id="rId4" Type="http://schemas.openxmlformats.org/officeDocument/2006/relationships/hyperlink" Target="https://dzen.ru/a/afXo7pQU6TCKBLMB?share_to=link#comment_3292156994&amp;comments_data=n_new" TargetMode="External"/><Relationship Id="rId9" Type="http://schemas.openxmlformats.org/officeDocument/2006/relationships/hyperlink" Target="https://mom.life/post/69f79cf115f4258ecf030057-devochki-po-utram-ya-vstayu-n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352585" y="2415201"/>
            <a:ext cx="109213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sz="3600" b="1" dirty="0">
                <a:solidFill>
                  <a:srgbClr val="000000"/>
                </a:solidFill>
                <a:latin typeface="Arial"/>
              </a:rPr>
              <a:t>ИНФОРМАЦИОННАЯ КАМПАНИЯ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3600" b="1" dirty="0">
                <a:solidFill>
                  <a:srgbClr val="00AEEF"/>
                </a:solidFill>
                <a:latin typeface="Arial"/>
              </a:rPr>
              <a:t>ТРЕНТАЛ</a:t>
            </a:r>
            <a:r>
              <a:rPr sz="3600" b="1" baseline="30000" dirty="0">
                <a:solidFill>
                  <a:srgbClr val="00AEEF"/>
                </a:solidFill>
                <a:latin typeface="Arial"/>
              </a:rPr>
              <a:t>®</a:t>
            </a:r>
          </a:p>
        </p:txBody>
      </p:sp>
      <p:sp>
        <p:nvSpPr>
          <p:cNvPr id="95" name="Google Shape;95;p1"/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2585" y="4271773"/>
            <a:ext cx="3096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447977" cy="662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kumimoji="0" lang="ru-RU" sz="28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ТЕКУЩИЙ ОТЧЕТ ОБ ИНФОРМАЦИОННОЙ КАМПАНИИ</a:t>
            </a:r>
            <a:endParaRPr kumimoji="0" lang="ru-RU" sz="2600" b="0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Shape 219">
            <a:extLst>
              <a:ext uri="{FF2B5EF4-FFF2-40B4-BE49-F238E27FC236}">
                <a16:creationId xmlns:a16="http://schemas.microsoft.com/office/drawing/2014/main" id="{3769E816-E8D2-7345-842B-F34273750EB8}"/>
              </a:ext>
            </a:extLst>
          </p:cNvPr>
          <p:cNvSpPr/>
          <p:nvPr/>
        </p:nvSpPr>
        <p:spPr>
          <a:xfrm>
            <a:off x="450909" y="1203677"/>
            <a:ext cx="7427169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defTabSz="457200">
              <a:defRPr sz="2400" b="1">
                <a:solidFill>
                  <a:srgbClr val="686E7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ПЕРИОД: 01–31 МАЯ 2026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1AA255D-1A3F-C4FE-CC35-BF66DC0A1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24499"/>
              </p:ext>
            </p:extLst>
          </p:nvPr>
        </p:nvGraphicFramePr>
        <p:xfrm>
          <a:off x="4201817" y="2278635"/>
          <a:ext cx="6958619" cy="2488500"/>
        </p:xfrm>
        <a:graphic>
          <a:graphicData uri="http://schemas.openxmlformats.org/drawingml/2006/table">
            <a:tbl>
              <a:tblPr/>
              <a:tblGrid>
                <a:gridCol w="3955478">
                  <a:extLst>
                    <a:ext uri="{9D8B030D-6E8A-4147-A177-3AD203B41FA5}">
                      <a16:colId xmlns:a16="http://schemas.microsoft.com/office/drawing/2014/main" val="321723194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3515080965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846863477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673345034"/>
                    </a:ext>
                  </a:extLst>
                </a:gridCol>
              </a:tblGrid>
              <a:tr h="322172">
                <a:tc>
                  <a:txBody>
                    <a:bodyPr/>
                    <a:lstStyle/>
                    <a:p>
                      <a:pPr algn="l"/>
                      <a:r>
                        <a:rPr sz="1100" b="1" dirty="0"/>
                        <a:t>Публикации в соцмедиа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Апрель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Май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Всего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22458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Отзывы (отзовики, аптеки) на топ-площадках без покупки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12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12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24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20335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Комментарии на площадках в топ-20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5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5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10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9662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Комментарии в открытых обсуждениях (симптоматика, диагнозы, препараты)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40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40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80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567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Мониторинг и реагирование, PPT-отчет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05749"/>
                  </a:ext>
                </a:extLst>
              </a:tr>
            </a:tbl>
          </a:graphicData>
        </a:graphic>
      </p:graphicFrame>
      <p:pic>
        <p:nvPicPr>
          <p:cNvPr id="5" name="Рисунок 11">
            <a:extLst>
              <a:ext uri="{FF2B5EF4-FFF2-40B4-BE49-F238E27FC236}">
                <a16:creationId xmlns:a16="http://schemas.microsoft.com/office/drawing/2014/main" id="{63B53CC5-25B4-77FF-A204-FC84ED439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09" y="2238401"/>
            <a:ext cx="3030083" cy="21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12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1078992"/>
            <a:ext cx="1219200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B8365692-55B6-F90B-2C79-9FE33B743EF7}"/>
              </a:ext>
            </a:extLst>
          </p:cNvPr>
          <p:cNvSpPr txBox="1">
            <a:spLocks/>
          </p:cNvSpPr>
          <p:nvPr/>
        </p:nvSpPr>
        <p:spPr>
          <a:xfrm>
            <a:off x="420624" y="1408176"/>
            <a:ext cx="10789920" cy="13533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60958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2pPr>
            <a:lvl3pPr marL="121917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1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3pPr>
            <a:lvl4pPr marL="182875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4pPr>
            <a:lvl5pPr marL="2438339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ClrTx/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Категория антикоагулянтов обсуждается умеренно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– в мае бренды суммарно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получили 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402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упоминания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. </a:t>
            </a:r>
            <a:endParaRPr lang="ru-RU" sz="1100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</a:pPr>
            <a:endParaRPr lang="ru-RU" sz="110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с учетом кампании занял 2-е место по объему упоминаний : 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175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сообщени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й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и SOV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4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3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5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%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 Из них 57 сообщений относятся к кампании,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118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— органическая часть.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Пентоксифиллин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лидирует в категории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204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сообщений, SOV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50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7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%).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На 3 месте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Вазонит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23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сообщений, SOV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5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7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%)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Р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азрыв с лидером для бренда небольшой, мы находимся на одном уровне с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Пентоксифиллином.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занимает 1-е место среди конкурентов по аудитории: OTS 20 568 934. Благодаря проведению кампании в мае мы заняли прочную позицию в инфополе антикоагулянтов и вышли на один уровень с лидером.</a:t>
            </a:r>
            <a:endParaRPr sz="11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19DAD-6FCD-04DB-0CC0-F3BEFDE7B633}"/>
              </a:ext>
            </a:extLst>
          </p:cNvPr>
          <p:cNvSpPr txBox="1"/>
          <p:nvPr/>
        </p:nvSpPr>
        <p:spPr>
          <a:xfrm>
            <a:off x="2287371" y="3182112"/>
            <a:ext cx="3637941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Сообщения о брендах, 1–31 мая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6A4DA-06C5-7630-E929-874875DC3488}"/>
              </a:ext>
            </a:extLst>
          </p:cNvPr>
          <p:cNvSpPr txBox="1"/>
          <p:nvPr/>
        </p:nvSpPr>
        <p:spPr>
          <a:xfrm>
            <a:off x="7302032" y="3182112"/>
            <a:ext cx="352446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Аудитория сообщений OTS, 1–31 мая 2026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4A9D71-5C60-B765-15C8-CB11681AE841}"/>
              </a:ext>
            </a:extLst>
          </p:cNvPr>
          <p:cNvSpPr/>
          <p:nvPr/>
        </p:nvSpPr>
        <p:spPr>
          <a:xfrm>
            <a:off x="420624" y="6181344"/>
            <a:ext cx="10789920" cy="2926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9787F407-AF40-295E-B317-D1C11BD99F2A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25812F-D53F-6AFC-8DAA-7A5DA4DAE325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/>
            <a:r>
              <a:rPr sz="2800" b="0" dirty="0">
                <a:solidFill>
                  <a:srgbClr val="000000"/>
                </a:solidFill>
                <a:latin typeface="Arial"/>
              </a:rPr>
              <a:t>ИНФОПОЛЕ КАТЕГОРИИ В МАЕ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87264"/>
              </p:ext>
            </p:extLst>
          </p:nvPr>
        </p:nvGraphicFramePr>
        <p:xfrm>
          <a:off x="941832" y="3401568"/>
          <a:ext cx="498348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02574"/>
              </p:ext>
            </p:extLst>
          </p:nvPr>
        </p:nvGraphicFramePr>
        <p:xfrm>
          <a:off x="5998463" y="3401568"/>
          <a:ext cx="5630319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3083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D2C4CC2-AED2-A5C3-F58D-148C8309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092DD3-786B-112C-C3F8-19D4C2BEA6B4}"/>
              </a:ext>
            </a:extLst>
          </p:cNvPr>
          <p:cNvSpPr txBox="1">
            <a:spLocks/>
          </p:cNvSpPr>
          <p:nvPr/>
        </p:nvSpPr>
        <p:spPr>
          <a:xfrm>
            <a:off x="534037" y="278915"/>
            <a:ext cx="11123926" cy="1135508"/>
          </a:xfrm>
          <a:prstGeom prst="rect">
            <a:avLst/>
          </a:prstGeom>
        </p:spPr>
        <p:txBody>
          <a:bodyPr vert="horz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3304D76B-686F-B87D-C405-39800070E45C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B8623-2371-D6AE-FF23-7FE9DE5C3494}"/>
              </a:ext>
            </a:extLst>
          </p:cNvPr>
          <p:cNvSpPr txBox="1">
            <a:spLocks/>
          </p:cNvSpPr>
          <p:nvPr/>
        </p:nvSpPr>
        <p:spPr>
          <a:xfrm>
            <a:off x="424662" y="434148"/>
            <a:ext cx="11233302" cy="819216"/>
          </a:xfrm>
          <a:prstGeom prst="rect">
            <a:avLst/>
          </a:prstGeom>
        </p:spPr>
        <p:txBody>
          <a:bodyPr vert="horz" lIns="91440" tIns="45721" rIns="91440" bIns="45721" rtlCol="0" anchor="t">
            <a:normAutofit/>
          </a:bodyPr>
          <a:lstStyle/>
          <a:p>
            <a:endParaRPr lang="ru-RU" sz="2800" dirty="0"/>
          </a:p>
        </p:txBody>
      </p:sp>
      <p:sp>
        <p:nvSpPr>
          <p:cNvPr id="13" name="Любой проект мы начинаем с исследований и аналитики…">
            <a:extLst>
              <a:ext uri="{FF2B5EF4-FFF2-40B4-BE49-F238E27FC236}">
                <a16:creationId xmlns:a16="http://schemas.microsoft.com/office/drawing/2014/main" id="{893BACA0-6825-6AB3-D3C3-DC93F46C5703}"/>
              </a:ext>
            </a:extLst>
          </p:cNvPr>
          <p:cNvSpPr txBox="1"/>
          <p:nvPr/>
        </p:nvSpPr>
        <p:spPr>
          <a:xfrm>
            <a:off x="6689982" y="3603440"/>
            <a:ext cx="4661641" cy="1790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169329" indent="-169329" algn="l" defTabSz="609585">
              <a:lnSpc>
                <a:spcPct val="100000"/>
              </a:lnSpc>
              <a:spcBef>
                <a:spcPts val="800"/>
              </a:spcBef>
              <a:spcAft>
                <a:spcPts val="1100"/>
              </a:spcAft>
              <a:defRPr sz="1100">
                <a:solidFill>
                  <a:srgbClr val="1A1A1A"/>
                </a:solidFill>
              </a:defRPr>
            </a:pPr>
            <a:r>
              <a:rPr sz="1100" b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>
                <a:solidFill>
                  <a:srgbClr val="000000"/>
                </a:solidFill>
                <a:latin typeface="Arial"/>
              </a:rPr>
              <a:t>Симптомы диабетической стопы, уход и самоконтроль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>
                <a:solidFill>
                  <a:srgbClr val="000000"/>
                </a:solidFill>
                <a:latin typeface="Arial"/>
              </a:rPr>
              <a:t>Контроль сахара, диабет и сосудистые риски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>
                <a:solidFill>
                  <a:srgbClr val="000000"/>
                </a:solidFill>
                <a:latin typeface="Arial"/>
              </a:rPr>
              <a:t>Диабетическая стопа как осложнение сахарного диабета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>
                <a:solidFill>
                  <a:srgbClr val="000000"/>
                </a:solidFill>
                <a:latin typeface="Arial"/>
              </a:rPr>
              <a:t>Медицинская помощь и региональные программы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>
                <a:solidFill>
                  <a:srgbClr val="000000"/>
                </a:solidFill>
                <a:latin typeface="Arial"/>
              </a:rPr>
              <a:t>Отзывы и выбор средств для ухода за стопами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260C1-11CC-6E69-3E67-4D3D0FBFC425}"/>
              </a:ext>
            </a:extLst>
          </p:cNvPr>
          <p:cNvSpPr txBox="1"/>
          <p:nvPr/>
        </p:nvSpPr>
        <p:spPr>
          <a:xfrm>
            <a:off x="6689982" y="2879048"/>
            <a:ext cx="425572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Контексты обсуждений брендов категории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8E161-41DD-B19F-68D5-9CB6EB0EF671}"/>
              </a:ext>
            </a:extLst>
          </p:cNvPr>
          <p:cNvSpPr txBox="1"/>
          <p:nvPr/>
        </p:nvSpPr>
        <p:spPr>
          <a:xfrm>
            <a:off x="361950" y="1269766"/>
            <a:ext cx="11399731" cy="1051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Темы </a:t>
            </a:r>
            <a:r>
              <a:rPr lang="ru-RU" sz="1100" b="0" dirty="0">
                <a:latin typeface="Arial"/>
              </a:rPr>
              <a:t>сосудистых осложнений и проблем нижних конечностей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активно обсуждаются: в мае найдено 2 141 сообщение. </a:t>
            </a:r>
          </a:p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В рамках кампании мы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выходи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м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в обсуждения, где люди уже ищут подходящую проблему. В сообщениях связываем бренд с проблемой, моментом выбора и понятным курсом приема. </a:t>
            </a:r>
          </a:p>
          <a:p>
            <a:pPr>
              <a:spcAft>
                <a:spcPts val="80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П</a:t>
            </a:r>
            <a:r>
              <a:rPr lang="ru-RU" sz="1100" dirty="0"/>
              <a:t>отенциал инфополя позволяет охватывать большую аудиторию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.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Наиболее сильные точки входа для дальнейшего роста — симптомы диабетической стопы, контроль сахара, диабет и сосудистые риски.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C9DA084-BD5D-73E2-0EDC-7BC2352797DA}"/>
              </a:ext>
            </a:extLst>
          </p:cNvPr>
          <p:cNvSpPr txBox="1">
            <a:spLocks/>
          </p:cNvSpPr>
          <p:nvPr/>
        </p:nvSpPr>
        <p:spPr>
          <a:xfrm>
            <a:off x="361950" y="607745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ИНФОПОЛЕ ОБСУЖДЕНИЙ ПРОБЛЕМЫ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563" y="2814024"/>
            <a:ext cx="53901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Количество упоминаний тематик в месяц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72563" y="3088344"/>
          <a:ext cx="5390148" cy="3011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035E83AB-D205-BD7C-398A-588E5388F349}"/>
              </a:ext>
            </a:extLst>
          </p:cNvPr>
          <p:cNvSpPr/>
          <p:nvPr/>
        </p:nvSpPr>
        <p:spPr>
          <a:xfrm>
            <a:off x="577061" y="64024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 SM, 01 – 31 мая 2026 года. Исключен спам и нерелевантные упоминания.</a:t>
            </a:r>
          </a:p>
        </p:txBody>
      </p:sp>
    </p:spTree>
    <p:extLst>
      <p:ext uri="{BB962C8B-B14F-4D97-AF65-F5344CB8AC3E}">
        <p14:creationId xmlns:p14="http://schemas.microsoft.com/office/powerpoint/2010/main" val="260659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B3D11D82-6F30-FB5B-1EF1-9C2A8C6F3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722889"/>
              </p:ext>
            </p:extLst>
          </p:nvPr>
        </p:nvGraphicFramePr>
        <p:xfrm>
          <a:off x="4721291" y="2916250"/>
          <a:ext cx="6936672" cy="3333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oogle Shape;122;p3">
            <a:extLst>
              <a:ext uri="{FF2B5EF4-FFF2-40B4-BE49-F238E27FC236}">
                <a16:creationId xmlns:a16="http://schemas.microsoft.com/office/drawing/2014/main" id="{EA873E8D-B0E6-0A4D-440E-330BD9E96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208259"/>
              </p:ext>
            </p:extLst>
          </p:nvPr>
        </p:nvGraphicFramePr>
        <p:xfrm>
          <a:off x="534037" y="2794950"/>
          <a:ext cx="4367244" cy="3776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15">
            <a:extLst>
              <a:ext uri="{FF2B5EF4-FFF2-40B4-BE49-F238E27FC236}">
                <a16:creationId xmlns:a16="http://schemas.microsoft.com/office/drawing/2014/main" id="{9E31763E-6BB3-FC46-AC03-4CFC5DEE42FD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8014564" y="3620007"/>
            <a:ext cx="631095" cy="486615"/>
            <a:chOff x="10202064" y="3828693"/>
            <a:chExt cx="631095" cy="486615"/>
          </a:xfrm>
        </p:grpSpPr>
        <p:sp>
          <p:nvSpPr>
            <p:cNvPr id="12" name="Облачко с текстом: прямоугольное 4">
              <a:extLst>
                <a:ext uri="{FF2B5EF4-FFF2-40B4-BE49-F238E27FC236}">
                  <a16:creationId xmlns:a16="http://schemas.microsoft.com/office/drawing/2014/main" id="{6399189F-E8A7-1AEF-F754-CD30D87361E0}"/>
                </a:ext>
              </a:extLst>
            </p:cNvPr>
            <p:cNvSpPr/>
            <p:nvPr/>
          </p:nvSpPr>
          <p:spPr>
            <a:xfrm>
              <a:off x="10202064" y="3828693"/>
              <a:ext cx="631095" cy="243308"/>
            </a:xfrm>
            <a:prstGeom prst="wedgeRectCallout">
              <a:avLst>
                <a:gd name="adj1" fmla="val 15476"/>
                <a:gd name="adj2" fmla="val 44576"/>
              </a:avLst>
            </a:prstGeom>
            <a:solidFill>
              <a:srgbClr val="1655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0" b="1" dirty="0"/>
                <a:t>+</a:t>
              </a:r>
              <a:r>
                <a:rPr lang="ru-RU" sz="1000" b="1" dirty="0"/>
                <a:t>9</a:t>
              </a:r>
              <a:r>
                <a:rPr sz="1000" b="1" dirty="0"/>
                <a:t>,</a:t>
              </a:r>
              <a:r>
                <a:rPr lang="ru-RU" sz="1000" b="1" dirty="0"/>
                <a:t>3</a:t>
              </a:r>
              <a:r>
                <a:rPr sz="1000" b="1" dirty="0"/>
                <a:t> п.п.</a:t>
              </a:r>
            </a:p>
          </p:txBody>
        </p: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9C8B09B-0072-B94B-E3D3-53C268C05C2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7612" y="4084275"/>
              <a:ext cx="0" cy="231033"/>
            </a:xfrm>
            <a:prstGeom prst="line">
              <a:avLst/>
            </a:prstGeom>
            <a:ln>
              <a:solidFill>
                <a:srgbClr val="1655C5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CF29057-D9D3-4B56-FFE2-964B809D58EA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AABAFA-F33B-B502-871E-429FA85AC936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ДОЛИ ГОЛОСА БРЕНДОВ В ИНФОПОЛЕ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6A673-EFF9-C8EA-5BBC-D8C74E6C3463}"/>
              </a:ext>
            </a:extLst>
          </p:cNvPr>
          <p:cNvSpPr txBox="1"/>
          <p:nvPr/>
        </p:nvSpPr>
        <p:spPr>
          <a:xfrm>
            <a:off x="384048" y="1353312"/>
            <a:ext cx="201168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0070C0"/>
                </a:solidFill>
                <a:latin typeface="Arial"/>
              </a:rPr>
              <a:t>4</a:t>
            </a:r>
            <a:r>
              <a:rPr lang="ru-RU" sz="4000" b="1" dirty="0">
                <a:solidFill>
                  <a:srgbClr val="0070C0"/>
                </a:solidFill>
                <a:latin typeface="Arial"/>
              </a:rPr>
              <a:t>3</a:t>
            </a:r>
            <a:r>
              <a:rPr sz="4000" b="1" dirty="0">
                <a:solidFill>
                  <a:srgbClr val="0070C0"/>
                </a:solidFill>
                <a:latin typeface="Arial"/>
              </a:rPr>
              <a:t>,</a:t>
            </a:r>
            <a:r>
              <a:rPr lang="ru-RU" sz="4000" b="1" dirty="0">
                <a:solidFill>
                  <a:srgbClr val="0070C0"/>
                </a:solidFill>
                <a:latin typeface="Arial"/>
              </a:rPr>
              <a:t>5</a:t>
            </a:r>
            <a:r>
              <a:rPr sz="4000" b="1" dirty="0">
                <a:solidFill>
                  <a:srgbClr val="0070C0"/>
                </a:solidFill>
                <a:latin typeface="Arial"/>
              </a:rPr>
              <a:t>%</a:t>
            </a:r>
            <a:endParaRPr lang="ru-RU" sz="4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B8864F-A79F-6E1D-525E-5FFDF2B1EB30}"/>
              </a:ext>
            </a:extLst>
          </p:cNvPr>
          <p:cNvSpPr/>
          <p:nvPr/>
        </p:nvSpPr>
        <p:spPr>
          <a:xfrm>
            <a:off x="384048" y="1984583"/>
            <a:ext cx="3886200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 </a:t>
            </a:r>
            <a:r>
              <a:rPr lang="ru-RU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бренда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инфополе категории в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F043E-7B26-3014-113A-7F3A8E95B054}"/>
              </a:ext>
            </a:extLst>
          </p:cNvPr>
          <p:cNvSpPr txBox="1"/>
          <p:nvPr/>
        </p:nvSpPr>
        <p:spPr>
          <a:xfrm>
            <a:off x="1476630" y="2663020"/>
            <a:ext cx="2322122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SOV% брендов, 1–31 мая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AFC02-92E5-6CE8-9513-95D19C527766}"/>
              </a:ext>
            </a:extLst>
          </p:cNvPr>
          <p:cNvSpPr txBox="1"/>
          <p:nvPr/>
        </p:nvSpPr>
        <p:spPr>
          <a:xfrm>
            <a:off x="6323537" y="2663019"/>
            <a:ext cx="4644244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SOV% с ORM-публикациями и без них, 1–31 мая 2026</a:t>
            </a:r>
          </a:p>
        </p:txBody>
      </p:sp>
      <p:sp>
        <p:nvSpPr>
          <p:cNvPr id="11" name="Google Shape;141;p4">
            <a:extLst>
              <a:ext uri="{FF2B5EF4-FFF2-40B4-BE49-F238E27FC236}">
                <a16:creationId xmlns:a16="http://schemas.microsoft.com/office/drawing/2014/main" id="{274FE53D-14F7-7877-4A74-40F6AA870A00}"/>
              </a:ext>
            </a:extLst>
          </p:cNvPr>
          <p:cNvSpPr txBox="1"/>
          <p:nvPr/>
        </p:nvSpPr>
        <p:spPr>
          <a:xfrm>
            <a:off x="5059385" y="1485256"/>
            <a:ext cx="681557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Доля голоса бренда 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в группе прямых конкурентов</a:t>
            </a:r>
            <a:r>
              <a:rPr lang="ru-RU" sz="110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составила 43,</a:t>
            </a:r>
            <a:r>
              <a:rPr lang="ru-RU" sz="1100" b="1" dirty="0">
                <a:cs typeface="Arial" panose="020B0604020202020204" pitchFamily="34" charset="0"/>
              </a:rPr>
              <a:t>5</a:t>
            </a: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При этом без учета репутационной кампании показатель был бы ниже (</a:t>
            </a:r>
            <a:r>
              <a:rPr lang="ru-RU" sz="1100" dirty="0">
                <a:cs typeface="Arial" panose="020B0604020202020204" pitchFamily="34" charset="0"/>
              </a:rPr>
              <a:t>34,2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%)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;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 за счет проведения кампании бренд стал более заметен относительно прямых конкурентов</a:t>
            </a:r>
            <a:r>
              <a:rPr lang="en-US" sz="1100" dirty="0">
                <a:cs typeface="Arial" panose="020B0604020202020204" pitchFamily="34" charset="0"/>
              </a:rPr>
              <a:t>.</a:t>
            </a: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84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5">
            <a:extLst>
              <a:ext uri="{FF2B5EF4-FFF2-40B4-BE49-F238E27FC236}">
                <a16:creationId xmlns:a16="http://schemas.microsoft.com/office/drawing/2014/main" id="{FD58F3BF-1CF4-644A-9FE3-684DF61759F3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C52A404-D2BD-00B1-AC39-E5E534D360CF}"/>
              </a:ext>
            </a:extLst>
          </p:cNvPr>
          <p:cNvSpPr txBox="1">
            <a:spLocks/>
          </p:cNvSpPr>
          <p:nvPr/>
        </p:nvSpPr>
        <p:spPr>
          <a:xfrm>
            <a:off x="361959" y="651297"/>
            <a:ext cx="11707175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ТОНАЛЬНОСТЬ СООБЩЕНИЙ О БРЕНДАХ КАТЕГОРИИ</a:t>
            </a:r>
          </a:p>
        </p:txBody>
      </p:sp>
      <p:sp>
        <p:nvSpPr>
          <p:cNvPr id="5" name="Google Shape;105;g10e8a6c01b7_0_40">
            <a:extLst>
              <a:ext uri="{FF2B5EF4-FFF2-40B4-BE49-F238E27FC236}">
                <a16:creationId xmlns:a16="http://schemas.microsoft.com/office/drawing/2014/main" id="{074F38FA-F9F3-C0CE-0745-4CC00986BF49}"/>
              </a:ext>
            </a:extLst>
          </p:cNvPr>
          <p:cNvSpPr txBox="1">
            <a:spLocks/>
          </p:cNvSpPr>
          <p:nvPr/>
        </p:nvSpPr>
        <p:spPr>
          <a:xfrm>
            <a:off x="490986" y="4435342"/>
            <a:ext cx="10383844" cy="16348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sz="1100" b="1" dirty="0">
                <a:solidFill>
                  <a:srgbClr val="01A2FF"/>
                </a:solidFill>
                <a:latin typeface="Arial"/>
              </a:rPr>
              <a:t>ВЫВОДЫ ПО АНАЛИЗУ:</a:t>
            </a:r>
          </a:p>
          <a:p>
            <a:pPr marL="171450" indent="-171450">
              <a:buClr>
                <a:srgbClr val="01A2FF"/>
              </a:buClr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Доля позитивных упоминаний в мае у бренда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ru-RU" sz="1100" b="1" dirty="0">
                <a:solidFill>
                  <a:srgbClr val="00B050"/>
                </a:solidFill>
                <a:latin typeface="Arial"/>
              </a:rPr>
              <a:t>33%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(57 сообщений). Авторы делятся опытом использования и высоко оценивают результаты от применения препарата, отмечают удобство применения,и общий положительный эффект от использования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. Эти сообщения способствуют выбору бренда пациентами среди альтернатив и поддерживают доверие к продукту</a:t>
            </a:r>
            <a:endParaRPr sz="1100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buClr>
                <a:srgbClr val="01A2FF"/>
              </a:buClr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Доля негативных упоминаний бренда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ru-RU" sz="1100" b="1" dirty="0">
                <a:solidFill>
                  <a:srgbClr val="FF0000"/>
                </a:solidFill>
                <a:latin typeface="Arial"/>
              </a:rPr>
              <a:t>4%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(7 сообщений). Весь нейтрализованный негатив отображен отдельным блоком в отчете.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Нейтральные упоминания составили 63% (111 сообщения) - вопросы о способах использования, уточнения о назначениях врача, и комментарии в карточках товаров и социальных сетях.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D3213-5E27-A833-4EC1-328B7DE89FCC}"/>
              </a:ext>
            </a:extLst>
          </p:cNvPr>
          <p:cNvSpPr/>
          <p:nvPr/>
        </p:nvSpPr>
        <p:spPr>
          <a:xfrm>
            <a:off x="424661" y="6250065"/>
            <a:ext cx="10926962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  <a:r>
              <a:rPr lang="ru-RU" sz="900" b="0" dirty="0">
                <a:solidFill>
                  <a:srgbClr val="000000"/>
                </a:solidFill>
                <a:latin typeface="Arial"/>
              </a:rPr>
              <a:t> Автоматически проставленная тональность.</a:t>
            </a:r>
            <a:endParaRPr sz="900" b="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" name="Диаграмма 12">
            <a:extLst>
              <a:ext uri="{FF2B5EF4-FFF2-40B4-BE49-F238E27FC236}">
                <a16:creationId xmlns:a16="http://schemas.microsoft.com/office/drawing/2014/main" id="{1BB0FE5A-B3CB-D78D-A897-1028C852CE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5890908"/>
              </p:ext>
            </p:extLst>
          </p:nvPr>
        </p:nvGraphicFramePr>
        <p:xfrm>
          <a:off x="122866" y="1412526"/>
          <a:ext cx="4353742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Диаграмма 2">
            <a:extLst>
              <a:ext uri="{FF2B5EF4-FFF2-40B4-BE49-F238E27FC236}">
                <a16:creationId xmlns:a16="http://schemas.microsoft.com/office/drawing/2014/main" id="{B0B79DA2-2102-31FE-33C0-50E9D06713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77931"/>
              </p:ext>
            </p:extLst>
          </p:nvPr>
        </p:nvGraphicFramePr>
        <p:xfrm>
          <a:off x="4476608" y="1412526"/>
          <a:ext cx="7103476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2773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FA42771-507D-F529-7C74-70087224B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2228267"/>
              </p:ext>
            </p:extLst>
          </p:nvPr>
        </p:nvGraphicFramePr>
        <p:xfrm>
          <a:off x="471016" y="2099377"/>
          <a:ext cx="3316142" cy="3847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15">
            <a:extLst>
              <a:ext uri="{FF2B5EF4-FFF2-40B4-BE49-F238E27FC236}">
                <a16:creationId xmlns:a16="http://schemas.microsoft.com/office/drawing/2014/main" id="{48D2CF2D-F658-D875-83DA-D2B8D1320D57}"/>
              </a:ext>
            </a:extLst>
          </p:cNvPr>
          <p:cNvSpPr/>
          <p:nvPr/>
        </p:nvSpPr>
        <p:spPr>
          <a:xfrm>
            <a:off x="0" y="467436"/>
            <a:ext cx="92076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1" dirty="0">
              <a:latin typeface="Futura 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E1DD8F4-F8E0-EEC0-A52B-7334D2BFB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8688274"/>
              </p:ext>
            </p:extLst>
          </p:nvPr>
        </p:nvGraphicFramePr>
        <p:xfrm>
          <a:off x="3228647" y="2246554"/>
          <a:ext cx="3968362" cy="3852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519FE3F-AC09-167F-516E-94EBE3F1D98D}"/>
              </a:ext>
            </a:extLst>
          </p:cNvPr>
          <p:cNvSpPr txBox="1">
            <a:spLocks/>
          </p:cNvSpPr>
          <p:nvPr/>
        </p:nvSpPr>
        <p:spPr>
          <a:xfrm>
            <a:off x="361832" y="507533"/>
            <a:ext cx="11707302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ПЛОЩАДКИ ОБСУЖДЕНИЙ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3DADE-DEB0-42BE-9AAB-24988CA3178B}"/>
              </a:ext>
            </a:extLst>
          </p:cNvPr>
          <p:cNvSpPr txBox="1"/>
          <p:nvPr/>
        </p:nvSpPr>
        <p:spPr>
          <a:xfrm>
            <a:off x="361832" y="1062702"/>
            <a:ext cx="11217458" cy="7540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В мае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более половины всех обсуждений 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65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%) составили обсуждения в соцсетях и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блогах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 По количеству упоминаний лидируют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ВКонтакте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127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сообщений) 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Дзен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26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сообщений). </a:t>
            </a:r>
            <a:r>
              <a:rPr lang="ru-RU" sz="1100" dirty="0"/>
              <a:t>Бренды обсуждают в сообществах на тему здоровья, взаимопомощи, в множестве женских сообществ. Авторы агентства встраивались в обсуждения и формировали знание о </a:t>
            </a:r>
            <a:r>
              <a:rPr lang="ru-RU" sz="1100" b="1" dirty="0"/>
              <a:t>Трентал</a:t>
            </a:r>
            <a:r>
              <a:rPr lang="ru-RU" sz="1100" dirty="0"/>
              <a:t> как о наиболее эффективном продукте в данном контексте. 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Отзывы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составили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4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 инфополя — прежде всего это </a:t>
            </a:r>
            <a:r>
              <a:rPr sz="1100" dirty="0">
                <a:solidFill>
                  <a:srgbClr val="000000"/>
                </a:solidFill>
                <a:latin typeface="Arial"/>
              </a:rPr>
              <a:t>отзывы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на Otzyvru.com 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+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2), Otzovik.com 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+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2) и Vashe-mnenie.com 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+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2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)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AC790B-A100-461A-B528-6AD44086CF60}"/>
              </a:ext>
            </a:extLst>
          </p:cNvPr>
          <p:cNvSpPr/>
          <p:nvPr/>
        </p:nvSpPr>
        <p:spPr>
          <a:xfrm>
            <a:off x="1619332" y="2050681"/>
            <a:ext cx="1019510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Типы площадок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D502F6-832B-88AE-646C-725ECEE15E92}"/>
              </a:ext>
            </a:extLst>
          </p:cNvPr>
          <p:cNvSpPr/>
          <p:nvPr/>
        </p:nvSpPr>
        <p:spPr>
          <a:xfrm>
            <a:off x="4299917" y="2050682"/>
            <a:ext cx="1825821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Топ источников упоминаний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B7E101-4FB0-3C48-C873-48694EFB7DC7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  <p:graphicFrame>
        <p:nvGraphicFramePr>
          <p:cNvPr id="9" name="Таблица 1">
            <a:extLst>
              <a:ext uri="{FF2B5EF4-FFF2-40B4-BE49-F238E27FC236}">
                <a16:creationId xmlns:a16="http://schemas.microsoft.com/office/drawing/2014/main" id="{CB97F360-48CC-A3A3-46AA-9D5624D0B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46296"/>
              </p:ext>
            </p:extLst>
          </p:nvPr>
        </p:nvGraphicFramePr>
        <p:xfrm>
          <a:off x="6984193" y="2369800"/>
          <a:ext cx="4377574" cy="388577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04784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894858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755780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  <a:gridCol w="679096">
                  <a:extLst>
                    <a:ext uri="{9D8B030D-6E8A-4147-A177-3AD203B41FA5}">
                      <a16:colId xmlns:a16="http://schemas.microsoft.com/office/drawing/2014/main" val="3655591771"/>
                    </a:ext>
                  </a:extLst>
                </a:gridCol>
              </a:tblGrid>
              <a:tr h="3076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Топ сообществ-источников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Аудитория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u="none" dirty="0">
                          <a:solidFill>
                            <a:srgbClr val="000000"/>
                          </a:solidFill>
                          <a:latin typeface="+mn-lt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Советы для здоровья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6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Дзен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43</a:t>
                      </a: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179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3450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Подслушано ОК ☑️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Одноклассники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252 496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634908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Максим Абасов | Врач-флеболог, кмн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7 606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430172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Хамовники - полезный чатик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Telegram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3 831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0881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Женский Саратов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10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66 349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330205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u="none" dirty="0">
                          <a:solidFill>
                            <a:srgbClr val="000000"/>
                          </a:solidFill>
                          <a:latin typeface="+mn-lt"/>
                          <a:hlinkClick r:id="rId11"/>
                        </a:rPr>
                        <a:t>Консультации Врачей Онлайн</a:t>
                      </a:r>
                      <a:endParaRPr lang="ru-RU" sz="900" b="0" u="non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ВКонтакте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145 545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4726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u="none" dirty="0">
                          <a:solidFill>
                            <a:srgbClr val="000000"/>
                          </a:solidFill>
                          <a:latin typeface="+mn-lt"/>
                          <a:hlinkClick r:id="rId12"/>
                        </a:rPr>
                        <a:t>Медицинская Россия</a:t>
                      </a:r>
                      <a:endParaRPr lang="ru-RU" sz="900" b="0" u="non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407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42780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u="none" dirty="0">
                          <a:solidFill>
                            <a:srgbClr val="000000"/>
                          </a:solidFill>
                          <a:latin typeface="+mn-lt"/>
                          <a:hlinkClick r:id="rId13"/>
                        </a:rPr>
                        <a:t>Благополучная беременность</a:t>
                      </a:r>
                      <a:endParaRPr lang="ru-RU" sz="900" b="0" u="non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БебиБлог (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babyblog.ru)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116 186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859734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u="none" dirty="0">
                          <a:solidFill>
                            <a:srgbClr val="000000"/>
                          </a:solidFill>
                          <a:latin typeface="+mn-lt"/>
                          <a:hlinkClick r:id="rId14"/>
                        </a:rPr>
                        <a:t>Павел Попов|Эндокринология и спорт</a:t>
                      </a:r>
                      <a:endParaRPr lang="ru-RU" sz="900" b="0" u="non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</a:rPr>
                        <a:t>Instagram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</a:rPr>
                        <a:t>47 551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6450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5"/>
                        </a:rPr>
                        <a:t>ПСОРИАЗ и </a:t>
                      </a: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15"/>
                        </a:rPr>
                        <a:t>лечение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15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65 147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43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4685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F8D3885E-EBF6-3BA6-A64D-397C85379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057041"/>
              </p:ext>
            </p:extLst>
          </p:nvPr>
        </p:nvGraphicFramePr>
        <p:xfrm>
          <a:off x="672336" y="2493223"/>
          <a:ext cx="5198591" cy="3603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ПОКАЗАТЕЛИ ПОСЕВА СООБЩЕНИЙ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F914FCB-CBD9-A2D7-D54D-1BF2E817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775664"/>
              </p:ext>
            </p:extLst>
          </p:nvPr>
        </p:nvGraphicFramePr>
        <p:xfrm>
          <a:off x="7245317" y="1422550"/>
          <a:ext cx="3938599" cy="43478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7854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1080344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</a:tblGrid>
              <a:tr h="305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Просмотры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4"/>
                        </a:rPr>
                        <a:t>Дзен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109 594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980347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51 600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439298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u="none" dirty="0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F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orum.baby.ru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2 580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09574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YouTube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1 737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72750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Telegram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1 391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16569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M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om.life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12720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Ютека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732069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Мегаптека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936570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2"/>
                        </a:rPr>
                        <a:t>Отзовик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531821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Другие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sz="9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проектная таблица ORM, лист «Май 2026», 01–31 мая 2026 года.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0C937-BAA9-080D-17A1-E3B02ABA2208}"/>
              </a:ext>
            </a:extLst>
          </p:cNvPr>
          <p:cNvSpPr txBox="1"/>
          <p:nvPr/>
        </p:nvSpPr>
        <p:spPr>
          <a:xfrm>
            <a:off x="265339" y="1231899"/>
            <a:ext cx="66482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/>
              <a:t>57 сообщений </a:t>
            </a:r>
            <a:r>
              <a:rPr lang="ru-RU" sz="1100" dirty="0"/>
              <a:t>разместили авторы агентства в активных обсуждениях в соцсетях, форумах, чатах и топе выдачи по запросам тематики.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 мае наибольший упор в посеве был сделан на сообщества и контент, связанный с обсуждением кровообращения и связанных заболеваний.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/>
              <a:t>Комментарии получили 166 902 просмотра</a:t>
            </a:r>
            <a:r>
              <a:rPr lang="ru-RU" sz="11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42279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56E67C-F3BE-62AA-6E9F-2B747A112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60" y="2051825"/>
            <a:ext cx="5820045" cy="11076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E829EAC-359C-1245-A6EF-1736C4E3ADF3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ПРИМЕРЫ СООБЩЕНИЙ О БРЕНДЕ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35F9E2-B0A5-33DC-A69D-3801883FFBD7}"/>
              </a:ext>
            </a:extLst>
          </p:cNvPr>
          <p:cNvSpPr/>
          <p:nvPr/>
        </p:nvSpPr>
        <p:spPr>
          <a:xfrm>
            <a:off x="361015" y="1395495"/>
            <a:ext cx="10481155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В мае опубликовали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45 комментариев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о бренде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обсуждениях, социальных сетях и сайтах в топе выдачи. В комментариях авторы делились успешным опытом применения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разных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сценариях использования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продукта.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F4DBD-7F60-13B7-01F9-CE11C1CC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15" y="4779006"/>
            <a:ext cx="4442314" cy="1539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482F8-0FF1-4C91-6AB4-EF71C87EF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074" y="3429000"/>
            <a:ext cx="5979215" cy="2469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E8670F-151C-0D54-2F42-DC134BE41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56" y="3542827"/>
            <a:ext cx="6004304" cy="1122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76442D-5A00-B9C1-2BD8-5381B44AF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356" y="2160521"/>
            <a:ext cx="5228585" cy="10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210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8E7C-C1C4-5A8A-6B94-E378BF4C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0288CE6-39FA-8E46-DF11-EAA1DAE350A7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C8F6E0A-FE2A-A743-8FFA-6ABAA0C6C061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ПУБЛИКАЦИИ НА ОТЗОВИКАХ И ИНТЕРНЕТ-АПТЕКАХ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2AC476-57B2-02AA-AFDA-83138D633FE2}"/>
              </a:ext>
            </a:extLst>
          </p:cNvPr>
          <p:cNvSpPr/>
          <p:nvPr/>
        </p:nvSpPr>
        <p:spPr>
          <a:xfrm>
            <a:off x="337167" y="1322569"/>
            <a:ext cx="11298106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публиковали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12 отзывов в крупных интернет-аптеках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В отзывах авторы описывали эффективность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Трентал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в разных контекстах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применения.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100" b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473CC-0159-A5D8-4165-1609C7024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67" y="1952560"/>
            <a:ext cx="5675075" cy="183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8750BD-F6FF-302A-EF6D-F4E493AD8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53" y="1952560"/>
            <a:ext cx="4682464" cy="2418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36D5A7-E385-5D7B-51EE-A8D8024E8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304" y="4586461"/>
            <a:ext cx="5611409" cy="1930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72B065-3C4C-C67D-50CC-096BEB86D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87" y="4873711"/>
            <a:ext cx="5339972" cy="10061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337330-46AE-0195-C3FB-0A5FF19DAE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87" y="3711106"/>
            <a:ext cx="5758833" cy="11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3455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7ACA484B-38F1-474D-8BFE-386EF1557F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141757"/>
              </p:ext>
            </p:extLst>
          </p:nvPr>
        </p:nvGraphicFramePr>
        <p:xfrm>
          <a:off x="7680960" y="3026665"/>
          <a:ext cx="3703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8C151528-C169-B5B7-9110-6DA3FE9A8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161413"/>
              </p:ext>
            </p:extLst>
          </p:nvPr>
        </p:nvGraphicFramePr>
        <p:xfrm>
          <a:off x="440405" y="2496045"/>
          <a:ext cx="3861940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РЕЙТИНГИ ТРЕНТАЛ В ОТЗЫВАХ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08E97A-EAAB-ED43-AF68-C6355B9C815F}"/>
              </a:ext>
            </a:extLst>
          </p:cNvPr>
          <p:cNvSpPr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проектная таблица ORM, лист «Рейтинги». Показан период «Март 2026».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6A75B-4CB4-F04F-8B58-6DEB6234180C}"/>
              </a:ext>
            </a:extLst>
          </p:cNvPr>
          <p:cNvSpPr txBox="1"/>
          <p:nvPr/>
        </p:nvSpPr>
        <p:spPr>
          <a:xfrm>
            <a:off x="457200" y="2468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Количество карточек по рейтинговому статусу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592EF-FEE8-A7FF-853F-9067EFC29121}"/>
              </a:ext>
            </a:extLst>
          </p:cNvPr>
          <p:cNvSpPr txBox="1"/>
          <p:nvPr/>
        </p:nvSpPr>
        <p:spPr>
          <a:xfrm>
            <a:off x="4160520" y="24688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Площадки публикации отзывов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C25F5-CA64-494D-B9A8-9C0A7C84D909}"/>
              </a:ext>
            </a:extLst>
          </p:cNvPr>
          <p:cNvSpPr txBox="1"/>
          <p:nvPr/>
        </p:nvSpPr>
        <p:spPr>
          <a:xfrm>
            <a:off x="7818120" y="2468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Суммарное количество отзывов на бренд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0357" y="3351475"/>
            <a:ext cx="1823961" cy="1371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www.uteka.ru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+3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www.megapteka.ru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+3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www.otzovik.com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+2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otzyv.pro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+2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otzyvru.com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81BB8C-03C3-DB26-64E0-856C702D003E}"/>
              </a:ext>
            </a:extLst>
          </p:cNvPr>
          <p:cNvSpPr/>
          <p:nvPr/>
        </p:nvSpPr>
        <p:spPr>
          <a:xfrm>
            <a:off x="7616952" y="301752"/>
            <a:ext cx="109728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5AFDB-D4BD-FB7E-CE04-F291E368CD04}"/>
              </a:ext>
            </a:extLst>
          </p:cNvPr>
          <p:cNvSpPr/>
          <p:nvPr/>
        </p:nvSpPr>
        <p:spPr>
          <a:xfrm>
            <a:off x="8897112" y="301752"/>
            <a:ext cx="16916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BDA33-3E34-E6A0-C1A9-2DCD06ADD48F}"/>
              </a:ext>
            </a:extLst>
          </p:cNvPr>
          <p:cNvSpPr/>
          <p:nvPr/>
        </p:nvSpPr>
        <p:spPr>
          <a:xfrm>
            <a:off x="10744200" y="301752"/>
            <a:ext cx="12344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6D6B1-1D5B-1623-E39E-0BC9E5C538AD}"/>
              </a:ext>
            </a:extLst>
          </p:cNvPr>
          <p:cNvSpPr txBox="1"/>
          <p:nvPr/>
        </p:nvSpPr>
        <p:spPr>
          <a:xfrm>
            <a:off x="7616952" y="338328"/>
            <a:ext cx="1097280" cy="585216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4,7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СРЕДНЯЯ ОЦЕНКА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Май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14F92-CCFB-0F37-A1E2-54EFA1BFC13A}"/>
              </a:ext>
            </a:extLst>
          </p:cNvPr>
          <p:cNvSpPr txBox="1"/>
          <p:nvPr/>
        </p:nvSpPr>
        <p:spPr>
          <a:xfrm>
            <a:off x="8897112" y="338328"/>
            <a:ext cx="1179810" cy="569387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133 → 319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ОТЗЫВЫ БЫЛО / СТАЛО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+186</a:t>
            </a:r>
            <a:r>
              <a:rPr lang="ru-RU" sz="700" b="0" dirty="0">
                <a:solidFill>
                  <a:srgbClr val="999999"/>
                </a:solidFill>
                <a:latin typeface="Arial"/>
              </a:rPr>
              <a:t> от старта кампании</a:t>
            </a:r>
            <a:endParaRPr sz="7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C079F-4D54-2B70-E5B6-06E1D48B373D}"/>
              </a:ext>
            </a:extLst>
          </p:cNvPr>
          <p:cNvSpPr txBox="1"/>
          <p:nvPr/>
        </p:nvSpPr>
        <p:spPr>
          <a:xfrm>
            <a:off x="10744200" y="338328"/>
            <a:ext cx="1272784" cy="569387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12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РАЗМЕЩЕНО АГЕНТСТВОМ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Ютека, Мегаптека</a:t>
            </a:r>
            <a:r>
              <a:rPr lang="ru-RU" sz="700" b="0" dirty="0">
                <a:solidFill>
                  <a:srgbClr val="999999"/>
                </a:solidFill>
                <a:latin typeface="Arial"/>
              </a:rPr>
              <a:t> и др.</a:t>
            </a:r>
            <a:endParaRPr sz="7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78B28-CF8A-684A-D9AB-F0E29ED67832}"/>
              </a:ext>
            </a:extLst>
          </p:cNvPr>
          <p:cNvSpPr txBox="1"/>
          <p:nvPr/>
        </p:nvSpPr>
        <p:spPr>
          <a:xfrm>
            <a:off x="365760" y="1307592"/>
            <a:ext cx="10353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 итогам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мая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в выдаче Яндекса и Google сохраняется положительная репутация бренда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доля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позитивных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карточек с отзывами 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Трентал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составляет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67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%;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площадки без отзывов – отзовики и аптеки (работа по ним не ведется).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рейтинг в карточках бренда по итогам мая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4,7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балла.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 опубликовано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12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отзывов в е-ком 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Uteka, Megapteka, Otzovik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других.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отзывов на сайтах в топ-20 по запросам бренда на конец мая составило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319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(+1</a:t>
            </a:r>
            <a:r>
              <a:rPr lang="en-US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 старту кампании)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232114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361950" y="651287"/>
            <a:ext cx="596265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700" b="0" i="0" u="none" strike="noStrike" kern="1200" cap="all" spc="0" normalizeH="0" baseline="0" noProof="0" dirty="0">
              <a:ln>
                <a:noFill/>
              </a:ln>
              <a:solidFill>
                <a:srgbClr val="9D00EA"/>
              </a:solidFill>
              <a:effectLst/>
              <a:uLnTx/>
              <a:uFillTx/>
              <a:latin typeface="HelveticaNeueCyr" pitchFamily="50" charset="-52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19538-2778-403D-AD85-4271CE4E4910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679191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901182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7123173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9345164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6D0CDDD-2809-42E4-B9CE-334F8812917A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15568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ВЫВОДЫ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4FF08-5D30-4679-9DFD-30A794818C6F}"/>
              </a:ext>
            </a:extLst>
          </p:cNvPr>
          <p:cNvSpPr/>
          <p:nvPr/>
        </p:nvSpPr>
        <p:spPr>
          <a:xfrm>
            <a:off x="457200" y="2331720"/>
            <a:ext cx="1074886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285750">
              <a:spcAft>
                <a:spcPts val="1200"/>
              </a:spcAft>
              <a:buNone/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</a:t>
            </a:r>
            <a:r>
              <a:rPr lang="ru-RU" sz="1200" b="0" dirty="0">
                <a:solidFill>
                  <a:srgbClr val="01A2FF"/>
                </a:solidFill>
                <a:latin typeface="Arial"/>
              </a:rPr>
              <a:t>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занимает уверенную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вторую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позицию в группе прямых конкурентов. Доля голоса бренда SOV в мае составила 4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3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5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%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175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упоминани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й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, что на 9,3 п.п. выше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органического уровня без учета кампании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.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Пентоксифиллин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лидирует в категории: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204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сообщени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я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и SOV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50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,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7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%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, разрыв с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 незначительный в 7.2 п.п., бренды идут один за другим.</a:t>
            </a:r>
            <a:endParaRPr lang="ru-RU" sz="1200" b="0" dirty="0">
              <a:solidFill>
                <a:srgbClr val="000000"/>
              </a:solidFill>
              <a:latin typeface="Arial"/>
            </a:endParaRPr>
          </a:p>
          <a:p>
            <a:pPr marL="137160" indent="-285750">
              <a:spcAft>
                <a:spcPts val="1200"/>
              </a:spcAft>
              <a:buNone/>
            </a:pPr>
            <a:r>
              <a:rPr lang="ru-RU"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65% упоминаний в инфополе составляют обсуждения в соцсетях и блогах, еще 4% — отзывы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в первую очередь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Otzyvru.com и Отзовик). По количеству упоминаний лидируют ВКонтакте и Дзен.</a:t>
            </a:r>
          </a:p>
          <a:p>
            <a:pPr marL="137160" indent="-285750">
              <a:spcAft>
                <a:spcPts val="1200"/>
              </a:spcAft>
              <a:buNone/>
            </a:pPr>
            <a:r>
              <a:rPr lang="ru-RU"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Тональность сообщений о бренде нейтральная с заметной долей позитива: 33% позитива (57 сообщений)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, 63% нейтральных (111 сообщения). 7 негативных сообщений, из которых 1 нейтрализовано и учтено отдельным блоком в отчете. </a:t>
            </a:r>
          </a:p>
          <a:p>
            <a:pPr marL="137160" indent="-285750">
              <a:spcAft>
                <a:spcPts val="1200"/>
              </a:spcAft>
              <a:buNone/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Авторы агентства активно участвуют в пользовательских обсуждениях, поддерживают репутацию бренда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Трентал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и формируют знание о продукте в пользовательских контекстах. В мае опубликовано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4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5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комментариев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в обсуждениях в социальных сетях, чатах, на форумах, в комментариях к статьям и видео, а также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12 отзывов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на отзывных площадках и маркетплейсах. Материалы получили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166 902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просмотров.</a:t>
            </a:r>
          </a:p>
          <a:p>
            <a:pPr marL="137160" indent="-285750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Рекомендуем продолжать кампанию в обсуждениях симптоматики в тематических сообществах по теме здоровья / матерей / взаимопомощи. Формировать знание о продукте как наиболее эффективном вспомогательном средстве по ряду медицинских проблем (проблемы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кровообращения и связанных заболеваний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6133" y="1316736"/>
            <a:ext cx="788678" cy="464230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175</a:t>
            </a:r>
            <a:endParaRPr sz="1800" b="1" dirty="0">
              <a:solidFill>
                <a:srgbClr val="333333"/>
              </a:solidFill>
              <a:latin typeface="Arial"/>
            </a:endParaRP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УПОМИНАНИ</a:t>
            </a:r>
            <a:r>
              <a:rPr lang="ru-RU" sz="800" dirty="0">
                <a:solidFill>
                  <a:srgbClr val="666666"/>
                </a:solidFill>
                <a:latin typeface="Arial"/>
              </a:rPr>
              <a:t>Й</a:t>
            </a:r>
            <a:endParaRPr sz="80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28833" y="1316736"/>
            <a:ext cx="2167260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b="1" dirty="0">
                <a:solidFill>
                  <a:srgbClr val="333333"/>
                </a:solidFill>
                <a:latin typeface="Arial"/>
              </a:rPr>
              <a:t>87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7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ИНДЕКС ЛОЯЛЬНОСТИ</a:t>
            </a:r>
          </a:p>
          <a:p>
            <a:pPr algn="ctr">
              <a:spcAft>
                <a:spcPts val="0"/>
              </a:spcAft>
            </a:pPr>
            <a:r>
              <a:rPr lang="ru-RU" sz="800" dirty="0">
                <a:solidFill>
                  <a:srgbClr val="999999"/>
                </a:solidFill>
                <a:latin typeface="Arial"/>
              </a:rPr>
              <a:t>57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позитивных упоминаний на </a:t>
            </a:r>
            <a:r>
              <a:rPr lang="ru-RU" sz="800" b="0" dirty="0">
                <a:solidFill>
                  <a:srgbClr val="999999"/>
                </a:solidFill>
                <a:latin typeface="Arial"/>
              </a:rPr>
              <a:t>7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негатив</a:t>
            </a:r>
            <a:r>
              <a:rPr lang="ru-RU" sz="800" dirty="0">
                <a:solidFill>
                  <a:srgbClr val="999999"/>
                </a:solidFill>
                <a:latin typeface="Arial"/>
              </a:rPr>
              <a:t>ных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83020" y="1316736"/>
            <a:ext cx="110286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34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2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SOV БЕЗ КАМПАНИИ</a:t>
            </a:r>
          </a:p>
          <a:p>
            <a:pPr algn="ctr">
              <a:spcAft>
                <a:spcPts val="0"/>
              </a:spcAft>
            </a:pPr>
            <a:r>
              <a:rPr lang="ru-RU" sz="800" dirty="0">
                <a:solidFill>
                  <a:srgbClr val="999999"/>
                </a:solidFill>
                <a:latin typeface="Arial"/>
              </a:rPr>
              <a:t>118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упоминани</a:t>
            </a:r>
            <a:r>
              <a:rPr lang="ru-RU" sz="800" dirty="0">
                <a:solidFill>
                  <a:srgbClr val="999999"/>
                </a:solidFill>
                <a:latin typeface="Arial"/>
              </a:rPr>
              <a:t>я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33064" y="1316736"/>
            <a:ext cx="1046761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4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3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5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SOV С КАМПАНИЕЙ</a:t>
            </a: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175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упоминани</a:t>
            </a:r>
            <a:r>
              <a:rPr lang="ru-RU" sz="800" b="0" dirty="0">
                <a:solidFill>
                  <a:srgbClr val="999999"/>
                </a:solidFill>
                <a:latin typeface="Arial"/>
              </a:rPr>
              <a:t>й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6927" y="1316736"/>
            <a:ext cx="118301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+2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7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ПРИРОСТ ИНФОПОЛЯ</a:t>
            </a: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999999"/>
                </a:solidFill>
                <a:latin typeface="Arial"/>
              </a:rPr>
              <a:t>за счет 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16169565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36126</TotalTime>
  <Words>1521</Words>
  <Application>Microsoft Office PowerPoint</Application>
  <PresentationFormat>Widescreen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Futura </vt:lpstr>
      <vt:lpstr>FuturaFuturisC</vt:lpstr>
      <vt:lpstr>Helvetica Neue</vt:lpstr>
      <vt:lpstr>HelveticaNeueCyr</vt:lpstr>
      <vt:lpstr>Poppins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Microsoft Office</dc:creator>
  <cp:lastModifiedBy>Ruslan Ivanov</cp:lastModifiedBy>
  <cp:revision>1103</cp:revision>
  <dcterms:created xsi:type="dcterms:W3CDTF">2019-02-15T00:40:51Z</dcterms:created>
  <dcterms:modified xsi:type="dcterms:W3CDTF">2026-06-11T13:51:15Z</dcterms:modified>
</cp:coreProperties>
</file>